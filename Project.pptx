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51"/>
  </p:notesMasterIdLst>
  <p:sldIdLst>
    <p:sldId id="256" r:id="rId2"/>
    <p:sldId id="257" r:id="rId3"/>
    <p:sldId id="258" r:id="rId4"/>
    <p:sldId id="266" r:id="rId5"/>
    <p:sldId id="268" r:id="rId6"/>
    <p:sldId id="269" r:id="rId7"/>
    <p:sldId id="270" r:id="rId8"/>
    <p:sldId id="271" r:id="rId9"/>
    <p:sldId id="272" r:id="rId10"/>
    <p:sldId id="273" r:id="rId11"/>
    <p:sldId id="274" r:id="rId12"/>
    <p:sldId id="276" r:id="rId13"/>
    <p:sldId id="277" r:id="rId14"/>
    <p:sldId id="278" r:id="rId15"/>
    <p:sldId id="279" r:id="rId16"/>
    <p:sldId id="280" r:id="rId17"/>
    <p:sldId id="281" r:id="rId18"/>
    <p:sldId id="282" r:id="rId19"/>
    <p:sldId id="284" r:id="rId20"/>
    <p:sldId id="283" r:id="rId21"/>
    <p:sldId id="290" r:id="rId22"/>
    <p:sldId id="291" r:id="rId23"/>
    <p:sldId id="286" r:id="rId24"/>
    <p:sldId id="288" r:id="rId25"/>
    <p:sldId id="285" r:id="rId26"/>
    <p:sldId id="289" r:id="rId27"/>
    <p:sldId id="287" r:id="rId28"/>
    <p:sldId id="292" r:id="rId29"/>
    <p:sldId id="293" r:id="rId30"/>
    <p:sldId id="294" r:id="rId31"/>
    <p:sldId id="295" r:id="rId32"/>
    <p:sldId id="296" r:id="rId33"/>
    <p:sldId id="297" r:id="rId34"/>
    <p:sldId id="298" r:id="rId35"/>
    <p:sldId id="299" r:id="rId36"/>
    <p:sldId id="300" r:id="rId37"/>
    <p:sldId id="301" r:id="rId38"/>
    <p:sldId id="302" r:id="rId39"/>
    <p:sldId id="303" r:id="rId40"/>
    <p:sldId id="304" r:id="rId41"/>
    <p:sldId id="305" r:id="rId42"/>
    <p:sldId id="307" r:id="rId43"/>
    <p:sldId id="306" r:id="rId44"/>
    <p:sldId id="308" r:id="rId45"/>
    <p:sldId id="309" r:id="rId46"/>
    <p:sldId id="310" r:id="rId47"/>
    <p:sldId id="311" r:id="rId48"/>
    <p:sldId id="312" r:id="rId49"/>
    <p:sldId id="265" r:id="rId50"/>
  </p:sldIdLst>
  <p:sldSz cx="18288000" cy="10287000"/>
  <p:notesSz cx="6858000" cy="9144000"/>
  <p:embeddedFontLst>
    <p:embeddedFont>
      <p:font typeface="Cambria Math" panose="02040503050406030204" pitchFamily="18" charset="0"/>
      <p:regular r:id="rId52"/>
    </p:embeddedFont>
    <p:embeddedFont>
      <p:font typeface="ITC Franklin Gothic LT" panose="020B0604020202020204" charset="0"/>
      <p:regular r:id="rId53"/>
    </p:embeddedFont>
    <p:embeddedFont>
      <p:font typeface="League Gothic" panose="020B0604020202020204" charset="0"/>
      <p:regular r:id="rId5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6633"/>
    <a:srgbClr val="99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0" d="100"/>
          <a:sy n="40" d="100"/>
        </p:scale>
        <p:origin x="160"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2.fntdata"/><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1.fntdata"/></Relationships>
</file>

<file path=ppt/charts/_rels/chart1.xml.rels><?xml version="1.0" encoding="UTF-8" standalone="yes"?>
<Relationships xmlns="http://schemas.openxmlformats.org/package/2006/relationships"><Relationship Id="rId3" Type="http://schemas.openxmlformats.org/officeDocument/2006/relationships/oleObject" Target="https://d.docs.live.net/4d41d663df7091ff/Pictures/Documents/charts-color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d.docs.live.net/4d41d663df7091ff/Pictures/Documents/excelresponses1-19thquestion(1).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121321044033\Downloads\excelresponses1-19thquestion%20(2).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raval\Downloads\21-29_spss.xlsx" TargetMode="External"/><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r>
              <a:rPr lang="en-US" sz="1600" b="1" baseline="0"/>
              <a:t>OCCUPATIONAL SECTOR</a:t>
            </a:r>
          </a:p>
        </c:rich>
      </c:tx>
      <c:layout>
        <c:manualLayout>
          <c:xMode val="edge"/>
          <c:yMode val="edge"/>
          <c:x val="0.41850545573494707"/>
          <c:y val="5.646616311729049E-2"/>
        </c:manualLayout>
      </c:layout>
      <c:overlay val="0"/>
      <c:spPr>
        <a:noFill/>
        <a:ln>
          <a:noFill/>
        </a:ln>
        <a:effectLst/>
      </c:spPr>
      <c:txPr>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endParaRPr lang="en-US"/>
        </a:p>
      </c:txPr>
    </c:title>
    <c:autoTitleDeleted val="0"/>
    <c:view3D>
      <c:rotX val="15"/>
      <c:rotY val="2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7.30295100352812E-2"/>
          <c:y val="0.13579459756605761"/>
          <c:w val="0.91786805766489876"/>
          <c:h val="0.8136630212371474"/>
        </c:manualLayout>
      </c:layout>
      <c:bar3DChart>
        <c:barDir val="col"/>
        <c:grouping val="standard"/>
        <c:varyColors val="0"/>
        <c:ser>
          <c:idx val="0"/>
          <c:order val="0"/>
          <c:spPr>
            <a:solidFill>
              <a:srgbClr val="00246B"/>
            </a:solidFill>
            <a:ln>
              <a:noFill/>
            </a:ln>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round/>
                    </a:ln>
                    <a:effectLst/>
                  </c:spPr>
                </c15:leaderLines>
              </c:ext>
            </c:extLst>
          </c:dLbls>
          <c:cat>
            <c:strLit>
              <c:ptCount val="4"/>
              <c:pt idx="0">
                <c:v>GOVERNMENT</c:v>
              </c:pt>
              <c:pt idx="1">
                <c:v>PRIVATE</c:v>
              </c:pt>
              <c:pt idx="2">
                <c:v>BUSINESS</c:v>
              </c:pt>
              <c:pt idx="3">
                <c:v>OTHERS</c:v>
              </c:pt>
            </c:strLit>
          </c:cat>
          <c:val>
            <c:numLit>
              <c:formatCode>General</c:formatCode>
              <c:ptCount val="4"/>
              <c:pt idx="0">
                <c:v>35</c:v>
              </c:pt>
              <c:pt idx="1">
                <c:v>86</c:v>
              </c:pt>
              <c:pt idx="2">
                <c:v>17</c:v>
              </c:pt>
              <c:pt idx="3">
                <c:v>12</c:v>
              </c:pt>
            </c:numLit>
          </c:val>
          <c:extLst>
            <c:ext xmlns:c16="http://schemas.microsoft.com/office/drawing/2014/chart" uri="{C3380CC4-5D6E-409C-BE32-E72D297353CC}">
              <c16:uniqueId val="{00000000-6BAC-4A3F-B283-EA8A18C964AC}"/>
            </c:ext>
          </c:extLst>
        </c:ser>
        <c:dLbls>
          <c:showLegendKey val="0"/>
          <c:showVal val="1"/>
          <c:showCatName val="0"/>
          <c:showSerName val="0"/>
          <c:showPercent val="0"/>
          <c:showBubbleSize val="0"/>
        </c:dLbls>
        <c:gapWidth val="219"/>
        <c:shape val="box"/>
        <c:axId val="588400416"/>
        <c:axId val="585612464"/>
        <c:axId val="1990740704"/>
      </c:bar3DChart>
      <c:catAx>
        <c:axId val="588400416"/>
        <c:scaling>
          <c:orientation val="minMax"/>
        </c:scaling>
        <c:delete val="0"/>
        <c:axPos val="b"/>
        <c:numFmt formatCode="General" sourceLinked="1"/>
        <c:majorTickMark val="none"/>
        <c:minorTickMark val="none"/>
        <c:tickLblPos val="nextTo"/>
        <c:spPr>
          <a:noFill/>
          <a:ln w="9525">
            <a:solidFill>
              <a:schemeClr val="tx1">
                <a:lumMod val="15000"/>
                <a:lumOff val="85000"/>
              </a:schemeClr>
            </a:solidFill>
            <a:round/>
          </a:ln>
          <a:effectLst/>
        </c:spPr>
        <c:txPr>
          <a:bodyPr rot="-6000000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n-US"/>
          </a:p>
        </c:txPr>
        <c:crossAx val="585612464"/>
        <c:crosses val="autoZero"/>
        <c:auto val="1"/>
        <c:lblAlgn val="ctr"/>
        <c:lblOffset val="100"/>
        <c:noMultiLvlLbl val="0"/>
      </c:catAx>
      <c:valAx>
        <c:axId val="585612464"/>
        <c:scaling>
          <c:orientation val="minMax"/>
        </c:scaling>
        <c:delete val="0"/>
        <c:axPos val="l"/>
        <c:majorGridlines>
          <c:spPr>
            <a:ln w="9525">
              <a:solidFill>
                <a:sysClr val="windowText" lastClr="000000"/>
              </a:solidFill>
              <a:round/>
            </a:ln>
            <a:effectLst/>
          </c:spPr>
        </c:majorGridlines>
        <c:title>
          <c:tx>
            <c:rich>
              <a:bodyPr rot="-54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r>
                  <a:rPr lang="en-US" sz="1600" b="1" baseline="0"/>
                  <a:t>Frequency</a:t>
                </a:r>
                <a:endParaRPr lang="en-US" b="1" baseline="0"/>
              </a:p>
            </c:rich>
          </c:tx>
          <c:layout>
            <c:manualLayout>
              <c:xMode val="edge"/>
              <c:yMode val="edge"/>
              <c:x val="2.3376597584055699E-2"/>
              <c:y val="0.4034577232304265"/>
            </c:manualLayout>
          </c:layout>
          <c:overlay val="0"/>
          <c:spPr>
            <a:noFill/>
            <a:ln>
              <a:noFill/>
            </a:ln>
            <a:effectLst/>
          </c:spPr>
          <c:txPr>
            <a:bodyPr rot="-54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588400416"/>
        <c:crosses val="autoZero"/>
        <c:crossBetween val="between"/>
      </c:valAx>
      <c:serAx>
        <c:axId val="1990740704"/>
        <c:scaling>
          <c:orientation val="minMax"/>
        </c:scaling>
        <c:delete val="1"/>
        <c:axPos val="b"/>
        <c:majorTickMark val="out"/>
        <c:minorTickMark val="none"/>
        <c:tickLblPos val="nextTo"/>
        <c:crossAx val="585612464"/>
        <c:crosses val="autoZero"/>
      </c:serAx>
      <c:spPr>
        <a:solidFill>
          <a:srgbClr val="CADCFC"/>
        </a:solidFill>
        <a:ln>
          <a:noFill/>
        </a:ln>
        <a:effectLst/>
      </c:spPr>
    </c:plotArea>
    <c:plotVisOnly val="1"/>
    <c:dispBlanksAs val="gap"/>
    <c:showDLblsOverMax val="0"/>
  </c:chart>
  <c:spPr>
    <a:solidFill>
      <a:srgbClr val="CADCFC"/>
    </a:solidFill>
    <a:ln w="9525">
      <a:solidFill>
        <a:schemeClr val="tx1">
          <a:lumMod val="15000"/>
          <a:lumOff val="85000"/>
        </a:schemeClr>
      </a:solidFill>
      <a:round/>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000" b="1" i="0" u="none" strike="noStrike" kern="1200" cap="all" spc="120" normalizeH="0" baseline="0">
                <a:solidFill>
                  <a:schemeClr val="tx1">
                    <a:lumMod val="65000"/>
                    <a:lumOff val="35000"/>
                  </a:schemeClr>
                </a:solidFill>
                <a:latin typeface="+mn-lt"/>
                <a:ea typeface="+mn-ea"/>
                <a:cs typeface="+mn-cs"/>
              </a:defRPr>
            </a:pPr>
            <a:r>
              <a:rPr lang="en-US" sz="2000"/>
              <a:t>ANNUAL INCOME</a:t>
            </a:r>
          </a:p>
        </c:rich>
      </c:tx>
      <c:overlay val="0"/>
      <c:spPr>
        <a:noFill/>
        <a:ln>
          <a:noFill/>
        </a:ln>
        <a:effectLst/>
      </c:spPr>
      <c:txPr>
        <a:bodyPr rot="0" spcFirstLastPara="1" vertOverflow="ellipsis" vert="horz" wrap="square" anchor="ctr" anchorCtr="1"/>
        <a:lstStyle/>
        <a:p>
          <a:pPr>
            <a:defRPr sz="2000" b="1" i="0" u="none" strike="noStrike" kern="1200" cap="all" spc="120" normalizeH="0" baseline="0">
              <a:solidFill>
                <a:schemeClr val="tx1">
                  <a:lumMod val="65000"/>
                  <a:lumOff val="35000"/>
                </a:schemeClr>
              </a:solidFill>
              <a:latin typeface="+mn-lt"/>
              <a:ea typeface="+mn-ea"/>
              <a:cs typeface="+mn-cs"/>
            </a:defRPr>
          </a:pPr>
          <a:endParaRPr lang="en-US"/>
        </a:p>
      </c:txPr>
    </c:title>
    <c:autoTitleDeleted val="0"/>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3.9658792650918637E-2"/>
          <c:y val="0.10462581716516764"/>
          <c:w val="0.94288088988876395"/>
          <c:h val="0.83403499398365155"/>
        </c:manualLayout>
      </c:layout>
      <c:bar3DChart>
        <c:barDir val="col"/>
        <c:grouping val="stacked"/>
        <c:varyColors val="0"/>
        <c:ser>
          <c:idx val="0"/>
          <c:order val="0"/>
          <c:spPr>
            <a:solidFill>
              <a:srgbClr val="C69C6C"/>
            </a:solidFill>
            <a:ln>
              <a:noFill/>
            </a:ln>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Lit>
              <c:ptCount val="4"/>
              <c:pt idx="0">
                <c:v>LESS THAN Rs.300000</c:v>
              </c:pt>
              <c:pt idx="1">
                <c:v>Rs.300000 TO Rs. 500000</c:v>
              </c:pt>
              <c:pt idx="2">
                <c:v>Rs.500000 TO Rs. 1000000</c:v>
              </c:pt>
              <c:pt idx="3">
                <c:v>GREATER THAN Rs.1000000</c:v>
              </c:pt>
            </c:strLit>
          </c:cat>
          <c:val>
            <c:numLit>
              <c:formatCode>General</c:formatCode>
              <c:ptCount val="4"/>
              <c:pt idx="0">
                <c:v>38</c:v>
              </c:pt>
              <c:pt idx="1">
                <c:v>41</c:v>
              </c:pt>
              <c:pt idx="2">
                <c:v>48</c:v>
              </c:pt>
              <c:pt idx="3">
                <c:v>23</c:v>
              </c:pt>
            </c:numLit>
          </c:val>
          <c:extLst>
            <c:ext xmlns:c16="http://schemas.microsoft.com/office/drawing/2014/chart" uri="{C3380CC4-5D6E-409C-BE32-E72D297353CC}">
              <c16:uniqueId val="{00000000-CEE2-4BBE-94E9-7F049F908C8D}"/>
            </c:ext>
          </c:extLst>
        </c:ser>
        <c:dLbls>
          <c:showLegendKey val="0"/>
          <c:showVal val="1"/>
          <c:showCatName val="0"/>
          <c:showSerName val="0"/>
          <c:showPercent val="0"/>
          <c:showBubbleSize val="0"/>
        </c:dLbls>
        <c:gapWidth val="79"/>
        <c:shape val="box"/>
        <c:axId val="588400416"/>
        <c:axId val="585612464"/>
        <c:axId val="0"/>
      </c:bar3DChart>
      <c:catAx>
        <c:axId val="588400416"/>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cap="all" spc="120" normalizeH="0" baseline="0">
                <a:solidFill>
                  <a:schemeClr val="tx1">
                    <a:lumMod val="65000"/>
                    <a:lumOff val="35000"/>
                  </a:schemeClr>
                </a:solidFill>
                <a:latin typeface="+mn-lt"/>
                <a:ea typeface="+mn-ea"/>
                <a:cs typeface="+mn-cs"/>
              </a:defRPr>
            </a:pPr>
            <a:endParaRPr lang="en-US"/>
          </a:p>
        </c:txPr>
        <c:crossAx val="585612464"/>
        <c:crosses val="autoZero"/>
        <c:auto val="1"/>
        <c:lblAlgn val="ctr"/>
        <c:lblOffset val="100"/>
        <c:noMultiLvlLbl val="0"/>
      </c:catAx>
      <c:valAx>
        <c:axId val="585612464"/>
        <c:scaling>
          <c:orientation val="minMax"/>
        </c:scaling>
        <c:delete val="1"/>
        <c:axPos val="l"/>
        <c:title>
          <c:tx>
            <c:rich>
              <a:bodyPr rot="-5400000" spcFirstLastPara="1" vertOverflow="ellipsis" vert="horz" wrap="square" anchor="ctr" anchorCtr="1"/>
              <a:lstStyle/>
              <a:p>
                <a:pPr>
                  <a:defRPr sz="1200" b="0" i="0" u="none" strike="noStrike" kern="1200" cap="all" baseline="0">
                    <a:solidFill>
                      <a:schemeClr val="tx1">
                        <a:lumMod val="65000"/>
                        <a:lumOff val="35000"/>
                      </a:schemeClr>
                    </a:solidFill>
                    <a:latin typeface="+mn-lt"/>
                    <a:ea typeface="+mn-ea"/>
                    <a:cs typeface="+mn-cs"/>
                  </a:defRPr>
                </a:pPr>
                <a:r>
                  <a:rPr lang="en-US" sz="1200"/>
                  <a:t>Frequency</a:t>
                </a:r>
              </a:p>
            </c:rich>
          </c:tx>
          <c:overlay val="0"/>
          <c:spPr>
            <a:noFill/>
            <a:ln>
              <a:noFill/>
            </a:ln>
            <a:effectLst/>
          </c:spPr>
          <c:txPr>
            <a:bodyPr rot="-5400000" spcFirstLastPara="1" vertOverflow="ellipsis" vert="horz" wrap="square" anchor="ctr" anchorCtr="1"/>
            <a:lstStyle/>
            <a:p>
              <a:pPr>
                <a:defRPr sz="1200" b="0" i="0" u="none" strike="noStrike" kern="1200" cap="all"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crossAx val="588400416"/>
        <c:crosses val="autoZero"/>
        <c:crossBetween val="between"/>
      </c:valAx>
      <c:spPr>
        <a:noFill/>
        <a:ln>
          <a:noFill/>
        </a:ln>
        <a:effectLst/>
      </c:spPr>
    </c:plotArea>
    <c:plotVisOnly val="1"/>
    <c:dispBlanksAs val="gap"/>
    <c:showDLblsOverMax val="0"/>
  </c:chart>
  <c:spPr>
    <a:solidFill>
      <a:schemeClr val="accent4">
        <a:lumMod val="20000"/>
        <a:lumOff val="80000"/>
      </a:schemeClr>
    </a:solidFill>
    <a:ln w="9525" cap="flat" cmpd="sng" algn="ctr">
      <a:solidFill>
        <a:schemeClr val="tx1">
          <a:lumMod val="15000"/>
          <a:lumOff val="85000"/>
        </a:schemeClr>
      </a:solidFill>
      <a:round/>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defRPr sz="2400" b="0" i="0" u="none" strike="noStrike" kern="1200" spc="0" baseline="0">
                <a:solidFill>
                  <a:schemeClr val="tx1">
                    <a:lumMod val="65000"/>
                    <a:lumOff val="35000"/>
                  </a:schemeClr>
                </a:solidFill>
                <a:latin typeface="+mn-lt"/>
                <a:ea typeface="+mn-ea"/>
                <a:cs typeface="+mn-cs"/>
              </a:defRPr>
            </a:pPr>
            <a:r>
              <a:rPr lang="en-IN" sz="2400" b="1" i="0" u="none" strike="noStrike" baseline="0">
                <a:effectLst/>
              </a:rPr>
              <a:t>NUMBER OF WORKING HOURS</a:t>
            </a:r>
            <a:r>
              <a:rPr lang="en-IN" sz="2400" b="0" i="0" u="none" strike="noStrike" baseline="0"/>
              <a:t> </a:t>
            </a:r>
            <a:endParaRPr lang="en-US" sz="2400"/>
          </a:p>
        </c:rich>
      </c:tx>
      <c:overlay val="0"/>
      <c:spPr>
        <a:noFill/>
        <a:ln>
          <a:noFill/>
        </a:ln>
        <a:effectLst/>
      </c:spPr>
      <c:txPr>
        <a:bodyPr rot="0" spcFirstLastPara="1" vertOverflow="ellipsis" vert="horz" wrap="square" anchor="ctr" anchorCtr="1"/>
        <a:lstStyle/>
        <a:p>
          <a:pPr>
            <a:defRPr sz="2400" b="0" i="0" u="none" strike="noStrike" kern="1200" spc="0" baseline="0">
              <a:solidFill>
                <a:schemeClr val="tx1">
                  <a:lumMod val="65000"/>
                  <a:lumOff val="35000"/>
                </a:schemeClr>
              </a:solidFill>
              <a:latin typeface="+mn-lt"/>
              <a:ea typeface="+mn-ea"/>
              <a:cs typeface="+mn-cs"/>
            </a:defRPr>
          </a:pPr>
          <a:endParaRPr lang="en-US"/>
        </a:p>
      </c:txPr>
    </c:title>
    <c:autoTitleDeleted val="0"/>
    <c:view3D>
      <c:rotX val="30"/>
      <c:rotY val="146"/>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3.1944444444444442E-2"/>
          <c:y val="0.16911854768153978"/>
          <c:w val="0.94027777777777777"/>
          <c:h val="0.67201698745990079"/>
        </c:manualLayout>
      </c:layout>
      <c:pie3DChart>
        <c:varyColors val="1"/>
        <c:ser>
          <c:idx val="0"/>
          <c:order val="0"/>
          <c:tx>
            <c:strRef>
              <c:f>Sheet1!$D$95</c:f>
              <c:strCache>
                <c:ptCount val="1"/>
                <c:pt idx="0">
                  <c:v>Frequency</c:v>
                </c:pt>
              </c:strCache>
            </c:strRef>
          </c:tx>
          <c:spPr>
            <a:solidFill>
              <a:srgbClr val="FF66CC"/>
            </a:solidFill>
          </c:spPr>
          <c:dPt>
            <c:idx val="0"/>
            <c:bubble3D val="0"/>
            <c:explosion val="17"/>
            <c:spPr>
              <a:solidFill>
                <a:srgbClr val="9B51B0"/>
              </a:solidFill>
              <a:ln w="25400">
                <a:solidFill>
                  <a:schemeClr val="lt1"/>
                </a:solidFill>
              </a:ln>
              <a:effectLst/>
              <a:sp3d contourW="25400">
                <a:contourClr>
                  <a:schemeClr val="lt1"/>
                </a:contourClr>
              </a:sp3d>
            </c:spPr>
            <c:extLst>
              <c:ext xmlns:c16="http://schemas.microsoft.com/office/drawing/2014/chart" uri="{C3380CC4-5D6E-409C-BE32-E72D297353CC}">
                <c16:uniqueId val="{00000001-CE00-4226-ACE4-A6637133AFD9}"/>
              </c:ext>
            </c:extLst>
          </c:dPt>
          <c:dPt>
            <c:idx val="1"/>
            <c:bubble3D val="0"/>
            <c:spPr>
              <a:solidFill>
                <a:srgbClr val="FFB0D1"/>
              </a:solidFill>
              <a:ln w="25400">
                <a:solidFill>
                  <a:schemeClr val="lt1"/>
                </a:solidFill>
              </a:ln>
              <a:effectLst/>
              <a:sp3d contourW="25400">
                <a:contourClr>
                  <a:schemeClr val="lt1"/>
                </a:contourClr>
              </a:sp3d>
            </c:spPr>
            <c:extLst>
              <c:ext xmlns:c16="http://schemas.microsoft.com/office/drawing/2014/chart" uri="{C3380CC4-5D6E-409C-BE32-E72D297353CC}">
                <c16:uniqueId val="{00000003-CE00-4226-ACE4-A6637133AFD9}"/>
              </c:ext>
            </c:extLst>
          </c:dPt>
          <c:dPt>
            <c:idx val="2"/>
            <c:bubble3D val="0"/>
            <c:spPr>
              <a:solidFill>
                <a:srgbClr val="251B72"/>
              </a:solidFill>
              <a:ln w="25400">
                <a:solidFill>
                  <a:schemeClr val="lt1"/>
                </a:solidFill>
              </a:ln>
              <a:effectLst/>
              <a:sp3d contourW="25400">
                <a:contourClr>
                  <a:schemeClr val="lt1"/>
                </a:contourClr>
              </a:sp3d>
            </c:spPr>
            <c:extLst>
              <c:ext xmlns:c16="http://schemas.microsoft.com/office/drawing/2014/chart" uri="{C3380CC4-5D6E-409C-BE32-E72D297353CC}">
                <c16:uniqueId val="{00000005-CE00-4226-ACE4-A6637133AFD9}"/>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a:solidFill>
                    <a:schemeClr val="tx1">
                      <a:lumMod val="35000"/>
                      <a:lumOff val="65000"/>
                    </a:schemeClr>
                  </a:solidFill>
                  <a:round/>
                </a:ln>
                <a:effectLst/>
              </c:spPr>
            </c:leaderLines>
            <c:extLst>
              <c:ext xmlns:c15="http://schemas.microsoft.com/office/drawing/2012/chart" uri="{CE6537A1-D6FC-4f65-9D91-7224C49458BB}"/>
            </c:extLst>
          </c:dLbls>
          <c:cat>
            <c:strRef>
              <c:f>Sheet1!$C$96:$C$98</c:f>
              <c:strCache>
                <c:ptCount val="3"/>
                <c:pt idx="0">
                  <c:v>LESS THAN 6 HOURS</c:v>
                </c:pt>
                <c:pt idx="1">
                  <c:v>6 TO 10 HOURS</c:v>
                </c:pt>
                <c:pt idx="2">
                  <c:v>MORE THAN 10 HOURS</c:v>
                </c:pt>
              </c:strCache>
            </c:strRef>
          </c:cat>
          <c:val>
            <c:numRef>
              <c:f>Sheet1!$D$96:$D$98</c:f>
              <c:numCache>
                <c:formatCode>###0</c:formatCode>
                <c:ptCount val="3"/>
                <c:pt idx="0">
                  <c:v>20</c:v>
                </c:pt>
                <c:pt idx="1">
                  <c:v>104</c:v>
                </c:pt>
                <c:pt idx="2">
                  <c:v>26</c:v>
                </c:pt>
              </c:numCache>
            </c:numRef>
          </c:val>
          <c:extLst>
            <c:ext xmlns:c16="http://schemas.microsoft.com/office/drawing/2014/chart" uri="{C3380CC4-5D6E-409C-BE32-E72D297353CC}">
              <c16:uniqueId val="{00000006-CE00-4226-ACE4-A6637133AFD9}"/>
            </c:ext>
          </c:extLst>
        </c:ser>
        <c:ser>
          <c:idx val="1"/>
          <c:order val="1"/>
          <c:tx>
            <c:strRef>
              <c:f>Sheet1!$E$95</c:f>
              <c:strCache>
                <c:ptCount val="1"/>
                <c:pt idx="0">
                  <c:v>Percent</c:v>
                </c:pt>
              </c:strCache>
            </c:strRef>
          </c:tx>
          <c:dPt>
            <c:idx val="0"/>
            <c:bubble3D val="0"/>
            <c:spPr>
              <a:solidFill>
                <a:schemeClr val="accent1">
                  <a:shade val="65000"/>
                </a:schemeClr>
              </a:solidFill>
              <a:ln w="25400">
                <a:solidFill>
                  <a:schemeClr val="lt1"/>
                </a:solidFill>
              </a:ln>
              <a:effectLst/>
              <a:sp3d contourW="25400">
                <a:contourClr>
                  <a:schemeClr val="lt1"/>
                </a:contourClr>
              </a:sp3d>
            </c:spPr>
            <c:extLst>
              <c:ext xmlns:c16="http://schemas.microsoft.com/office/drawing/2014/chart" uri="{C3380CC4-5D6E-409C-BE32-E72D297353CC}">
                <c16:uniqueId val="{00000008-CE00-4226-ACE4-A6637133AFD9}"/>
              </c:ext>
            </c:extLst>
          </c:dPt>
          <c:dPt>
            <c:idx val="1"/>
            <c:bubble3D val="0"/>
            <c:spPr>
              <a:solidFill>
                <a:schemeClr val="accent1"/>
              </a:solidFill>
              <a:ln w="25400">
                <a:solidFill>
                  <a:schemeClr val="lt1"/>
                </a:solidFill>
              </a:ln>
              <a:effectLst/>
              <a:sp3d contourW="25400">
                <a:contourClr>
                  <a:schemeClr val="lt1"/>
                </a:contourClr>
              </a:sp3d>
            </c:spPr>
            <c:extLst>
              <c:ext xmlns:c16="http://schemas.microsoft.com/office/drawing/2014/chart" uri="{C3380CC4-5D6E-409C-BE32-E72D297353CC}">
                <c16:uniqueId val="{0000000A-CE00-4226-ACE4-A6637133AFD9}"/>
              </c:ext>
            </c:extLst>
          </c:dPt>
          <c:dPt>
            <c:idx val="2"/>
            <c:bubble3D val="0"/>
            <c:spPr>
              <a:solidFill>
                <a:schemeClr val="accent1">
                  <a:tint val="65000"/>
                </a:schemeClr>
              </a:solidFill>
              <a:ln w="25400">
                <a:solidFill>
                  <a:schemeClr val="lt1"/>
                </a:solidFill>
              </a:ln>
              <a:effectLst/>
              <a:sp3d contourW="25400">
                <a:contourClr>
                  <a:schemeClr val="lt1"/>
                </a:contourClr>
              </a:sp3d>
            </c:spPr>
            <c:extLst>
              <c:ext xmlns:c16="http://schemas.microsoft.com/office/drawing/2014/chart" uri="{C3380CC4-5D6E-409C-BE32-E72D297353CC}">
                <c16:uniqueId val="{0000000C-CE00-4226-ACE4-A6637133AFD9}"/>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a:solidFill>
                    <a:schemeClr val="tx1">
                      <a:lumMod val="35000"/>
                      <a:lumOff val="65000"/>
                    </a:schemeClr>
                  </a:solidFill>
                  <a:round/>
                </a:ln>
                <a:effectLst/>
              </c:spPr>
            </c:leaderLines>
            <c:extLst>
              <c:ext xmlns:c15="http://schemas.microsoft.com/office/drawing/2012/chart" uri="{CE6537A1-D6FC-4f65-9D91-7224C49458BB}"/>
            </c:extLst>
          </c:dLbls>
          <c:cat>
            <c:strRef>
              <c:f>Sheet1!$C$96:$C$98</c:f>
              <c:strCache>
                <c:ptCount val="3"/>
                <c:pt idx="0">
                  <c:v>LESS THAN 6 HOURS</c:v>
                </c:pt>
                <c:pt idx="1">
                  <c:v>6 TO 10 HOURS</c:v>
                </c:pt>
                <c:pt idx="2">
                  <c:v>MORE THAN 10 HOURS</c:v>
                </c:pt>
              </c:strCache>
            </c:strRef>
          </c:cat>
          <c:val>
            <c:numRef>
              <c:f>Sheet1!$E$96:$E$98</c:f>
              <c:numCache>
                <c:formatCode>###0.0</c:formatCode>
                <c:ptCount val="3"/>
                <c:pt idx="0">
                  <c:v>13.333333333333334</c:v>
                </c:pt>
                <c:pt idx="1">
                  <c:v>69.333333333333343</c:v>
                </c:pt>
                <c:pt idx="2">
                  <c:v>17.333333333333336</c:v>
                </c:pt>
              </c:numCache>
            </c:numRef>
          </c:val>
          <c:extLst>
            <c:ext xmlns:c16="http://schemas.microsoft.com/office/drawing/2014/chart" uri="{C3380CC4-5D6E-409C-BE32-E72D297353CC}">
              <c16:uniqueId val="{0000000D-CE00-4226-ACE4-A6637133AFD9}"/>
            </c:ext>
          </c:extLst>
        </c:ser>
        <c:ser>
          <c:idx val="2"/>
          <c:order val="2"/>
          <c:tx>
            <c:strRef>
              <c:f>Sheet1!$F$95</c:f>
              <c:strCache>
                <c:ptCount val="1"/>
                <c:pt idx="0">
                  <c:v>Cumulative Percent</c:v>
                </c:pt>
              </c:strCache>
            </c:strRef>
          </c:tx>
          <c:dPt>
            <c:idx val="0"/>
            <c:bubble3D val="0"/>
            <c:spPr>
              <a:solidFill>
                <a:schemeClr val="accent1">
                  <a:shade val="65000"/>
                </a:schemeClr>
              </a:solidFill>
              <a:ln w="25400">
                <a:solidFill>
                  <a:schemeClr val="lt1"/>
                </a:solidFill>
              </a:ln>
              <a:effectLst/>
              <a:sp3d contourW="25400">
                <a:contourClr>
                  <a:schemeClr val="lt1"/>
                </a:contourClr>
              </a:sp3d>
            </c:spPr>
            <c:extLst>
              <c:ext xmlns:c16="http://schemas.microsoft.com/office/drawing/2014/chart" uri="{C3380CC4-5D6E-409C-BE32-E72D297353CC}">
                <c16:uniqueId val="{0000000F-CE00-4226-ACE4-A6637133AFD9}"/>
              </c:ext>
            </c:extLst>
          </c:dPt>
          <c:dPt>
            <c:idx val="1"/>
            <c:bubble3D val="0"/>
            <c:spPr>
              <a:solidFill>
                <a:schemeClr val="accent1"/>
              </a:solidFill>
              <a:ln w="25400">
                <a:solidFill>
                  <a:schemeClr val="lt1"/>
                </a:solidFill>
              </a:ln>
              <a:effectLst/>
              <a:sp3d contourW="25400">
                <a:contourClr>
                  <a:schemeClr val="lt1"/>
                </a:contourClr>
              </a:sp3d>
            </c:spPr>
            <c:extLst>
              <c:ext xmlns:c16="http://schemas.microsoft.com/office/drawing/2014/chart" uri="{C3380CC4-5D6E-409C-BE32-E72D297353CC}">
                <c16:uniqueId val="{00000011-CE00-4226-ACE4-A6637133AFD9}"/>
              </c:ext>
            </c:extLst>
          </c:dPt>
          <c:dPt>
            <c:idx val="2"/>
            <c:bubble3D val="0"/>
            <c:spPr>
              <a:solidFill>
                <a:schemeClr val="accent1">
                  <a:tint val="65000"/>
                </a:schemeClr>
              </a:solidFill>
              <a:ln w="25400">
                <a:solidFill>
                  <a:schemeClr val="lt1"/>
                </a:solidFill>
              </a:ln>
              <a:effectLst/>
              <a:sp3d contourW="25400">
                <a:contourClr>
                  <a:schemeClr val="lt1"/>
                </a:contourClr>
              </a:sp3d>
            </c:spPr>
            <c:extLst>
              <c:ext xmlns:c16="http://schemas.microsoft.com/office/drawing/2014/chart" uri="{C3380CC4-5D6E-409C-BE32-E72D297353CC}">
                <c16:uniqueId val="{00000013-CE00-4226-ACE4-A6637133AFD9}"/>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a:solidFill>
                    <a:schemeClr val="tx1">
                      <a:lumMod val="35000"/>
                      <a:lumOff val="65000"/>
                    </a:schemeClr>
                  </a:solidFill>
                  <a:round/>
                </a:ln>
                <a:effectLst/>
              </c:spPr>
            </c:leaderLines>
            <c:extLst>
              <c:ext xmlns:c15="http://schemas.microsoft.com/office/drawing/2012/chart" uri="{CE6537A1-D6FC-4f65-9D91-7224C49458BB}"/>
            </c:extLst>
          </c:dLbls>
          <c:cat>
            <c:strRef>
              <c:f>Sheet1!$C$96:$C$98</c:f>
              <c:strCache>
                <c:ptCount val="3"/>
                <c:pt idx="0">
                  <c:v>LESS THAN 6 HOURS</c:v>
                </c:pt>
                <c:pt idx="1">
                  <c:v>6 TO 10 HOURS</c:v>
                </c:pt>
                <c:pt idx="2">
                  <c:v>MORE THAN 10 HOURS</c:v>
                </c:pt>
              </c:strCache>
            </c:strRef>
          </c:cat>
          <c:val>
            <c:numRef>
              <c:f>Sheet1!$F$96:$F$98</c:f>
              <c:numCache>
                <c:formatCode>###0.0</c:formatCode>
                <c:ptCount val="3"/>
                <c:pt idx="0">
                  <c:v>13.333333333333334</c:v>
                </c:pt>
                <c:pt idx="1">
                  <c:v>82.666666666666671</c:v>
                </c:pt>
                <c:pt idx="2">
                  <c:v>100</c:v>
                </c:pt>
              </c:numCache>
            </c:numRef>
          </c:val>
          <c:extLst>
            <c:ext xmlns:c16="http://schemas.microsoft.com/office/drawing/2014/chart" uri="{C3380CC4-5D6E-409C-BE32-E72D297353CC}">
              <c16:uniqueId val="{00000014-CE00-4226-ACE4-A6637133AFD9}"/>
            </c:ext>
          </c:extLst>
        </c:ser>
        <c:ser>
          <c:idx val="3"/>
          <c:order val="3"/>
          <c:dPt>
            <c:idx val="0"/>
            <c:bubble3D val="0"/>
            <c:spPr>
              <a:solidFill>
                <a:schemeClr val="accent1">
                  <a:shade val="65000"/>
                </a:schemeClr>
              </a:solidFill>
              <a:ln w="25400">
                <a:solidFill>
                  <a:schemeClr val="lt1"/>
                </a:solidFill>
              </a:ln>
              <a:effectLst/>
              <a:sp3d contourW="25400">
                <a:contourClr>
                  <a:schemeClr val="lt1"/>
                </a:contourClr>
              </a:sp3d>
            </c:spPr>
            <c:extLst>
              <c:ext xmlns:c16="http://schemas.microsoft.com/office/drawing/2014/chart" uri="{C3380CC4-5D6E-409C-BE32-E72D297353CC}">
                <c16:uniqueId val="{00000016-CE00-4226-ACE4-A6637133AFD9}"/>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a:solidFill>
                    <a:schemeClr val="tx1">
                      <a:lumMod val="35000"/>
                      <a:lumOff val="65000"/>
                    </a:schemeClr>
                  </a:solidFill>
                  <a:round/>
                </a:ln>
                <a:effectLst/>
              </c:spPr>
            </c:leaderLines>
            <c:extLst>
              <c:ext xmlns:c15="http://schemas.microsoft.com/office/drawing/2012/chart" uri="{CE6537A1-D6FC-4f65-9D91-7224C49458BB}"/>
            </c:extLst>
          </c:dLbls>
          <c:cat>
            <c:strRef>
              <c:f>Sheet1!$C$94</c:f>
              <c:strCache>
                <c:ptCount val="1"/>
                <c:pt idx="0">
                  <c:v>NUMBER OF WORKING HOURS</c:v>
                </c:pt>
              </c:strCache>
            </c:strRef>
          </c:cat>
          <c:val>
            <c:numRef>
              <c:f>Sheet1!$D$94</c:f>
              <c:numCache>
                <c:formatCode>General</c:formatCode>
                <c:ptCount val="1"/>
              </c:numCache>
            </c:numRef>
          </c:val>
          <c:extLst>
            <c:ext xmlns:c16="http://schemas.microsoft.com/office/drawing/2014/chart" uri="{C3380CC4-5D6E-409C-BE32-E72D297353CC}">
              <c16:uniqueId val="{00000017-CE00-4226-ACE4-A6637133AFD9}"/>
            </c:ext>
          </c:extLst>
        </c:ser>
        <c:ser>
          <c:idx val="4"/>
          <c:order val="4"/>
          <c:dPt>
            <c:idx val="0"/>
            <c:bubble3D val="0"/>
            <c:spPr>
              <a:solidFill>
                <a:schemeClr val="accent1">
                  <a:shade val="65000"/>
                </a:schemeClr>
              </a:solidFill>
              <a:ln w="25400">
                <a:solidFill>
                  <a:schemeClr val="lt1"/>
                </a:solidFill>
              </a:ln>
              <a:effectLst/>
              <a:sp3d contourW="25400">
                <a:contourClr>
                  <a:schemeClr val="lt1"/>
                </a:contourClr>
              </a:sp3d>
            </c:spPr>
            <c:extLst>
              <c:ext xmlns:c16="http://schemas.microsoft.com/office/drawing/2014/chart" uri="{C3380CC4-5D6E-409C-BE32-E72D297353CC}">
                <c16:uniqueId val="{00000019-CE00-4226-ACE4-A6637133AFD9}"/>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a:solidFill>
                    <a:schemeClr val="tx1">
                      <a:lumMod val="35000"/>
                      <a:lumOff val="65000"/>
                    </a:schemeClr>
                  </a:solidFill>
                  <a:round/>
                </a:ln>
                <a:effectLst/>
              </c:spPr>
            </c:leaderLines>
            <c:extLst>
              <c:ext xmlns:c15="http://schemas.microsoft.com/office/drawing/2012/chart" uri="{CE6537A1-D6FC-4f65-9D91-7224C49458BB}"/>
            </c:extLst>
          </c:dLbls>
          <c:cat>
            <c:strRef>
              <c:f>Sheet1!$C$94</c:f>
              <c:strCache>
                <c:ptCount val="1"/>
                <c:pt idx="0">
                  <c:v>NUMBER OF WORKING HOURS</c:v>
                </c:pt>
              </c:strCache>
            </c:strRef>
          </c:cat>
          <c:val>
            <c:numRef>
              <c:f>Sheet1!$E$94</c:f>
              <c:numCache>
                <c:formatCode>General</c:formatCode>
                <c:ptCount val="1"/>
              </c:numCache>
            </c:numRef>
          </c:val>
          <c:extLst>
            <c:ext xmlns:c16="http://schemas.microsoft.com/office/drawing/2014/chart" uri="{C3380CC4-5D6E-409C-BE32-E72D297353CC}">
              <c16:uniqueId val="{0000001A-CE00-4226-ACE4-A6637133AFD9}"/>
            </c:ext>
          </c:extLst>
        </c:ser>
        <c:ser>
          <c:idx val="5"/>
          <c:order val="5"/>
          <c:dPt>
            <c:idx val="0"/>
            <c:bubble3D val="0"/>
            <c:spPr>
              <a:solidFill>
                <a:schemeClr val="accent1">
                  <a:shade val="65000"/>
                </a:schemeClr>
              </a:solidFill>
              <a:ln w="25400">
                <a:solidFill>
                  <a:schemeClr val="lt1"/>
                </a:solidFill>
              </a:ln>
              <a:effectLst/>
              <a:sp3d contourW="25400">
                <a:contourClr>
                  <a:schemeClr val="lt1"/>
                </a:contourClr>
              </a:sp3d>
            </c:spPr>
            <c:extLst>
              <c:ext xmlns:c16="http://schemas.microsoft.com/office/drawing/2014/chart" uri="{C3380CC4-5D6E-409C-BE32-E72D297353CC}">
                <c16:uniqueId val="{0000001C-CE00-4226-ACE4-A6637133AFD9}"/>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a:solidFill>
                    <a:schemeClr val="tx1">
                      <a:lumMod val="35000"/>
                      <a:lumOff val="65000"/>
                    </a:schemeClr>
                  </a:solidFill>
                  <a:round/>
                </a:ln>
                <a:effectLst/>
              </c:spPr>
            </c:leaderLines>
            <c:extLst>
              <c:ext xmlns:c15="http://schemas.microsoft.com/office/drawing/2012/chart" uri="{CE6537A1-D6FC-4f65-9D91-7224C49458BB}"/>
            </c:extLst>
          </c:dLbls>
          <c:cat>
            <c:strRef>
              <c:f>Sheet1!$C$94</c:f>
              <c:strCache>
                <c:ptCount val="1"/>
                <c:pt idx="0">
                  <c:v>NUMBER OF WORKING HOURS</c:v>
                </c:pt>
              </c:strCache>
            </c:strRef>
          </c:cat>
          <c:val>
            <c:numRef>
              <c:f>Sheet1!$F$94</c:f>
              <c:numCache>
                <c:formatCode>General</c:formatCode>
                <c:ptCount val="1"/>
              </c:numCache>
            </c:numRef>
          </c:val>
          <c:extLst>
            <c:ext xmlns:c16="http://schemas.microsoft.com/office/drawing/2014/chart" uri="{C3380CC4-5D6E-409C-BE32-E72D297353CC}">
              <c16:uniqueId val="{0000001D-CE00-4226-ACE4-A6637133AFD9}"/>
            </c:ext>
          </c:extLst>
        </c:ser>
        <c:ser>
          <c:idx val="6"/>
          <c:order val="6"/>
          <c:dPt>
            <c:idx val="0"/>
            <c:bubble3D val="0"/>
            <c:spPr>
              <a:solidFill>
                <a:schemeClr val="accent1">
                  <a:shade val="65000"/>
                </a:schemeClr>
              </a:solidFill>
              <a:ln w="25400">
                <a:solidFill>
                  <a:schemeClr val="lt1"/>
                </a:solidFill>
              </a:ln>
              <a:effectLst/>
              <a:sp3d contourW="25400">
                <a:contourClr>
                  <a:schemeClr val="lt1"/>
                </a:contourClr>
              </a:sp3d>
            </c:spPr>
            <c:extLst>
              <c:ext xmlns:c16="http://schemas.microsoft.com/office/drawing/2014/chart" uri="{C3380CC4-5D6E-409C-BE32-E72D297353CC}">
                <c16:uniqueId val="{0000001F-CE00-4226-ACE4-A6637133AFD9}"/>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a:solidFill>
                    <a:schemeClr val="tx1">
                      <a:lumMod val="35000"/>
                      <a:lumOff val="65000"/>
                    </a:schemeClr>
                  </a:solidFill>
                  <a:round/>
                </a:ln>
                <a:effectLst/>
              </c:spPr>
            </c:leaderLines>
            <c:extLst>
              <c:ext xmlns:c15="http://schemas.microsoft.com/office/drawing/2012/chart" uri="{CE6537A1-D6FC-4f65-9D91-7224C49458BB}"/>
            </c:extLst>
          </c:dLbls>
          <c:cat>
            <c:strRef>
              <c:f>Sheet1!$C$94</c:f>
              <c:strCache>
                <c:ptCount val="1"/>
                <c:pt idx="0">
                  <c:v>NUMBER OF WORKING HOURS</c:v>
                </c:pt>
              </c:strCache>
            </c:strRef>
          </c:cat>
          <c:val>
            <c:numRef>
              <c:f>Sheet1!$G$94</c:f>
              <c:numCache>
                <c:formatCode>General</c:formatCode>
                <c:ptCount val="1"/>
              </c:numCache>
            </c:numRef>
          </c:val>
          <c:extLst>
            <c:ext xmlns:c16="http://schemas.microsoft.com/office/drawing/2014/chart" uri="{C3380CC4-5D6E-409C-BE32-E72D297353CC}">
              <c16:uniqueId val="{00000020-CE00-4226-ACE4-A6637133AFD9}"/>
            </c:ext>
          </c:extLst>
        </c:ser>
        <c:ser>
          <c:idx val="7"/>
          <c:order val="7"/>
          <c:dPt>
            <c:idx val="0"/>
            <c:bubble3D val="0"/>
            <c:spPr>
              <a:solidFill>
                <a:schemeClr val="accent1">
                  <a:shade val="65000"/>
                </a:schemeClr>
              </a:solidFill>
              <a:ln w="25400">
                <a:solidFill>
                  <a:schemeClr val="lt1"/>
                </a:solidFill>
              </a:ln>
              <a:effectLst/>
              <a:sp3d contourW="25400">
                <a:contourClr>
                  <a:schemeClr val="lt1"/>
                </a:contourClr>
              </a:sp3d>
            </c:spPr>
            <c:extLst>
              <c:ext xmlns:c16="http://schemas.microsoft.com/office/drawing/2014/chart" uri="{C3380CC4-5D6E-409C-BE32-E72D297353CC}">
                <c16:uniqueId val="{00000022-CE00-4226-ACE4-A6637133AFD9}"/>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a:solidFill>
                    <a:schemeClr val="tx1">
                      <a:lumMod val="35000"/>
                      <a:lumOff val="65000"/>
                    </a:schemeClr>
                  </a:solidFill>
                  <a:round/>
                </a:ln>
                <a:effectLst/>
              </c:spPr>
            </c:leaderLines>
            <c:extLst>
              <c:ext xmlns:c15="http://schemas.microsoft.com/office/drawing/2012/chart" uri="{CE6537A1-D6FC-4f65-9D91-7224C49458BB}"/>
            </c:extLst>
          </c:dLbls>
          <c:cat>
            <c:strRef>
              <c:f>Sheet1!$C$94</c:f>
              <c:strCache>
                <c:ptCount val="1"/>
                <c:pt idx="0">
                  <c:v>NUMBER OF WORKING HOURS</c:v>
                </c:pt>
              </c:strCache>
            </c:strRef>
          </c:cat>
          <c:val>
            <c:numRef>
              <c:f>Sheet1!$H$94</c:f>
              <c:numCache>
                <c:formatCode>General</c:formatCode>
                <c:ptCount val="1"/>
              </c:numCache>
            </c:numRef>
          </c:val>
          <c:extLst>
            <c:ext xmlns:c16="http://schemas.microsoft.com/office/drawing/2014/chart" uri="{C3380CC4-5D6E-409C-BE32-E72D297353CC}">
              <c16:uniqueId val="{00000023-CE00-4226-ACE4-A6637133AFD9}"/>
            </c:ext>
          </c:extLst>
        </c:ser>
        <c:dLbls>
          <c:dLblPos val="bestFit"/>
          <c:showLegendKey val="0"/>
          <c:showVal val="1"/>
          <c:showCatName val="0"/>
          <c:showSerName val="0"/>
          <c:showPercent val="0"/>
          <c:showBubbleSize val="0"/>
          <c:showLeaderLines val="1"/>
        </c:dLbls>
      </c:pie3DChart>
      <c:spPr>
        <a:solidFill>
          <a:srgbClr val="FAD6FA"/>
        </a:solidFill>
        <a:ln>
          <a:noFill/>
        </a:ln>
        <a:effectLst/>
      </c:spPr>
    </c:plotArea>
    <c:legend>
      <c:legendPos val="b"/>
      <c:overlay val="0"/>
      <c:spPr>
        <a:noFill/>
        <a:ln>
          <a:noFill/>
        </a:ln>
        <a:effectLst/>
      </c:spPr>
      <c:txPr>
        <a:bodyPr rot="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rgbClr val="FAD6FA"/>
    </a:solidFill>
    <a:ln w="9525">
      <a:solidFill>
        <a:schemeClr val="tx1">
          <a:lumMod val="15000"/>
          <a:lumOff val="85000"/>
        </a:schemeClr>
      </a:solidFill>
      <a:round/>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r>
              <a:rPr lang="en-IN" sz="2400"/>
              <a:t> </a:t>
            </a:r>
            <a:r>
              <a:rPr lang="en-IN" sz="1800"/>
              <a:t>How satisfied would you say you are with your job?</a:t>
            </a:r>
          </a:p>
        </c:rich>
      </c:tx>
      <c:overlay val="0"/>
      <c:spPr>
        <a:no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n-US"/>
        </a:p>
      </c:txPr>
    </c:title>
    <c:autoTitleDeleted val="0"/>
    <c:view3D>
      <c:rotX val="30"/>
      <c:rotY val="17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3.7183905148860233E-2"/>
          <c:y val="0.21276467560199042"/>
          <c:w val="0.91146077610977227"/>
          <c:h val="0.64525930527340802"/>
        </c:manualLayout>
      </c:layout>
      <c:pie3DChart>
        <c:varyColors val="1"/>
        <c:ser>
          <c:idx val="0"/>
          <c:order val="0"/>
          <c:tx>
            <c:strRef>
              <c:f>Sheet1!$B$72</c:f>
              <c:strCache>
                <c:ptCount val="1"/>
                <c:pt idx="0">
                  <c:v>Frequency</c:v>
                </c:pt>
              </c:strCache>
            </c:strRef>
          </c:tx>
          <c:spPr>
            <a:solidFill>
              <a:srgbClr val="251B72"/>
            </a:solidFill>
          </c:spPr>
          <c:explosion val="2"/>
          <c:dPt>
            <c:idx val="0"/>
            <c:bubble3D val="0"/>
            <c:explosion val="3"/>
            <c:spPr>
              <a:solidFill>
                <a:srgbClr val="F77CA0"/>
              </a:soli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extLst>
              <c:ext xmlns:c16="http://schemas.microsoft.com/office/drawing/2014/chart" uri="{C3380CC4-5D6E-409C-BE32-E72D297353CC}">
                <c16:uniqueId val="{00000001-7B55-4BBD-BA36-19E5BC036372}"/>
              </c:ext>
            </c:extLst>
          </c:dPt>
          <c:dPt>
            <c:idx val="1"/>
            <c:bubble3D val="0"/>
            <c:spPr>
              <a:solidFill>
                <a:srgbClr val="FF99CC"/>
              </a:soli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extLst>
              <c:ext xmlns:c16="http://schemas.microsoft.com/office/drawing/2014/chart" uri="{C3380CC4-5D6E-409C-BE32-E72D297353CC}">
                <c16:uniqueId val="{00000003-7B55-4BBD-BA36-19E5BC036372}"/>
              </c:ext>
            </c:extLst>
          </c:dPt>
          <c:dPt>
            <c:idx val="2"/>
            <c:bubble3D val="0"/>
            <c:explosion val="6"/>
            <c:spPr>
              <a:solidFill>
                <a:srgbClr val="A788CC"/>
              </a:soli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extLst>
              <c:ext xmlns:c16="http://schemas.microsoft.com/office/drawing/2014/chart" uri="{C3380CC4-5D6E-409C-BE32-E72D297353CC}">
                <c16:uniqueId val="{00000005-7B55-4BBD-BA36-19E5BC036372}"/>
              </c:ext>
            </c:extLst>
          </c:dPt>
          <c:dPt>
            <c:idx val="3"/>
            <c:bubble3D val="0"/>
            <c:explosion val="14"/>
            <c:spPr>
              <a:solidFill>
                <a:srgbClr val="251B72"/>
              </a:soli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extLst>
              <c:ext xmlns:c16="http://schemas.microsoft.com/office/drawing/2014/chart" uri="{C3380CC4-5D6E-409C-BE32-E72D297353CC}">
                <c16:uniqueId val="{00000007-7B55-4BBD-BA36-19E5BC036372}"/>
              </c:ext>
            </c:extLst>
          </c:dPt>
          <c:dLbls>
            <c:dLbl>
              <c:idx val="0"/>
              <c:tx>
                <c:rich>
                  <a:bodyPr/>
                  <a:lstStyle/>
                  <a:p>
                    <a:fld id="{8771DA53-2D4B-4445-80E9-02AE5DBF058C}" type="VALUE">
                      <a:rPr lang="en-US">
                        <a:solidFill>
                          <a:schemeClr val="bg1"/>
                        </a:solidFill>
                      </a:rPr>
                      <a:pPr/>
                      <a:t>[VALUE]</a:t>
                    </a:fld>
                    <a:endParaRPr lang="en-IN"/>
                  </a:p>
                </c:rich>
              </c:tx>
              <c:dLblPos val="bestFit"/>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7B55-4BBD-BA36-19E5BC036372}"/>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Sheet1!$A$73:$A$76</c:f>
              <c:strCache>
                <c:ptCount val="4"/>
                <c:pt idx="0">
                  <c:v>Very satisfied</c:v>
                </c:pt>
                <c:pt idx="1">
                  <c:v>Somewhat satisfied</c:v>
                </c:pt>
                <c:pt idx="2">
                  <c:v>Not too satisfied</c:v>
                </c:pt>
                <c:pt idx="3">
                  <c:v>Not at all satisfied</c:v>
                </c:pt>
              </c:strCache>
            </c:strRef>
          </c:cat>
          <c:val>
            <c:numRef>
              <c:f>Sheet1!$B$73:$B$76</c:f>
              <c:numCache>
                <c:formatCode>###0</c:formatCode>
                <c:ptCount val="4"/>
                <c:pt idx="0">
                  <c:v>37</c:v>
                </c:pt>
                <c:pt idx="1">
                  <c:v>82</c:v>
                </c:pt>
                <c:pt idx="2">
                  <c:v>25</c:v>
                </c:pt>
                <c:pt idx="3">
                  <c:v>6</c:v>
                </c:pt>
              </c:numCache>
            </c:numRef>
          </c:val>
          <c:extLst>
            <c:ext xmlns:c16="http://schemas.microsoft.com/office/drawing/2014/chart" uri="{C3380CC4-5D6E-409C-BE32-E72D297353CC}">
              <c16:uniqueId val="{00000008-7B55-4BBD-BA36-19E5BC036372}"/>
            </c:ext>
          </c:extLst>
        </c:ser>
        <c:ser>
          <c:idx val="1"/>
          <c:order val="1"/>
          <c:tx>
            <c:strRef>
              <c:f>Sheet1!$C$72</c:f>
              <c:strCache>
                <c:ptCount val="1"/>
                <c:pt idx="0">
                  <c:v>Percent</c:v>
                </c:pt>
              </c:strCache>
            </c:strRef>
          </c:tx>
          <c:dPt>
            <c:idx val="0"/>
            <c:bubble3D val="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extLst>
              <c:ext xmlns:c16="http://schemas.microsoft.com/office/drawing/2014/chart" uri="{C3380CC4-5D6E-409C-BE32-E72D297353CC}">
                <c16:uniqueId val="{0000000A-7B55-4BBD-BA36-19E5BC036372}"/>
              </c:ext>
            </c:extLst>
          </c:dPt>
          <c:dPt>
            <c:idx val="1"/>
            <c:bubble3D val="0"/>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extLst>
              <c:ext xmlns:c16="http://schemas.microsoft.com/office/drawing/2014/chart" uri="{C3380CC4-5D6E-409C-BE32-E72D297353CC}">
                <c16:uniqueId val="{0000000C-7B55-4BBD-BA36-19E5BC036372}"/>
              </c:ext>
            </c:extLst>
          </c:dPt>
          <c:dPt>
            <c:idx val="2"/>
            <c:bubble3D val="0"/>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extLst>
              <c:ext xmlns:c16="http://schemas.microsoft.com/office/drawing/2014/chart" uri="{C3380CC4-5D6E-409C-BE32-E72D297353CC}">
                <c16:uniqueId val="{0000000E-7B55-4BBD-BA36-19E5BC036372}"/>
              </c:ext>
            </c:extLst>
          </c:dPt>
          <c:dPt>
            <c:idx val="3"/>
            <c:bubble3D val="0"/>
            <c:spPr>
              <a:gradFill rotWithShape="1">
                <a:gsLst>
                  <a:gs pos="0">
                    <a:schemeClr val="accent2">
                      <a:lumMod val="60000"/>
                      <a:satMod val="103000"/>
                      <a:lumMod val="102000"/>
                      <a:tint val="94000"/>
                    </a:schemeClr>
                  </a:gs>
                  <a:gs pos="50000">
                    <a:schemeClr val="accent2">
                      <a:lumMod val="60000"/>
                      <a:satMod val="110000"/>
                      <a:lumMod val="100000"/>
                      <a:shade val="100000"/>
                    </a:schemeClr>
                  </a:gs>
                  <a:gs pos="100000">
                    <a:schemeClr val="accent2">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extLst>
              <c:ext xmlns:c16="http://schemas.microsoft.com/office/drawing/2014/chart" uri="{C3380CC4-5D6E-409C-BE32-E72D297353CC}">
                <c16:uniqueId val="{00000010-7B55-4BBD-BA36-19E5BC036372}"/>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Sheet1!$A$73:$A$76</c:f>
              <c:strCache>
                <c:ptCount val="4"/>
                <c:pt idx="0">
                  <c:v>Very satisfied</c:v>
                </c:pt>
                <c:pt idx="1">
                  <c:v>Somewhat satisfied</c:v>
                </c:pt>
                <c:pt idx="2">
                  <c:v>Not too satisfied</c:v>
                </c:pt>
                <c:pt idx="3">
                  <c:v>Not at all satisfied</c:v>
                </c:pt>
              </c:strCache>
            </c:strRef>
          </c:cat>
          <c:val>
            <c:numRef>
              <c:f>Sheet1!$C$73:$C$76</c:f>
              <c:numCache>
                <c:formatCode>###0.0</c:formatCode>
                <c:ptCount val="4"/>
                <c:pt idx="0">
                  <c:v>24.666666666666668</c:v>
                </c:pt>
                <c:pt idx="1">
                  <c:v>54.666666666666664</c:v>
                </c:pt>
                <c:pt idx="2">
                  <c:v>16.666666666666664</c:v>
                </c:pt>
                <c:pt idx="3">
                  <c:v>4</c:v>
                </c:pt>
              </c:numCache>
            </c:numRef>
          </c:val>
          <c:extLst>
            <c:ext xmlns:c16="http://schemas.microsoft.com/office/drawing/2014/chart" uri="{C3380CC4-5D6E-409C-BE32-E72D297353CC}">
              <c16:uniqueId val="{00000011-7B55-4BBD-BA36-19E5BC036372}"/>
            </c:ext>
          </c:extLst>
        </c:ser>
        <c:ser>
          <c:idx val="2"/>
          <c:order val="2"/>
          <c:tx>
            <c:strRef>
              <c:f>Sheet1!$D$72</c:f>
              <c:strCache>
                <c:ptCount val="1"/>
                <c:pt idx="0">
                  <c:v>Valid Percent</c:v>
                </c:pt>
              </c:strCache>
            </c:strRef>
          </c:tx>
          <c:dPt>
            <c:idx val="0"/>
            <c:bubble3D val="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extLst>
              <c:ext xmlns:c16="http://schemas.microsoft.com/office/drawing/2014/chart" uri="{C3380CC4-5D6E-409C-BE32-E72D297353CC}">
                <c16:uniqueId val="{00000013-7B55-4BBD-BA36-19E5BC036372}"/>
              </c:ext>
            </c:extLst>
          </c:dPt>
          <c:dPt>
            <c:idx val="1"/>
            <c:bubble3D val="0"/>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extLst>
              <c:ext xmlns:c16="http://schemas.microsoft.com/office/drawing/2014/chart" uri="{C3380CC4-5D6E-409C-BE32-E72D297353CC}">
                <c16:uniqueId val="{00000015-7B55-4BBD-BA36-19E5BC036372}"/>
              </c:ext>
            </c:extLst>
          </c:dPt>
          <c:dPt>
            <c:idx val="2"/>
            <c:bubble3D val="0"/>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extLst>
              <c:ext xmlns:c16="http://schemas.microsoft.com/office/drawing/2014/chart" uri="{C3380CC4-5D6E-409C-BE32-E72D297353CC}">
                <c16:uniqueId val="{00000017-7B55-4BBD-BA36-19E5BC036372}"/>
              </c:ext>
            </c:extLst>
          </c:dPt>
          <c:dPt>
            <c:idx val="3"/>
            <c:bubble3D val="0"/>
            <c:spPr>
              <a:gradFill rotWithShape="1">
                <a:gsLst>
                  <a:gs pos="0">
                    <a:schemeClr val="accent2">
                      <a:lumMod val="60000"/>
                      <a:satMod val="103000"/>
                      <a:lumMod val="102000"/>
                      <a:tint val="94000"/>
                    </a:schemeClr>
                  </a:gs>
                  <a:gs pos="50000">
                    <a:schemeClr val="accent2">
                      <a:lumMod val="60000"/>
                      <a:satMod val="110000"/>
                      <a:lumMod val="100000"/>
                      <a:shade val="100000"/>
                    </a:schemeClr>
                  </a:gs>
                  <a:gs pos="100000">
                    <a:schemeClr val="accent2">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extLst>
              <c:ext xmlns:c16="http://schemas.microsoft.com/office/drawing/2014/chart" uri="{C3380CC4-5D6E-409C-BE32-E72D297353CC}">
                <c16:uniqueId val="{00000019-7B55-4BBD-BA36-19E5BC036372}"/>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Sheet1!$A$73:$A$76</c:f>
              <c:strCache>
                <c:ptCount val="4"/>
                <c:pt idx="0">
                  <c:v>Very satisfied</c:v>
                </c:pt>
                <c:pt idx="1">
                  <c:v>Somewhat satisfied</c:v>
                </c:pt>
                <c:pt idx="2">
                  <c:v>Not too satisfied</c:v>
                </c:pt>
                <c:pt idx="3">
                  <c:v>Not at all satisfied</c:v>
                </c:pt>
              </c:strCache>
            </c:strRef>
          </c:cat>
          <c:val>
            <c:numRef>
              <c:f>Sheet1!$D$73:$D$76</c:f>
              <c:numCache>
                <c:formatCode>###0.0</c:formatCode>
                <c:ptCount val="4"/>
                <c:pt idx="0">
                  <c:v>24.666666666666668</c:v>
                </c:pt>
                <c:pt idx="1">
                  <c:v>54.666666666666664</c:v>
                </c:pt>
                <c:pt idx="2">
                  <c:v>16.666666666666664</c:v>
                </c:pt>
                <c:pt idx="3">
                  <c:v>4</c:v>
                </c:pt>
              </c:numCache>
            </c:numRef>
          </c:val>
          <c:extLst>
            <c:ext xmlns:c16="http://schemas.microsoft.com/office/drawing/2014/chart" uri="{C3380CC4-5D6E-409C-BE32-E72D297353CC}">
              <c16:uniqueId val="{0000001A-7B55-4BBD-BA36-19E5BC036372}"/>
            </c:ext>
          </c:extLst>
        </c:ser>
        <c:dLbls>
          <c:dLblPos val="bestFit"/>
          <c:showLegendKey val="0"/>
          <c:showVal val="1"/>
          <c:showCatName val="0"/>
          <c:showSerName val="0"/>
          <c:showPercent val="0"/>
          <c:showBubbleSize val="0"/>
          <c:showLeaderLines val="1"/>
        </c:dLbls>
      </c:pie3DChart>
      <c:spPr>
        <a:noFill/>
        <a:ln>
          <a:noFill/>
        </a:ln>
        <a:effectLst/>
      </c:spPr>
    </c:plotArea>
    <c:legend>
      <c:legendPos val="b"/>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rgbClr val="FAD6FA"/>
    </a:solidFill>
    <a:ln w="9525" cap="flat" cmpd="sng" algn="ctr">
      <a:solidFill>
        <a:schemeClr val="tx1">
          <a:lumMod val="15000"/>
          <a:lumOff val="85000"/>
        </a:schemeClr>
      </a:solid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withinLinear" id="14">
  <a:schemeClr val="accent1"/>
</cs:colorStyle>
</file>

<file path=ppt/charts/colors4.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a:solidFill>
          <a:schemeClr val="tx1">
            <a:lumMod val="35000"/>
            <a:lumOff val="65000"/>
          </a:schemeClr>
        </a:solidFill>
        <a:round/>
      </a:ln>
    </cs:spPr>
  </cs:dropLine>
  <cs:errorBar>
    <cs:lnRef idx="0"/>
    <cs:fillRef idx="0"/>
    <cs:effectRef idx="0"/>
    <cs:fontRef idx="minor">
      <a:schemeClr val="tx1"/>
    </cs:fontRef>
    <cs:spPr>
      <a:ln w="9525">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a:solidFill>
          <a:schemeClr val="tx1">
            <a:lumMod val="15000"/>
            <a:lumOff val="85000"/>
          </a:schemeClr>
        </a:solidFill>
        <a:round/>
      </a:ln>
    </cs:spPr>
  </cs:gridlineMajor>
  <cs:gridlineMinor>
    <cs:lnRef idx="0"/>
    <cs:fillRef idx="0"/>
    <cs:effectRef idx="0"/>
    <cs:fontRef idx="minor">
      <a:schemeClr val="tx1"/>
    </cs:fontRef>
    <cs:spPr>
      <a:ln w="9525">
        <a:solidFill>
          <a:schemeClr val="tx1">
            <a:lumMod val="5000"/>
            <a:lumOff val="95000"/>
          </a:schemeClr>
        </a:solidFill>
        <a:round/>
      </a:ln>
    </cs:spPr>
  </cs:gridlineMinor>
  <cs:hiLoLine>
    <cs:lnRef idx="0"/>
    <cs:fillRef idx="0"/>
    <cs:effectRef idx="0"/>
    <cs:fontRef idx="minor">
      <a:schemeClr val="tx1"/>
    </cs:fontRef>
    <cs:spPr>
      <a:ln w="9525">
        <a:solidFill>
          <a:schemeClr val="tx1">
            <a:lumMod val="75000"/>
            <a:lumOff val="25000"/>
          </a:schemeClr>
        </a:solidFill>
        <a:round/>
      </a:ln>
    </cs:spPr>
  </cs:hiLoLine>
  <cs:leaderLine>
    <cs:lnRef idx="0"/>
    <cs:fillRef idx="0"/>
    <cs:effectRef idx="0"/>
    <cs:fontRef idx="minor">
      <a:schemeClr val="tx1"/>
    </cs:fontRef>
    <cs:spPr>
      <a:ln w="9525">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10">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800"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900" kern="1200"/>
  </cs:chartArea>
  <cs:dataLabel>
    <cs:lnRef idx="0"/>
    <cs:fillRef idx="0"/>
    <cs:effectRef idx="0"/>
    <cs:fontRef idx="minor">
      <a:schemeClr val="lt1"/>
    </cs:fontRef>
    <cs:defRPr sz="800" b="1"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8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900"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a:solidFill>
          <a:schemeClr val="tx1">
            <a:lumMod val="65000"/>
            <a:lumOff val="35000"/>
          </a:schemeClr>
        </a:solidFill>
        <a:round/>
      </a:ln>
    </cs:spPr>
  </cs:downBar>
  <cs:dropLine>
    <cs:lnRef idx="0"/>
    <cs:fillRef idx="0"/>
    <cs:effectRef idx="0"/>
    <cs:fontRef idx="minor">
      <a:schemeClr val="tx1"/>
    </cs:fontRef>
    <cs:spPr>
      <a:ln w="9525">
        <a:solidFill>
          <a:schemeClr val="tx1">
            <a:lumMod val="35000"/>
            <a:lumOff val="65000"/>
          </a:schemeClr>
        </a:solidFill>
        <a:round/>
      </a:ln>
    </cs:spPr>
  </cs:dropLine>
  <cs:errorBar>
    <cs:lnRef idx="0"/>
    <cs:fillRef idx="0"/>
    <cs:effectRef idx="0"/>
    <cs:fontRef idx="minor">
      <a:schemeClr val="tx1"/>
    </cs:fontRef>
    <cs:spPr>
      <a:ln w="9525">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a:solidFill>
          <a:schemeClr val="tx1">
            <a:lumMod val="15000"/>
            <a:lumOff val="85000"/>
          </a:schemeClr>
        </a:solidFill>
        <a:round/>
      </a:ln>
    </cs:spPr>
  </cs:gridlineMajor>
  <cs:gridlineMinor>
    <cs:lnRef idx="0"/>
    <cs:fillRef idx="0"/>
    <cs:effectRef idx="0"/>
    <cs:fontRef idx="minor">
      <a:schemeClr val="tx1"/>
    </cs:fontRef>
    <cs:spPr>
      <a:ln w="9525">
        <a:solidFill>
          <a:schemeClr val="tx1">
            <a:lumMod val="5000"/>
            <a:lumOff val="95000"/>
          </a:schemeClr>
        </a:solidFill>
        <a:round/>
      </a:ln>
    </cs:spPr>
  </cs:gridlineMinor>
  <cs:hiLoLine>
    <cs:lnRef idx="0"/>
    <cs:fillRef idx="0"/>
    <cs:effectRef idx="0"/>
    <cs:fontRef idx="minor">
      <a:schemeClr val="tx1"/>
    </cs:fontRef>
    <cs:spPr>
      <a:ln w="9525">
        <a:solidFill>
          <a:schemeClr val="tx1">
            <a:lumMod val="50000"/>
            <a:lumOff val="50000"/>
          </a:schemeClr>
        </a:solidFill>
        <a:round/>
      </a:ln>
    </cs:spPr>
  </cs:hiLoLine>
  <cs:leaderLine>
    <cs:lnRef idx="0"/>
    <cs:fillRef idx="0"/>
    <cs:effectRef idx="0"/>
    <cs:fontRef idx="minor">
      <a:schemeClr val="tx1"/>
    </cs:fontRef>
    <cs:spPr>
      <a:ln w="9525">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45">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D49D90-FC10-47E9-84C3-26793504DC23}" type="datetimeFigureOut">
              <a:rPr lang="en-IN" smtClean="0"/>
              <a:t>11-03-2024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64E3DF-000D-438A-83A8-02A55910BFA4}" type="slidenum">
              <a:rPr lang="en-IN" smtClean="0"/>
              <a:t>‹#›</a:t>
            </a:fld>
            <a:endParaRPr lang="en-IN"/>
          </a:p>
        </p:txBody>
      </p:sp>
    </p:spTree>
    <p:extLst>
      <p:ext uri="{BB962C8B-B14F-4D97-AF65-F5344CB8AC3E}">
        <p14:creationId xmlns:p14="http://schemas.microsoft.com/office/powerpoint/2010/main" val="32469075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964E3DF-000D-438A-83A8-02A55910BFA4}" type="slidenum">
              <a:rPr lang="en-IN" smtClean="0"/>
              <a:t>8</a:t>
            </a:fld>
            <a:endParaRPr lang="en-IN"/>
          </a:p>
        </p:txBody>
      </p:sp>
    </p:spTree>
    <p:extLst>
      <p:ext uri="{BB962C8B-B14F-4D97-AF65-F5344CB8AC3E}">
        <p14:creationId xmlns:p14="http://schemas.microsoft.com/office/powerpoint/2010/main" val="34952921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964E3DF-000D-438A-83A8-02A55910BFA4}" type="slidenum">
              <a:rPr lang="en-IN" smtClean="0"/>
              <a:t>12</a:t>
            </a:fld>
            <a:endParaRPr lang="en-IN"/>
          </a:p>
        </p:txBody>
      </p:sp>
    </p:spTree>
    <p:extLst>
      <p:ext uri="{BB962C8B-B14F-4D97-AF65-F5344CB8AC3E}">
        <p14:creationId xmlns:p14="http://schemas.microsoft.com/office/powerpoint/2010/main" val="30859228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3/11/2024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3/11/2024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3/11/2024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8.svg"/><Relationship Id="rId7" Type="http://schemas.openxmlformats.org/officeDocument/2006/relationships/image" Target="../media/image6.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10.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2.sv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4.sv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3.png"/><Relationship Id="rId7"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slides/_rels/slide1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20.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6.svg"/><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28.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38.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37.png"/><Relationship Id="rId5" Type="http://schemas.openxmlformats.org/officeDocument/2006/relationships/image" Target="../media/image6.svg"/><Relationship Id="rId4" Type="http://schemas.openxmlformats.org/officeDocument/2006/relationships/image" Target="../media/image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20.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6.svg"/><Relationship Id="rId4" Type="http://schemas.openxmlformats.org/officeDocument/2006/relationships/image" Target="../media/image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38.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37.png"/><Relationship Id="rId5" Type="http://schemas.openxmlformats.org/officeDocument/2006/relationships/image" Target="../media/image6.svg"/><Relationship Id="rId4" Type="http://schemas.openxmlformats.org/officeDocument/2006/relationships/image" Target="../media/image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40.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39.png"/><Relationship Id="rId5" Type="http://schemas.openxmlformats.org/officeDocument/2006/relationships/image" Target="../media/image6.svg"/><Relationship Id="rId4" Type="http://schemas.openxmlformats.org/officeDocument/2006/relationships/image" Target="../media/image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45.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44.png"/><Relationship Id="rId5" Type="http://schemas.openxmlformats.org/officeDocument/2006/relationships/image" Target="../media/image6.svg"/><Relationship Id="rId4" Type="http://schemas.openxmlformats.org/officeDocument/2006/relationships/image" Target="../media/image5.png"/></Relationships>
</file>

<file path=ppt/slides/_rels/slide48.xml.rels><?xml version="1.0" encoding="UTF-8" standalone="yes"?>
<Relationships xmlns="http://schemas.openxmlformats.org/package/2006/relationships"><Relationship Id="rId8" Type="http://schemas.openxmlformats.org/officeDocument/2006/relationships/hyperlink" Target="https://pubmed.ncbi.nlm.nih.gov/22040944/" TargetMode="External"/><Relationship Id="rId3" Type="http://schemas.openxmlformats.org/officeDocument/2006/relationships/hyperlink" Target="https://dictionary.apa.org/occupational-stress" TargetMode="External"/><Relationship Id="rId7" Type="http://schemas.openxmlformats.org/officeDocument/2006/relationships/hyperlink" Target="https://www.ncbi.nlm.nih.gov/pmc/articles/PMC5299810/#:~:text=In%20comparison%20to%20workers%20reporting,adjusted%20models%20%5BTable%203%5D" TargetMode="External"/><Relationship Id="rId2" Type="http://schemas.openxmlformats.org/officeDocument/2006/relationships/hyperlink" Target="https://www.who.int/news-room/questions-and-answers/item/ccupational-health-stress-at-the-workplace" TargetMode="External"/><Relationship Id="rId1" Type="http://schemas.openxmlformats.org/officeDocument/2006/relationships/slideLayout" Target="../slideLayouts/slideLayout7.xml"/><Relationship Id="rId6" Type="http://schemas.openxmlformats.org/officeDocument/2006/relationships/hyperlink" Target="https://www.dspmuranchi.ac.in/pdf/Blog/u5%20p1.pdf" TargetMode="External"/><Relationship Id="rId11" Type="http://schemas.openxmlformats.org/officeDocument/2006/relationships/hyperlink" Target="https://www.forbes.com/health/mind/how-to-deal-with-stress-at-work/" TargetMode="External"/><Relationship Id="rId5" Type="http://schemas.openxmlformats.org/officeDocument/2006/relationships/hyperlink" Target="https://www.mbaknol.com/human-resource-management/quality-of-work-life-qwl/" TargetMode="External"/><Relationship Id="rId10" Type="http://schemas.openxmlformats.org/officeDocument/2006/relationships/hyperlink" Target="https://blog.vantagecircle.com/quality-of-work-life-qwl/" TargetMode="External"/><Relationship Id="rId4" Type="http://schemas.openxmlformats.org/officeDocument/2006/relationships/hyperlink" Target="https://www.scirp.org/journal/paperinformation?paperid=110026#:~:text=The%20women%20identified%20recreation%2C%20self,prevent%20the%20negative%20health%20impact" TargetMode="External"/><Relationship Id="rId9" Type="http://schemas.openxmlformats.org/officeDocument/2006/relationships/hyperlink" Target="https://ijamtes.org/gallery/163-mar2019.pdf" TargetMode="External"/></Relationships>
</file>

<file path=ppt/slides/_rels/slide49.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49.svg"/><Relationship Id="rId3" Type="http://schemas.openxmlformats.org/officeDocument/2006/relationships/image" Target="../media/image40.svg"/><Relationship Id="rId7" Type="http://schemas.openxmlformats.org/officeDocument/2006/relationships/image" Target="../media/image6.svg"/><Relationship Id="rId12" Type="http://schemas.openxmlformats.org/officeDocument/2006/relationships/image" Target="../media/image48.png"/><Relationship Id="rId2" Type="http://schemas.openxmlformats.org/officeDocument/2006/relationships/image" Target="../media/image39.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47.svg"/><Relationship Id="rId5" Type="http://schemas.openxmlformats.org/officeDocument/2006/relationships/image" Target="../media/image4.svg"/><Relationship Id="rId10" Type="http://schemas.openxmlformats.org/officeDocument/2006/relationships/image" Target="../media/image46.png"/><Relationship Id="rId4" Type="http://schemas.openxmlformats.org/officeDocument/2006/relationships/image" Target="../media/image3.png"/><Relationship Id="rId9" Type="http://schemas.openxmlformats.org/officeDocument/2006/relationships/image" Target="../media/image10.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7EF"/>
        </a:solidFill>
        <a:effectLst/>
      </p:bgPr>
    </p:bg>
    <p:spTree>
      <p:nvGrpSpPr>
        <p:cNvPr id="1" name=""/>
        <p:cNvGrpSpPr/>
        <p:nvPr/>
      </p:nvGrpSpPr>
      <p:grpSpPr>
        <a:xfrm>
          <a:off x="0" y="0"/>
          <a:ext cx="0" cy="0"/>
          <a:chOff x="0" y="0"/>
          <a:chExt cx="0" cy="0"/>
        </a:xfrm>
      </p:grpSpPr>
      <p:grpSp>
        <p:nvGrpSpPr>
          <p:cNvPr id="2" name="Group 2"/>
          <p:cNvGrpSpPr/>
          <p:nvPr/>
        </p:nvGrpSpPr>
        <p:grpSpPr>
          <a:xfrm>
            <a:off x="4917956" y="5085847"/>
            <a:ext cx="3827651" cy="3827651"/>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DAFA8">
                <a:alpha val="40000"/>
              </a:srgbClr>
            </a:solidFill>
          </p:spPr>
        </p:sp>
        <p:sp>
          <p:nvSpPr>
            <p:cNvPr id="4" name="TextBox 4"/>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714039" y="1672355"/>
            <a:ext cx="3389171" cy="3389171"/>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DAFA8">
                <a:alpha val="40000"/>
              </a:srgbClr>
            </a:solidFill>
          </p:spPr>
        </p:sp>
        <p:sp>
          <p:nvSpPr>
            <p:cNvPr id="7" name="TextBox 7"/>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1004805" y="4038431"/>
            <a:ext cx="2094831" cy="2094831"/>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6A160">
                <a:alpha val="40000"/>
              </a:srgbClr>
            </a:solidFill>
          </p:spPr>
        </p:sp>
        <p:sp>
          <p:nvSpPr>
            <p:cNvPr id="10" name="TextBox 10"/>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5784365" y="2991016"/>
            <a:ext cx="2094831" cy="2094831"/>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6A160">
                <a:alpha val="40000"/>
              </a:srgbClr>
            </a:solidFill>
          </p:spPr>
        </p:sp>
        <p:sp>
          <p:nvSpPr>
            <p:cNvPr id="13" name="TextBox 13"/>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14" name="Freeform 14"/>
          <p:cNvSpPr/>
          <p:nvPr/>
        </p:nvSpPr>
        <p:spPr>
          <a:xfrm>
            <a:off x="1564606" y="2357985"/>
            <a:ext cx="6557775" cy="5436991"/>
          </a:xfrm>
          <a:custGeom>
            <a:avLst/>
            <a:gdLst/>
            <a:ahLst/>
            <a:cxnLst/>
            <a:rect l="l" t="t" r="r" b="b"/>
            <a:pathLst>
              <a:path w="6557775" h="5436991">
                <a:moveTo>
                  <a:pt x="0" y="0"/>
                </a:moveTo>
                <a:lnTo>
                  <a:pt x="6557775" y="0"/>
                </a:lnTo>
                <a:lnTo>
                  <a:pt x="6557775" y="5436991"/>
                </a:lnTo>
                <a:lnTo>
                  <a:pt x="0" y="543699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5" name="Group 15"/>
          <p:cNvGrpSpPr/>
          <p:nvPr/>
        </p:nvGrpSpPr>
        <p:grpSpPr>
          <a:xfrm>
            <a:off x="-557510" y="-889891"/>
            <a:ext cx="19403020" cy="1779782"/>
            <a:chOff x="0" y="0"/>
            <a:chExt cx="5110260" cy="468749"/>
          </a:xfrm>
        </p:grpSpPr>
        <p:sp>
          <p:nvSpPr>
            <p:cNvPr id="16" name="Freeform 16"/>
            <p:cNvSpPr/>
            <p:nvPr/>
          </p:nvSpPr>
          <p:spPr>
            <a:xfrm>
              <a:off x="0" y="0"/>
              <a:ext cx="5110261" cy="468749"/>
            </a:xfrm>
            <a:custGeom>
              <a:avLst/>
              <a:gdLst/>
              <a:ahLst/>
              <a:cxnLst/>
              <a:rect l="l" t="t" r="r" b="b"/>
              <a:pathLst>
                <a:path w="5110261" h="468749">
                  <a:moveTo>
                    <a:pt x="0" y="0"/>
                  </a:moveTo>
                  <a:lnTo>
                    <a:pt x="5110261" y="0"/>
                  </a:lnTo>
                  <a:lnTo>
                    <a:pt x="5110261" y="468749"/>
                  </a:lnTo>
                  <a:lnTo>
                    <a:pt x="0" y="468749"/>
                  </a:lnTo>
                  <a:close/>
                </a:path>
              </a:pathLst>
            </a:custGeom>
            <a:solidFill>
              <a:srgbClr val="8DAFA8"/>
            </a:solidFill>
          </p:spPr>
        </p:sp>
        <p:sp>
          <p:nvSpPr>
            <p:cNvPr id="17" name="TextBox 17"/>
            <p:cNvSpPr txBox="1"/>
            <p:nvPr/>
          </p:nvSpPr>
          <p:spPr>
            <a:xfrm>
              <a:off x="0" y="-47625"/>
              <a:ext cx="5110260" cy="516374"/>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a:off x="-547178" y="9048064"/>
            <a:ext cx="19403020" cy="1779782"/>
            <a:chOff x="0" y="0"/>
            <a:chExt cx="5110260" cy="468749"/>
          </a:xfrm>
        </p:grpSpPr>
        <p:sp>
          <p:nvSpPr>
            <p:cNvPr id="19" name="Freeform 19"/>
            <p:cNvSpPr/>
            <p:nvPr/>
          </p:nvSpPr>
          <p:spPr>
            <a:xfrm>
              <a:off x="0" y="0"/>
              <a:ext cx="5110261" cy="468749"/>
            </a:xfrm>
            <a:custGeom>
              <a:avLst/>
              <a:gdLst/>
              <a:ahLst/>
              <a:cxnLst/>
              <a:rect l="l" t="t" r="r" b="b"/>
              <a:pathLst>
                <a:path w="5110261" h="468749">
                  <a:moveTo>
                    <a:pt x="0" y="0"/>
                  </a:moveTo>
                  <a:lnTo>
                    <a:pt x="5110261" y="0"/>
                  </a:lnTo>
                  <a:lnTo>
                    <a:pt x="5110261" y="468749"/>
                  </a:lnTo>
                  <a:lnTo>
                    <a:pt x="0" y="468749"/>
                  </a:lnTo>
                  <a:close/>
                </a:path>
              </a:pathLst>
            </a:custGeom>
            <a:solidFill>
              <a:srgbClr val="8DAFA8"/>
            </a:solidFill>
          </p:spPr>
        </p:sp>
        <p:sp>
          <p:nvSpPr>
            <p:cNvPr id="20" name="TextBox 20"/>
            <p:cNvSpPr txBox="1"/>
            <p:nvPr/>
          </p:nvSpPr>
          <p:spPr>
            <a:xfrm>
              <a:off x="0" y="-47625"/>
              <a:ext cx="5110260" cy="516374"/>
            </a:xfrm>
            <a:prstGeom prst="rect">
              <a:avLst/>
            </a:prstGeom>
          </p:spPr>
          <p:txBody>
            <a:bodyPr lIns="50800" tIns="50800" rIns="50800" bIns="50800" rtlCol="0" anchor="ctr"/>
            <a:lstStyle/>
            <a:p>
              <a:pPr algn="ctr">
                <a:lnSpc>
                  <a:spcPts val="2659"/>
                </a:lnSpc>
              </a:pPr>
              <a:endParaRPr/>
            </a:p>
          </p:txBody>
        </p:sp>
      </p:grpSp>
      <p:grpSp>
        <p:nvGrpSpPr>
          <p:cNvPr id="21" name="Group 21"/>
          <p:cNvGrpSpPr/>
          <p:nvPr/>
        </p:nvGrpSpPr>
        <p:grpSpPr>
          <a:xfrm>
            <a:off x="11827243" y="1732443"/>
            <a:ext cx="5253409" cy="685630"/>
            <a:chOff x="0" y="0"/>
            <a:chExt cx="1104806" cy="144190"/>
          </a:xfrm>
        </p:grpSpPr>
        <p:sp>
          <p:nvSpPr>
            <p:cNvPr id="22" name="Freeform 22"/>
            <p:cNvSpPr/>
            <p:nvPr/>
          </p:nvSpPr>
          <p:spPr>
            <a:xfrm>
              <a:off x="0" y="0"/>
              <a:ext cx="1104806" cy="144190"/>
            </a:xfrm>
            <a:custGeom>
              <a:avLst/>
              <a:gdLst/>
              <a:ahLst/>
              <a:cxnLst/>
              <a:rect l="l" t="t" r="r" b="b"/>
              <a:pathLst>
                <a:path w="1104806" h="144190">
                  <a:moveTo>
                    <a:pt x="29474" y="0"/>
                  </a:moveTo>
                  <a:lnTo>
                    <a:pt x="1075332" y="0"/>
                  </a:lnTo>
                  <a:cubicBezTo>
                    <a:pt x="1083149" y="0"/>
                    <a:pt x="1090646" y="3105"/>
                    <a:pt x="1096174" y="8633"/>
                  </a:cubicBezTo>
                  <a:cubicBezTo>
                    <a:pt x="1101701" y="14160"/>
                    <a:pt x="1104806" y="21657"/>
                    <a:pt x="1104806" y="29474"/>
                  </a:cubicBezTo>
                  <a:lnTo>
                    <a:pt x="1104806" y="114716"/>
                  </a:lnTo>
                  <a:cubicBezTo>
                    <a:pt x="1104806" y="122533"/>
                    <a:pt x="1101701" y="130030"/>
                    <a:pt x="1096174" y="135557"/>
                  </a:cubicBezTo>
                  <a:cubicBezTo>
                    <a:pt x="1090646" y="141085"/>
                    <a:pt x="1083149" y="144190"/>
                    <a:pt x="1075332" y="144190"/>
                  </a:cubicBezTo>
                  <a:lnTo>
                    <a:pt x="29474" y="144190"/>
                  </a:lnTo>
                  <a:cubicBezTo>
                    <a:pt x="21657" y="144190"/>
                    <a:pt x="14160" y="141085"/>
                    <a:pt x="8633" y="135557"/>
                  </a:cubicBezTo>
                  <a:cubicBezTo>
                    <a:pt x="3105" y="130030"/>
                    <a:pt x="0" y="122533"/>
                    <a:pt x="0" y="114716"/>
                  </a:cubicBezTo>
                  <a:lnTo>
                    <a:pt x="0" y="29474"/>
                  </a:lnTo>
                  <a:cubicBezTo>
                    <a:pt x="0" y="21657"/>
                    <a:pt x="3105" y="14160"/>
                    <a:pt x="8633" y="8633"/>
                  </a:cubicBezTo>
                  <a:cubicBezTo>
                    <a:pt x="14160" y="3105"/>
                    <a:pt x="21657" y="0"/>
                    <a:pt x="29474" y="0"/>
                  </a:cubicBezTo>
                  <a:close/>
                </a:path>
              </a:pathLst>
            </a:custGeom>
            <a:solidFill>
              <a:srgbClr val="FFEFD4"/>
            </a:solidFill>
          </p:spPr>
          <p:txBody>
            <a:bodyPr/>
            <a:lstStyle/>
            <a:p>
              <a:r>
                <a:rPr lang="en-IN" sz="3600">
                  <a:latin typeface="ITC Franklin Gothic LT" panose="020B0604020202020204" charset="0"/>
                </a:rPr>
                <a:t>      Research Project</a:t>
              </a:r>
            </a:p>
          </p:txBody>
        </p:sp>
        <p:sp>
          <p:nvSpPr>
            <p:cNvPr id="23" name="TextBox 23"/>
            <p:cNvSpPr txBox="1"/>
            <p:nvPr/>
          </p:nvSpPr>
          <p:spPr>
            <a:xfrm>
              <a:off x="0" y="-47625"/>
              <a:ext cx="1104806" cy="191815"/>
            </a:xfrm>
            <a:prstGeom prst="rect">
              <a:avLst/>
            </a:prstGeom>
          </p:spPr>
          <p:txBody>
            <a:bodyPr lIns="50800" tIns="50800" rIns="50800" bIns="50800" rtlCol="0" anchor="ctr"/>
            <a:lstStyle/>
            <a:p>
              <a:pPr algn="r">
                <a:lnSpc>
                  <a:spcPts val="2659"/>
                </a:lnSpc>
              </a:pPr>
              <a:endParaRPr/>
            </a:p>
          </p:txBody>
        </p:sp>
      </p:grpSp>
      <p:sp>
        <p:nvSpPr>
          <p:cNvPr id="24" name="Freeform 24"/>
          <p:cNvSpPr/>
          <p:nvPr/>
        </p:nvSpPr>
        <p:spPr>
          <a:xfrm rot="1627902">
            <a:off x="6335051" y="2326537"/>
            <a:ext cx="2254244" cy="971374"/>
          </a:xfrm>
          <a:custGeom>
            <a:avLst/>
            <a:gdLst/>
            <a:ahLst/>
            <a:cxnLst/>
            <a:rect l="l" t="t" r="r" b="b"/>
            <a:pathLst>
              <a:path w="2254244" h="971374">
                <a:moveTo>
                  <a:pt x="0" y="0"/>
                </a:moveTo>
                <a:lnTo>
                  <a:pt x="2254244" y="0"/>
                </a:lnTo>
                <a:lnTo>
                  <a:pt x="2254244" y="971375"/>
                </a:lnTo>
                <a:lnTo>
                  <a:pt x="0" y="97137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5" name="Freeform 25"/>
          <p:cNvSpPr/>
          <p:nvPr/>
        </p:nvSpPr>
        <p:spPr>
          <a:xfrm rot="1627902" flipV="1">
            <a:off x="747928" y="7642829"/>
            <a:ext cx="2254244" cy="971374"/>
          </a:xfrm>
          <a:custGeom>
            <a:avLst/>
            <a:gdLst/>
            <a:ahLst/>
            <a:cxnLst/>
            <a:rect l="l" t="t" r="r" b="b"/>
            <a:pathLst>
              <a:path w="2254244" h="971374">
                <a:moveTo>
                  <a:pt x="0" y="971374"/>
                </a:moveTo>
                <a:lnTo>
                  <a:pt x="2254244" y="971374"/>
                </a:lnTo>
                <a:lnTo>
                  <a:pt x="2254244" y="0"/>
                </a:lnTo>
                <a:lnTo>
                  <a:pt x="0" y="0"/>
                </a:lnTo>
                <a:lnTo>
                  <a:pt x="0" y="971374"/>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6" name="Freeform 26"/>
          <p:cNvSpPr/>
          <p:nvPr/>
        </p:nvSpPr>
        <p:spPr>
          <a:xfrm>
            <a:off x="824566" y="6133262"/>
            <a:ext cx="632667" cy="675664"/>
          </a:xfrm>
          <a:custGeom>
            <a:avLst/>
            <a:gdLst/>
            <a:ahLst/>
            <a:cxnLst/>
            <a:rect l="l" t="t" r="r" b="b"/>
            <a:pathLst>
              <a:path w="632667" h="675664">
                <a:moveTo>
                  <a:pt x="0" y="0"/>
                </a:moveTo>
                <a:lnTo>
                  <a:pt x="632667" y="0"/>
                </a:lnTo>
                <a:lnTo>
                  <a:pt x="632667" y="675664"/>
                </a:lnTo>
                <a:lnTo>
                  <a:pt x="0" y="67566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31" name="Freeform 31"/>
          <p:cNvSpPr/>
          <p:nvPr/>
        </p:nvSpPr>
        <p:spPr>
          <a:xfrm flipH="1">
            <a:off x="8882269" y="5600700"/>
            <a:ext cx="1320252" cy="1409978"/>
          </a:xfrm>
          <a:custGeom>
            <a:avLst/>
            <a:gdLst/>
            <a:ahLst/>
            <a:cxnLst/>
            <a:rect l="l" t="t" r="r" b="b"/>
            <a:pathLst>
              <a:path w="1320252" h="1409978">
                <a:moveTo>
                  <a:pt x="1320252" y="0"/>
                </a:moveTo>
                <a:lnTo>
                  <a:pt x="0" y="0"/>
                </a:lnTo>
                <a:lnTo>
                  <a:pt x="0" y="1409978"/>
                </a:lnTo>
                <a:lnTo>
                  <a:pt x="1320252" y="1409978"/>
                </a:lnTo>
                <a:lnTo>
                  <a:pt x="1320252"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35" name="TextBox 34">
            <a:extLst>
              <a:ext uri="{FF2B5EF4-FFF2-40B4-BE49-F238E27FC236}">
                <a16:creationId xmlns:a16="http://schemas.microsoft.com/office/drawing/2014/main" id="{006DDAE9-50BB-625D-0FE8-D92455B596EE}"/>
              </a:ext>
            </a:extLst>
          </p:cNvPr>
          <p:cNvSpPr txBox="1"/>
          <p:nvPr/>
        </p:nvSpPr>
        <p:spPr>
          <a:xfrm>
            <a:off x="10696166" y="3727936"/>
            <a:ext cx="7515561" cy="3785652"/>
          </a:xfrm>
          <a:prstGeom prst="rect">
            <a:avLst/>
          </a:prstGeom>
          <a:noFill/>
        </p:spPr>
        <p:txBody>
          <a:bodyPr wrap="square" rtlCol="0">
            <a:spAutoFit/>
          </a:bodyPr>
          <a:lstStyle/>
          <a:p>
            <a:r>
              <a:rPr lang="en-IN" sz="6000" b="1">
                <a:solidFill>
                  <a:srgbClr val="996600"/>
                </a:solidFill>
                <a:effectLst/>
                <a:latin typeface="League Gothic" panose="020B0604020202020204" charset="0"/>
                <a:ea typeface="Calibri" panose="020F0502020204030204" pitchFamily="34" charset="0"/>
              </a:rPr>
              <a:t>A STUDY ON QUALITY OF WORKLIFE BALANCE AND OCCUPATIONAL STRESS AMONG EMPLOYEES</a:t>
            </a:r>
            <a:endParaRPr lang="en-IN" sz="6000">
              <a:solidFill>
                <a:srgbClr val="996600"/>
              </a:solidFill>
              <a:latin typeface="League Gothic" panose="020B0604020202020204" charset="0"/>
            </a:endParaRPr>
          </a:p>
        </p:txBody>
      </p:sp>
      <p:sp>
        <p:nvSpPr>
          <p:cNvPr id="36" name="TextBox 35">
            <a:extLst>
              <a:ext uri="{FF2B5EF4-FFF2-40B4-BE49-F238E27FC236}">
                <a16:creationId xmlns:a16="http://schemas.microsoft.com/office/drawing/2014/main" id="{B56ABA89-B040-4475-4372-A602150D677D}"/>
              </a:ext>
            </a:extLst>
          </p:cNvPr>
          <p:cNvSpPr txBox="1"/>
          <p:nvPr/>
        </p:nvSpPr>
        <p:spPr>
          <a:xfrm>
            <a:off x="-762614" y="9253409"/>
            <a:ext cx="11212213" cy="1013739"/>
          </a:xfrm>
          <a:prstGeom prst="rect">
            <a:avLst/>
          </a:prstGeom>
          <a:noFill/>
        </p:spPr>
        <p:txBody>
          <a:bodyPr wrap="square" rtlCol="0">
            <a:spAutoFit/>
          </a:bodyPr>
          <a:lstStyle/>
          <a:p>
            <a:pPr algn="ctr">
              <a:lnSpc>
                <a:spcPts val="3499"/>
              </a:lnSpc>
              <a:spcBef>
                <a:spcPct val="0"/>
              </a:spcBef>
            </a:pPr>
            <a:r>
              <a:rPr lang="en-US" sz="3200">
                <a:solidFill>
                  <a:srgbClr val="1E302C"/>
                </a:solidFill>
                <a:latin typeface="ITC Franklin Gothic LT" panose="020B0604020202020204" charset="0"/>
                <a:cs typeface="Times New Roman" panose="02020603050405020304" pitchFamily="18" charset="0"/>
              </a:rPr>
              <a:t>Kodukula Sravani  – 121321044033</a:t>
            </a:r>
          </a:p>
          <a:p>
            <a:pPr algn="ctr">
              <a:lnSpc>
                <a:spcPts val="3499"/>
              </a:lnSpc>
              <a:spcBef>
                <a:spcPct val="0"/>
              </a:spcBef>
            </a:pPr>
            <a:r>
              <a:rPr lang="en-US" sz="3200">
                <a:solidFill>
                  <a:srgbClr val="1E302C"/>
                </a:solidFill>
                <a:latin typeface="ITC Franklin Gothic LT" panose="020B0604020202020204" charset="0"/>
                <a:cs typeface="Times New Roman" panose="02020603050405020304" pitchFamily="18" charset="0"/>
              </a:rPr>
              <a:t>Ravalkol Pravalika -- 121321044050</a:t>
            </a:r>
            <a:endParaRPr lang="en-US" sz="2800">
              <a:solidFill>
                <a:srgbClr val="1E302C"/>
              </a:solidFill>
              <a:latin typeface="ITC Franklin Gothic LT" panose="020B0604020202020204" charset="0"/>
              <a:cs typeface="Times New Roman" panose="02020603050405020304" pitchFamily="18" charset="0"/>
            </a:endParaRPr>
          </a:p>
        </p:txBody>
      </p:sp>
    </p:spTree>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7EF"/>
        </a:solidFill>
        <a:effectLst/>
      </p:bgPr>
    </p:bg>
    <p:spTree>
      <p:nvGrpSpPr>
        <p:cNvPr id="1" name=""/>
        <p:cNvGrpSpPr/>
        <p:nvPr/>
      </p:nvGrpSpPr>
      <p:grpSpPr>
        <a:xfrm>
          <a:off x="0" y="0"/>
          <a:ext cx="0" cy="0"/>
          <a:chOff x="0" y="0"/>
          <a:chExt cx="0" cy="0"/>
        </a:xfrm>
      </p:grpSpPr>
      <p:grpSp>
        <p:nvGrpSpPr>
          <p:cNvPr id="2" name="Group 2"/>
          <p:cNvGrpSpPr/>
          <p:nvPr/>
        </p:nvGrpSpPr>
        <p:grpSpPr>
          <a:xfrm>
            <a:off x="8838729" y="2062005"/>
            <a:ext cx="5019419" cy="5019419"/>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DAFA8">
                <a:alpha val="40000"/>
              </a:srgbClr>
            </a:solidFill>
          </p:spPr>
        </p:sp>
        <p:sp>
          <p:nvSpPr>
            <p:cNvPr id="4" name="TextBox 4"/>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3870532" y="4788403"/>
            <a:ext cx="3388768" cy="3388768"/>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DAFA8">
                <a:alpha val="40000"/>
              </a:srgbClr>
            </a:solidFill>
          </p:spPr>
        </p:sp>
        <p:sp>
          <p:nvSpPr>
            <p:cNvPr id="7" name="TextBox 7"/>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14324675" y="2248316"/>
            <a:ext cx="2480481" cy="2480481"/>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6A160">
                <a:alpha val="40000"/>
              </a:srgbClr>
            </a:solidFill>
          </p:spPr>
        </p:sp>
        <p:sp>
          <p:nvSpPr>
            <p:cNvPr id="10" name="TextBox 10"/>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10307454" y="6571116"/>
            <a:ext cx="2480481" cy="2480481"/>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6A160">
                <a:alpha val="40000"/>
              </a:srgbClr>
            </a:solidFill>
          </p:spPr>
        </p:sp>
        <p:sp>
          <p:nvSpPr>
            <p:cNvPr id="13" name="TextBox 13"/>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14" name="Freeform 14"/>
          <p:cNvSpPr/>
          <p:nvPr/>
        </p:nvSpPr>
        <p:spPr>
          <a:xfrm>
            <a:off x="11695504" y="1609717"/>
            <a:ext cx="5597343" cy="7382587"/>
          </a:xfrm>
          <a:custGeom>
            <a:avLst/>
            <a:gdLst/>
            <a:ahLst/>
            <a:cxnLst/>
            <a:rect l="l" t="t" r="r" b="b"/>
            <a:pathLst>
              <a:path w="5597343" h="7382587">
                <a:moveTo>
                  <a:pt x="0" y="0"/>
                </a:moveTo>
                <a:lnTo>
                  <a:pt x="5597343" y="0"/>
                </a:lnTo>
                <a:lnTo>
                  <a:pt x="5597343" y="7382586"/>
                </a:lnTo>
                <a:lnTo>
                  <a:pt x="0" y="738258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5" name="Group 15"/>
          <p:cNvGrpSpPr/>
          <p:nvPr/>
        </p:nvGrpSpPr>
        <p:grpSpPr>
          <a:xfrm>
            <a:off x="2068878" y="5186426"/>
            <a:ext cx="441907" cy="441907"/>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F6234"/>
            </a:solidFill>
          </p:spPr>
        </p:sp>
        <p:sp>
          <p:nvSpPr>
            <p:cNvPr id="17" name="TextBox 17"/>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a:off x="2068878" y="5696734"/>
            <a:ext cx="441907" cy="441907"/>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F6234"/>
            </a:solidFill>
          </p:spPr>
        </p:sp>
        <p:sp>
          <p:nvSpPr>
            <p:cNvPr id="20" name="TextBox 20"/>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21" name="Group 21"/>
          <p:cNvGrpSpPr/>
          <p:nvPr/>
        </p:nvGrpSpPr>
        <p:grpSpPr>
          <a:xfrm>
            <a:off x="2068878" y="6207042"/>
            <a:ext cx="441907" cy="441907"/>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F6234"/>
            </a:solidFill>
          </p:spPr>
        </p:sp>
        <p:sp>
          <p:nvSpPr>
            <p:cNvPr id="23" name="TextBox 23"/>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24" name="Group 24"/>
          <p:cNvGrpSpPr/>
          <p:nvPr/>
        </p:nvGrpSpPr>
        <p:grpSpPr>
          <a:xfrm>
            <a:off x="2068878" y="6717349"/>
            <a:ext cx="441907" cy="441907"/>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F6234"/>
            </a:solidFill>
          </p:spPr>
        </p:sp>
        <p:sp>
          <p:nvSpPr>
            <p:cNvPr id="26" name="TextBox 26"/>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27" name="Group 27"/>
          <p:cNvGrpSpPr/>
          <p:nvPr/>
        </p:nvGrpSpPr>
        <p:grpSpPr>
          <a:xfrm>
            <a:off x="2068878" y="7227657"/>
            <a:ext cx="441907" cy="441907"/>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F6234"/>
            </a:solidFill>
          </p:spPr>
        </p:sp>
        <p:sp>
          <p:nvSpPr>
            <p:cNvPr id="29" name="TextBox 29"/>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30" name="Group 30"/>
          <p:cNvGrpSpPr/>
          <p:nvPr/>
        </p:nvGrpSpPr>
        <p:grpSpPr>
          <a:xfrm>
            <a:off x="2068878" y="7735265"/>
            <a:ext cx="441907" cy="441907"/>
            <a:chOff x="0" y="0"/>
            <a:chExt cx="812800" cy="812800"/>
          </a:xfrm>
        </p:grpSpPr>
        <p:sp>
          <p:nvSpPr>
            <p:cNvPr id="31" name="Freeform 3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F6234"/>
            </a:solidFill>
          </p:spPr>
        </p:sp>
        <p:sp>
          <p:nvSpPr>
            <p:cNvPr id="32" name="TextBox 32"/>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33" name="Group 33"/>
          <p:cNvGrpSpPr/>
          <p:nvPr/>
        </p:nvGrpSpPr>
        <p:grpSpPr>
          <a:xfrm>
            <a:off x="2068878" y="8242872"/>
            <a:ext cx="441907" cy="441907"/>
            <a:chOff x="0" y="0"/>
            <a:chExt cx="812800" cy="812800"/>
          </a:xfrm>
        </p:grpSpPr>
        <p:sp>
          <p:nvSpPr>
            <p:cNvPr id="34" name="Freeform 3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F6234"/>
            </a:solidFill>
          </p:spPr>
        </p:sp>
        <p:sp>
          <p:nvSpPr>
            <p:cNvPr id="35" name="TextBox 35"/>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36" name="Group 36"/>
          <p:cNvGrpSpPr/>
          <p:nvPr/>
        </p:nvGrpSpPr>
        <p:grpSpPr>
          <a:xfrm>
            <a:off x="-557510" y="9397109"/>
            <a:ext cx="19403020" cy="1779782"/>
            <a:chOff x="0" y="0"/>
            <a:chExt cx="5110260" cy="468749"/>
          </a:xfrm>
        </p:grpSpPr>
        <p:sp>
          <p:nvSpPr>
            <p:cNvPr id="37" name="Freeform 37"/>
            <p:cNvSpPr/>
            <p:nvPr/>
          </p:nvSpPr>
          <p:spPr>
            <a:xfrm>
              <a:off x="0" y="0"/>
              <a:ext cx="5110261" cy="468749"/>
            </a:xfrm>
            <a:custGeom>
              <a:avLst/>
              <a:gdLst/>
              <a:ahLst/>
              <a:cxnLst/>
              <a:rect l="l" t="t" r="r" b="b"/>
              <a:pathLst>
                <a:path w="5110261" h="468749">
                  <a:moveTo>
                    <a:pt x="0" y="0"/>
                  </a:moveTo>
                  <a:lnTo>
                    <a:pt x="5110261" y="0"/>
                  </a:lnTo>
                  <a:lnTo>
                    <a:pt x="5110261" y="468749"/>
                  </a:lnTo>
                  <a:lnTo>
                    <a:pt x="0" y="468749"/>
                  </a:lnTo>
                  <a:close/>
                </a:path>
              </a:pathLst>
            </a:custGeom>
            <a:solidFill>
              <a:srgbClr val="8DAFA8"/>
            </a:solidFill>
          </p:spPr>
        </p:sp>
        <p:sp>
          <p:nvSpPr>
            <p:cNvPr id="38" name="TextBox 38"/>
            <p:cNvSpPr txBox="1"/>
            <p:nvPr/>
          </p:nvSpPr>
          <p:spPr>
            <a:xfrm>
              <a:off x="0" y="-47625"/>
              <a:ext cx="5110260" cy="516374"/>
            </a:xfrm>
            <a:prstGeom prst="rect">
              <a:avLst/>
            </a:prstGeom>
          </p:spPr>
          <p:txBody>
            <a:bodyPr lIns="50800" tIns="50800" rIns="50800" bIns="50800" rtlCol="0" anchor="ctr"/>
            <a:lstStyle/>
            <a:p>
              <a:pPr algn="ctr">
                <a:lnSpc>
                  <a:spcPts val="2659"/>
                </a:lnSpc>
              </a:pPr>
              <a:endParaRPr/>
            </a:p>
          </p:txBody>
        </p:sp>
      </p:grpSp>
      <p:sp>
        <p:nvSpPr>
          <p:cNvPr id="39" name="TextBox 39"/>
          <p:cNvSpPr txBox="1"/>
          <p:nvPr/>
        </p:nvSpPr>
        <p:spPr>
          <a:xfrm>
            <a:off x="1733548" y="-161909"/>
            <a:ext cx="8238576" cy="2956130"/>
          </a:xfrm>
          <a:prstGeom prst="rect">
            <a:avLst/>
          </a:prstGeom>
        </p:spPr>
        <p:txBody>
          <a:bodyPr lIns="0" tIns="0" rIns="0" bIns="0" rtlCol="0" anchor="t">
            <a:spAutoFit/>
          </a:bodyPr>
          <a:lstStyle/>
          <a:p>
            <a:pPr>
              <a:lnSpc>
                <a:spcPts val="25430"/>
              </a:lnSpc>
              <a:spcBef>
                <a:spcPct val="0"/>
              </a:spcBef>
            </a:pPr>
            <a:r>
              <a:rPr lang="en-US" sz="15100">
                <a:solidFill>
                  <a:srgbClr val="8F6234"/>
                </a:solidFill>
                <a:latin typeface="League Gothic"/>
              </a:rPr>
              <a:t>Contents</a:t>
            </a:r>
          </a:p>
        </p:txBody>
      </p:sp>
      <p:sp>
        <p:nvSpPr>
          <p:cNvPr id="42" name="TextBox 42"/>
          <p:cNvSpPr txBox="1"/>
          <p:nvPr/>
        </p:nvSpPr>
        <p:spPr>
          <a:xfrm>
            <a:off x="2104292" y="5268185"/>
            <a:ext cx="371078" cy="262508"/>
          </a:xfrm>
          <a:prstGeom prst="rect">
            <a:avLst/>
          </a:prstGeom>
        </p:spPr>
        <p:txBody>
          <a:bodyPr lIns="0" tIns="0" rIns="0" bIns="0" rtlCol="0" anchor="t">
            <a:spAutoFit/>
          </a:bodyPr>
          <a:lstStyle/>
          <a:p>
            <a:pPr algn="ctr">
              <a:lnSpc>
                <a:spcPts val="2157"/>
              </a:lnSpc>
              <a:spcBef>
                <a:spcPct val="0"/>
              </a:spcBef>
            </a:pPr>
            <a:r>
              <a:rPr lang="en-US" sz="1540">
                <a:solidFill>
                  <a:srgbClr val="FFF7EF"/>
                </a:solidFill>
                <a:latin typeface="ITC Franklin Gothic LT"/>
              </a:rPr>
              <a:t>5</a:t>
            </a:r>
          </a:p>
        </p:txBody>
      </p:sp>
      <p:sp>
        <p:nvSpPr>
          <p:cNvPr id="43" name="TextBox 43"/>
          <p:cNvSpPr txBox="1"/>
          <p:nvPr/>
        </p:nvSpPr>
        <p:spPr>
          <a:xfrm>
            <a:off x="2104292" y="5765704"/>
            <a:ext cx="371078" cy="262508"/>
          </a:xfrm>
          <a:prstGeom prst="rect">
            <a:avLst/>
          </a:prstGeom>
        </p:spPr>
        <p:txBody>
          <a:bodyPr wrap="square" lIns="0" tIns="0" rIns="0" bIns="0" rtlCol="0" anchor="t">
            <a:spAutoFit/>
          </a:bodyPr>
          <a:lstStyle/>
          <a:p>
            <a:pPr algn="ctr">
              <a:lnSpc>
                <a:spcPts val="2157"/>
              </a:lnSpc>
              <a:spcBef>
                <a:spcPct val="0"/>
              </a:spcBef>
            </a:pPr>
            <a:r>
              <a:rPr lang="en-US" sz="1540">
                <a:solidFill>
                  <a:srgbClr val="FFF7EF"/>
                </a:solidFill>
                <a:latin typeface="ITC Franklin Gothic LT"/>
              </a:rPr>
              <a:t>6</a:t>
            </a:r>
          </a:p>
        </p:txBody>
      </p:sp>
      <p:sp>
        <p:nvSpPr>
          <p:cNvPr id="44" name="TextBox 44"/>
          <p:cNvSpPr txBox="1"/>
          <p:nvPr/>
        </p:nvSpPr>
        <p:spPr>
          <a:xfrm>
            <a:off x="2104292" y="6276012"/>
            <a:ext cx="371078" cy="262508"/>
          </a:xfrm>
          <a:prstGeom prst="rect">
            <a:avLst/>
          </a:prstGeom>
        </p:spPr>
        <p:txBody>
          <a:bodyPr lIns="0" tIns="0" rIns="0" bIns="0" rtlCol="0" anchor="t">
            <a:spAutoFit/>
          </a:bodyPr>
          <a:lstStyle/>
          <a:p>
            <a:pPr algn="ctr">
              <a:lnSpc>
                <a:spcPts val="2157"/>
              </a:lnSpc>
              <a:spcBef>
                <a:spcPct val="0"/>
              </a:spcBef>
            </a:pPr>
            <a:r>
              <a:rPr lang="en-US" sz="1540">
                <a:solidFill>
                  <a:srgbClr val="FFF7EF"/>
                </a:solidFill>
                <a:latin typeface="ITC Franklin Gothic LT"/>
              </a:rPr>
              <a:t>7</a:t>
            </a:r>
          </a:p>
        </p:txBody>
      </p:sp>
      <p:sp>
        <p:nvSpPr>
          <p:cNvPr id="45" name="TextBox 45"/>
          <p:cNvSpPr txBox="1"/>
          <p:nvPr/>
        </p:nvSpPr>
        <p:spPr>
          <a:xfrm>
            <a:off x="2104292" y="6786320"/>
            <a:ext cx="371078" cy="262508"/>
          </a:xfrm>
          <a:prstGeom prst="rect">
            <a:avLst/>
          </a:prstGeom>
        </p:spPr>
        <p:txBody>
          <a:bodyPr lIns="0" tIns="0" rIns="0" bIns="0" rtlCol="0" anchor="t">
            <a:spAutoFit/>
          </a:bodyPr>
          <a:lstStyle/>
          <a:p>
            <a:pPr algn="ctr">
              <a:lnSpc>
                <a:spcPts val="2157"/>
              </a:lnSpc>
              <a:spcBef>
                <a:spcPct val="0"/>
              </a:spcBef>
            </a:pPr>
            <a:r>
              <a:rPr lang="en-US" sz="1540">
                <a:solidFill>
                  <a:srgbClr val="FFF7EF"/>
                </a:solidFill>
                <a:latin typeface="ITC Franklin Gothic LT"/>
              </a:rPr>
              <a:t>8</a:t>
            </a:r>
          </a:p>
        </p:txBody>
      </p:sp>
      <p:sp>
        <p:nvSpPr>
          <p:cNvPr id="46" name="TextBox 46"/>
          <p:cNvSpPr txBox="1"/>
          <p:nvPr/>
        </p:nvSpPr>
        <p:spPr>
          <a:xfrm>
            <a:off x="2104292" y="7296628"/>
            <a:ext cx="371078" cy="262508"/>
          </a:xfrm>
          <a:prstGeom prst="rect">
            <a:avLst/>
          </a:prstGeom>
        </p:spPr>
        <p:txBody>
          <a:bodyPr lIns="0" tIns="0" rIns="0" bIns="0" rtlCol="0" anchor="t">
            <a:spAutoFit/>
          </a:bodyPr>
          <a:lstStyle/>
          <a:p>
            <a:pPr algn="ctr">
              <a:lnSpc>
                <a:spcPts val="2157"/>
              </a:lnSpc>
              <a:spcBef>
                <a:spcPct val="0"/>
              </a:spcBef>
            </a:pPr>
            <a:r>
              <a:rPr lang="en-US" sz="1540">
                <a:solidFill>
                  <a:srgbClr val="FFF7EF"/>
                </a:solidFill>
                <a:latin typeface="ITC Franklin Gothic LT"/>
              </a:rPr>
              <a:t>9</a:t>
            </a:r>
          </a:p>
        </p:txBody>
      </p:sp>
      <p:sp>
        <p:nvSpPr>
          <p:cNvPr id="47" name="TextBox 47"/>
          <p:cNvSpPr txBox="1"/>
          <p:nvPr/>
        </p:nvSpPr>
        <p:spPr>
          <a:xfrm>
            <a:off x="2104292" y="7806936"/>
            <a:ext cx="371078" cy="262508"/>
          </a:xfrm>
          <a:prstGeom prst="rect">
            <a:avLst/>
          </a:prstGeom>
        </p:spPr>
        <p:txBody>
          <a:bodyPr lIns="0" tIns="0" rIns="0" bIns="0" rtlCol="0" anchor="t">
            <a:spAutoFit/>
          </a:bodyPr>
          <a:lstStyle/>
          <a:p>
            <a:pPr algn="ctr">
              <a:lnSpc>
                <a:spcPts val="2157"/>
              </a:lnSpc>
              <a:spcBef>
                <a:spcPct val="0"/>
              </a:spcBef>
            </a:pPr>
            <a:r>
              <a:rPr lang="en-US" sz="1540">
                <a:solidFill>
                  <a:srgbClr val="FFF7EF"/>
                </a:solidFill>
                <a:latin typeface="ITC Franklin Gothic LT"/>
              </a:rPr>
              <a:t>10</a:t>
            </a:r>
          </a:p>
        </p:txBody>
      </p:sp>
      <p:sp>
        <p:nvSpPr>
          <p:cNvPr id="48" name="TextBox 48"/>
          <p:cNvSpPr txBox="1"/>
          <p:nvPr/>
        </p:nvSpPr>
        <p:spPr>
          <a:xfrm>
            <a:off x="2104292" y="8317243"/>
            <a:ext cx="371078" cy="262508"/>
          </a:xfrm>
          <a:prstGeom prst="rect">
            <a:avLst/>
          </a:prstGeom>
        </p:spPr>
        <p:txBody>
          <a:bodyPr lIns="0" tIns="0" rIns="0" bIns="0" rtlCol="0" anchor="t">
            <a:spAutoFit/>
          </a:bodyPr>
          <a:lstStyle/>
          <a:p>
            <a:pPr algn="ctr">
              <a:lnSpc>
                <a:spcPts val="2157"/>
              </a:lnSpc>
              <a:spcBef>
                <a:spcPct val="0"/>
              </a:spcBef>
            </a:pPr>
            <a:r>
              <a:rPr lang="en-US" sz="1540">
                <a:solidFill>
                  <a:srgbClr val="FFF7EF"/>
                </a:solidFill>
                <a:latin typeface="ITC Franklin Gothic LT"/>
              </a:rPr>
              <a:t>11</a:t>
            </a:r>
          </a:p>
        </p:txBody>
      </p:sp>
      <p:sp>
        <p:nvSpPr>
          <p:cNvPr id="49" name="TextBox 49"/>
          <p:cNvSpPr txBox="1"/>
          <p:nvPr/>
        </p:nvSpPr>
        <p:spPr>
          <a:xfrm>
            <a:off x="2676386" y="3394013"/>
            <a:ext cx="6887830" cy="455317"/>
          </a:xfrm>
          <a:prstGeom prst="rect">
            <a:avLst/>
          </a:prstGeom>
        </p:spPr>
        <p:txBody>
          <a:bodyPr lIns="0" tIns="0" rIns="0" bIns="0" rtlCol="0" anchor="t">
            <a:spAutoFit/>
          </a:bodyPr>
          <a:lstStyle/>
          <a:p>
            <a:pPr>
              <a:lnSpc>
                <a:spcPts val="3806"/>
              </a:lnSpc>
              <a:spcBef>
                <a:spcPct val="0"/>
              </a:spcBef>
            </a:pPr>
            <a:r>
              <a:rPr lang="en-US" sz="2718">
                <a:solidFill>
                  <a:srgbClr val="1E302C"/>
                </a:solidFill>
                <a:latin typeface="ITC Franklin Gothic LT"/>
              </a:rPr>
              <a:t>Introduction</a:t>
            </a:r>
          </a:p>
        </p:txBody>
      </p:sp>
      <p:sp>
        <p:nvSpPr>
          <p:cNvPr id="50" name="TextBox 50"/>
          <p:cNvSpPr txBox="1"/>
          <p:nvPr/>
        </p:nvSpPr>
        <p:spPr>
          <a:xfrm>
            <a:off x="2660225" y="4018612"/>
            <a:ext cx="6887830" cy="455317"/>
          </a:xfrm>
          <a:prstGeom prst="rect">
            <a:avLst/>
          </a:prstGeom>
        </p:spPr>
        <p:txBody>
          <a:bodyPr lIns="0" tIns="0" rIns="0" bIns="0" rtlCol="0" anchor="t">
            <a:spAutoFit/>
          </a:bodyPr>
          <a:lstStyle/>
          <a:p>
            <a:pPr>
              <a:lnSpc>
                <a:spcPts val="3806"/>
              </a:lnSpc>
              <a:spcBef>
                <a:spcPct val="0"/>
              </a:spcBef>
            </a:pPr>
            <a:r>
              <a:rPr lang="en-US" sz="2718">
                <a:solidFill>
                  <a:srgbClr val="1E302C"/>
                </a:solidFill>
                <a:latin typeface="ITC Franklin Gothic LT"/>
              </a:rPr>
              <a:t>Objectives</a:t>
            </a:r>
          </a:p>
        </p:txBody>
      </p:sp>
      <p:sp>
        <p:nvSpPr>
          <p:cNvPr id="51" name="TextBox 51"/>
          <p:cNvSpPr txBox="1"/>
          <p:nvPr/>
        </p:nvSpPr>
        <p:spPr>
          <a:xfrm>
            <a:off x="2681552" y="4579523"/>
            <a:ext cx="6887830" cy="455317"/>
          </a:xfrm>
          <a:prstGeom prst="rect">
            <a:avLst/>
          </a:prstGeom>
        </p:spPr>
        <p:txBody>
          <a:bodyPr lIns="0" tIns="0" rIns="0" bIns="0" rtlCol="0" anchor="t">
            <a:spAutoFit/>
          </a:bodyPr>
          <a:lstStyle/>
          <a:p>
            <a:pPr>
              <a:lnSpc>
                <a:spcPts val="3806"/>
              </a:lnSpc>
              <a:spcBef>
                <a:spcPct val="0"/>
              </a:spcBef>
            </a:pPr>
            <a:r>
              <a:rPr lang="en-US" sz="2718">
                <a:solidFill>
                  <a:srgbClr val="1E302C"/>
                </a:solidFill>
                <a:latin typeface="ITC Franklin Gothic LT"/>
              </a:rPr>
              <a:t>Methodology</a:t>
            </a:r>
          </a:p>
        </p:txBody>
      </p:sp>
      <p:sp>
        <p:nvSpPr>
          <p:cNvPr id="52" name="TextBox 52"/>
          <p:cNvSpPr txBox="1"/>
          <p:nvPr/>
        </p:nvSpPr>
        <p:spPr>
          <a:xfrm>
            <a:off x="2652560" y="5136520"/>
            <a:ext cx="11045204" cy="455317"/>
          </a:xfrm>
          <a:prstGeom prst="rect">
            <a:avLst/>
          </a:prstGeom>
        </p:spPr>
        <p:txBody>
          <a:bodyPr wrap="square" lIns="0" tIns="0" rIns="0" bIns="0" rtlCol="0" anchor="t">
            <a:spAutoFit/>
          </a:bodyPr>
          <a:lstStyle/>
          <a:p>
            <a:pPr>
              <a:lnSpc>
                <a:spcPts val="3806"/>
              </a:lnSpc>
              <a:spcBef>
                <a:spcPct val="0"/>
              </a:spcBef>
            </a:pPr>
            <a:r>
              <a:rPr lang="en-US" sz="2718">
                <a:solidFill>
                  <a:srgbClr val="1E302C"/>
                </a:solidFill>
                <a:latin typeface="ITC Franklin Gothic LT"/>
              </a:rPr>
              <a:t>Statistical Analysis Part 1: Frequency Tables, Pie Charts, Bar Charts</a:t>
            </a:r>
          </a:p>
        </p:txBody>
      </p:sp>
      <p:sp>
        <p:nvSpPr>
          <p:cNvPr id="53" name="TextBox 53"/>
          <p:cNvSpPr txBox="1"/>
          <p:nvPr/>
        </p:nvSpPr>
        <p:spPr>
          <a:xfrm>
            <a:off x="2666373" y="5658885"/>
            <a:ext cx="10618125" cy="455317"/>
          </a:xfrm>
          <a:prstGeom prst="rect">
            <a:avLst/>
          </a:prstGeom>
        </p:spPr>
        <p:txBody>
          <a:bodyPr wrap="square" lIns="0" tIns="0" rIns="0" bIns="0" rtlCol="0" anchor="t">
            <a:spAutoFit/>
          </a:bodyPr>
          <a:lstStyle/>
          <a:p>
            <a:pPr>
              <a:lnSpc>
                <a:spcPts val="3806"/>
              </a:lnSpc>
              <a:spcBef>
                <a:spcPct val="0"/>
              </a:spcBef>
            </a:pPr>
            <a:r>
              <a:rPr lang="en-US" sz="2718">
                <a:solidFill>
                  <a:srgbClr val="1E302C"/>
                </a:solidFill>
                <a:latin typeface="ITC Franklin Gothic LT"/>
              </a:rPr>
              <a:t>Statistical Analysis Part 2: Cross Tabulations, Chi-square Tests</a:t>
            </a:r>
          </a:p>
        </p:txBody>
      </p:sp>
      <p:sp>
        <p:nvSpPr>
          <p:cNvPr id="54" name="TextBox 54"/>
          <p:cNvSpPr txBox="1"/>
          <p:nvPr/>
        </p:nvSpPr>
        <p:spPr>
          <a:xfrm>
            <a:off x="2696596" y="6181250"/>
            <a:ext cx="6887830" cy="455317"/>
          </a:xfrm>
          <a:prstGeom prst="rect">
            <a:avLst/>
          </a:prstGeom>
        </p:spPr>
        <p:txBody>
          <a:bodyPr lIns="0" tIns="0" rIns="0" bIns="0" rtlCol="0" anchor="t">
            <a:spAutoFit/>
          </a:bodyPr>
          <a:lstStyle/>
          <a:p>
            <a:pPr>
              <a:lnSpc>
                <a:spcPts val="3806"/>
              </a:lnSpc>
              <a:spcBef>
                <a:spcPct val="0"/>
              </a:spcBef>
            </a:pPr>
            <a:r>
              <a:rPr lang="en-US" sz="2718">
                <a:solidFill>
                  <a:srgbClr val="1E302C"/>
                </a:solidFill>
                <a:latin typeface="ITC Franklin Gothic LT"/>
              </a:rPr>
              <a:t>Inference</a:t>
            </a:r>
          </a:p>
        </p:txBody>
      </p:sp>
      <p:sp>
        <p:nvSpPr>
          <p:cNvPr id="55" name="Freeform 55"/>
          <p:cNvSpPr/>
          <p:nvPr/>
        </p:nvSpPr>
        <p:spPr>
          <a:xfrm rot="2526190">
            <a:off x="15599687" y="1762629"/>
            <a:ext cx="2254244" cy="971374"/>
          </a:xfrm>
          <a:custGeom>
            <a:avLst/>
            <a:gdLst/>
            <a:ahLst/>
            <a:cxnLst/>
            <a:rect l="l" t="t" r="r" b="b"/>
            <a:pathLst>
              <a:path w="2254244" h="971374">
                <a:moveTo>
                  <a:pt x="0" y="0"/>
                </a:moveTo>
                <a:lnTo>
                  <a:pt x="2254244" y="0"/>
                </a:lnTo>
                <a:lnTo>
                  <a:pt x="2254244" y="971374"/>
                </a:lnTo>
                <a:lnTo>
                  <a:pt x="0" y="97137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6" name="Freeform 56"/>
          <p:cNvSpPr/>
          <p:nvPr/>
        </p:nvSpPr>
        <p:spPr>
          <a:xfrm flipH="1">
            <a:off x="8655525" y="6648948"/>
            <a:ext cx="1320252" cy="1409978"/>
          </a:xfrm>
          <a:custGeom>
            <a:avLst/>
            <a:gdLst/>
            <a:ahLst/>
            <a:cxnLst/>
            <a:rect l="l" t="t" r="r" b="b"/>
            <a:pathLst>
              <a:path w="1320252" h="1409978">
                <a:moveTo>
                  <a:pt x="1320252" y="0"/>
                </a:moveTo>
                <a:lnTo>
                  <a:pt x="0" y="0"/>
                </a:lnTo>
                <a:lnTo>
                  <a:pt x="0" y="1409978"/>
                </a:lnTo>
                <a:lnTo>
                  <a:pt x="1320252" y="1409978"/>
                </a:lnTo>
                <a:lnTo>
                  <a:pt x="1320252"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7" name="Freeform 57"/>
          <p:cNvSpPr/>
          <p:nvPr/>
        </p:nvSpPr>
        <p:spPr>
          <a:xfrm>
            <a:off x="9705217" y="3293720"/>
            <a:ext cx="1833125" cy="1957706"/>
          </a:xfrm>
          <a:custGeom>
            <a:avLst/>
            <a:gdLst/>
            <a:ahLst/>
            <a:cxnLst/>
            <a:rect l="l" t="t" r="r" b="b"/>
            <a:pathLst>
              <a:path w="1833125" h="1957706">
                <a:moveTo>
                  <a:pt x="0" y="0"/>
                </a:moveTo>
                <a:lnTo>
                  <a:pt x="1833125" y="0"/>
                </a:lnTo>
                <a:lnTo>
                  <a:pt x="1833125" y="1957706"/>
                </a:lnTo>
                <a:lnTo>
                  <a:pt x="0" y="195770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58" name="Flowchart: Connector 57">
            <a:extLst>
              <a:ext uri="{FF2B5EF4-FFF2-40B4-BE49-F238E27FC236}">
                <a16:creationId xmlns:a16="http://schemas.microsoft.com/office/drawing/2014/main" id="{DA372B49-C73A-3688-9E2F-699CE8ED3D23}"/>
              </a:ext>
            </a:extLst>
          </p:cNvPr>
          <p:cNvSpPr/>
          <p:nvPr/>
        </p:nvSpPr>
        <p:spPr>
          <a:xfrm>
            <a:off x="2068877" y="4639896"/>
            <a:ext cx="441907" cy="394944"/>
          </a:xfrm>
          <a:prstGeom prst="flowChartConnector">
            <a:avLst/>
          </a:prstGeom>
          <a:solidFill>
            <a:srgbClr val="996633"/>
          </a:solidFill>
          <a:ln>
            <a:solidFill>
              <a:srgbClr val="99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4</a:t>
            </a:r>
          </a:p>
        </p:txBody>
      </p:sp>
      <p:sp>
        <p:nvSpPr>
          <p:cNvPr id="59" name="Flowchart: Connector 58">
            <a:extLst>
              <a:ext uri="{FF2B5EF4-FFF2-40B4-BE49-F238E27FC236}">
                <a16:creationId xmlns:a16="http://schemas.microsoft.com/office/drawing/2014/main" id="{0D9DFF6C-7263-290E-D1F5-C9D5761BC885}"/>
              </a:ext>
            </a:extLst>
          </p:cNvPr>
          <p:cNvSpPr/>
          <p:nvPr/>
        </p:nvSpPr>
        <p:spPr>
          <a:xfrm>
            <a:off x="2068878" y="4046982"/>
            <a:ext cx="400478" cy="359802"/>
          </a:xfrm>
          <a:prstGeom prst="flowChartConnector">
            <a:avLst/>
          </a:prstGeom>
          <a:solidFill>
            <a:srgbClr val="996633"/>
          </a:solidFill>
          <a:ln>
            <a:solidFill>
              <a:srgbClr val="99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3</a:t>
            </a:r>
          </a:p>
        </p:txBody>
      </p:sp>
      <p:sp>
        <p:nvSpPr>
          <p:cNvPr id="60" name="Flowchart: Connector 59">
            <a:extLst>
              <a:ext uri="{FF2B5EF4-FFF2-40B4-BE49-F238E27FC236}">
                <a16:creationId xmlns:a16="http://schemas.microsoft.com/office/drawing/2014/main" id="{6B91788E-C139-BC66-5B38-02B37BD3B75E}"/>
              </a:ext>
            </a:extLst>
          </p:cNvPr>
          <p:cNvSpPr/>
          <p:nvPr/>
        </p:nvSpPr>
        <p:spPr>
          <a:xfrm>
            <a:off x="2068878" y="3431482"/>
            <a:ext cx="400478" cy="359802"/>
          </a:xfrm>
          <a:prstGeom prst="flowChartConnector">
            <a:avLst/>
          </a:prstGeom>
          <a:solidFill>
            <a:srgbClr val="996633"/>
          </a:solidFill>
          <a:ln>
            <a:solidFill>
              <a:srgbClr val="99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2</a:t>
            </a:r>
          </a:p>
        </p:txBody>
      </p:sp>
      <p:sp>
        <p:nvSpPr>
          <p:cNvPr id="61" name="Flowchart: Connector 60">
            <a:extLst>
              <a:ext uri="{FF2B5EF4-FFF2-40B4-BE49-F238E27FC236}">
                <a16:creationId xmlns:a16="http://schemas.microsoft.com/office/drawing/2014/main" id="{B0269382-8F10-EFBB-E013-64309C48ED14}"/>
              </a:ext>
            </a:extLst>
          </p:cNvPr>
          <p:cNvSpPr/>
          <p:nvPr/>
        </p:nvSpPr>
        <p:spPr>
          <a:xfrm>
            <a:off x="2068878" y="2842034"/>
            <a:ext cx="400478" cy="359802"/>
          </a:xfrm>
          <a:prstGeom prst="flowChartConnector">
            <a:avLst/>
          </a:prstGeom>
          <a:solidFill>
            <a:srgbClr val="996633"/>
          </a:solidFill>
          <a:ln>
            <a:solidFill>
              <a:srgbClr val="99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1</a:t>
            </a:r>
          </a:p>
        </p:txBody>
      </p:sp>
      <p:sp>
        <p:nvSpPr>
          <p:cNvPr id="62" name="TextBox 41"/>
          <p:cNvSpPr txBox="1"/>
          <p:nvPr/>
        </p:nvSpPr>
        <p:spPr>
          <a:xfrm>
            <a:off x="2693771" y="2810908"/>
            <a:ext cx="6887830" cy="455317"/>
          </a:xfrm>
          <a:prstGeom prst="rect">
            <a:avLst/>
          </a:prstGeom>
        </p:spPr>
        <p:txBody>
          <a:bodyPr lIns="0" tIns="0" rIns="0" bIns="0" rtlCol="0" anchor="t">
            <a:spAutoFit/>
          </a:bodyPr>
          <a:lstStyle/>
          <a:p>
            <a:pPr>
              <a:lnSpc>
                <a:spcPts val="3806"/>
              </a:lnSpc>
              <a:spcBef>
                <a:spcPct val="0"/>
              </a:spcBef>
            </a:pPr>
            <a:r>
              <a:rPr lang="en-US" sz="2718">
                <a:solidFill>
                  <a:srgbClr val="1E302C"/>
                </a:solidFill>
                <a:latin typeface="ITC Franklin Gothic LT"/>
              </a:rPr>
              <a:t>Abstract</a:t>
            </a:r>
          </a:p>
        </p:txBody>
      </p:sp>
      <p:sp>
        <p:nvSpPr>
          <p:cNvPr id="63" name="TextBox 54">
            <a:extLst>
              <a:ext uri="{FF2B5EF4-FFF2-40B4-BE49-F238E27FC236}">
                <a16:creationId xmlns:a16="http://schemas.microsoft.com/office/drawing/2014/main" id="{B1EAFF60-390B-CC30-A393-618C2B742DCA}"/>
              </a:ext>
            </a:extLst>
          </p:cNvPr>
          <p:cNvSpPr txBox="1"/>
          <p:nvPr/>
        </p:nvSpPr>
        <p:spPr>
          <a:xfrm>
            <a:off x="2660225" y="6727787"/>
            <a:ext cx="6887830" cy="455317"/>
          </a:xfrm>
          <a:prstGeom prst="rect">
            <a:avLst/>
          </a:prstGeom>
        </p:spPr>
        <p:txBody>
          <a:bodyPr lIns="0" tIns="0" rIns="0" bIns="0" rtlCol="0" anchor="t">
            <a:spAutoFit/>
          </a:bodyPr>
          <a:lstStyle/>
          <a:p>
            <a:pPr>
              <a:lnSpc>
                <a:spcPts val="3806"/>
              </a:lnSpc>
              <a:spcBef>
                <a:spcPct val="0"/>
              </a:spcBef>
            </a:pPr>
            <a:r>
              <a:rPr lang="en-US" sz="2718">
                <a:solidFill>
                  <a:srgbClr val="1E302C"/>
                </a:solidFill>
                <a:latin typeface="ITC Franklin Gothic LT"/>
              </a:rPr>
              <a:t>Project Report</a:t>
            </a:r>
          </a:p>
        </p:txBody>
      </p:sp>
      <p:sp>
        <p:nvSpPr>
          <p:cNvPr id="64" name="TextBox 54">
            <a:extLst>
              <a:ext uri="{FF2B5EF4-FFF2-40B4-BE49-F238E27FC236}">
                <a16:creationId xmlns:a16="http://schemas.microsoft.com/office/drawing/2014/main" id="{A4F81C30-CC4E-EFA6-CA26-07CD0AB4F868}"/>
              </a:ext>
            </a:extLst>
          </p:cNvPr>
          <p:cNvSpPr txBox="1"/>
          <p:nvPr/>
        </p:nvSpPr>
        <p:spPr>
          <a:xfrm>
            <a:off x="2676386" y="7268910"/>
            <a:ext cx="6887830" cy="455317"/>
          </a:xfrm>
          <a:prstGeom prst="rect">
            <a:avLst/>
          </a:prstGeom>
        </p:spPr>
        <p:txBody>
          <a:bodyPr lIns="0" tIns="0" rIns="0" bIns="0" rtlCol="0" anchor="t">
            <a:spAutoFit/>
          </a:bodyPr>
          <a:lstStyle/>
          <a:p>
            <a:pPr>
              <a:lnSpc>
                <a:spcPts val="3806"/>
              </a:lnSpc>
              <a:spcBef>
                <a:spcPct val="0"/>
              </a:spcBef>
            </a:pPr>
            <a:r>
              <a:rPr lang="en-US" sz="2718">
                <a:solidFill>
                  <a:srgbClr val="1E302C"/>
                </a:solidFill>
                <a:latin typeface="ITC Franklin Gothic LT"/>
              </a:rPr>
              <a:t>Conclusion</a:t>
            </a:r>
          </a:p>
        </p:txBody>
      </p:sp>
      <p:sp>
        <p:nvSpPr>
          <p:cNvPr id="65" name="TextBox 54">
            <a:extLst>
              <a:ext uri="{FF2B5EF4-FFF2-40B4-BE49-F238E27FC236}">
                <a16:creationId xmlns:a16="http://schemas.microsoft.com/office/drawing/2014/main" id="{BCAB2C28-375C-C0C0-2B17-902F12920204}"/>
              </a:ext>
            </a:extLst>
          </p:cNvPr>
          <p:cNvSpPr txBox="1"/>
          <p:nvPr/>
        </p:nvSpPr>
        <p:spPr>
          <a:xfrm>
            <a:off x="2678306" y="7765413"/>
            <a:ext cx="6887830" cy="455317"/>
          </a:xfrm>
          <a:prstGeom prst="rect">
            <a:avLst/>
          </a:prstGeom>
        </p:spPr>
        <p:txBody>
          <a:bodyPr lIns="0" tIns="0" rIns="0" bIns="0" rtlCol="0" anchor="t">
            <a:spAutoFit/>
          </a:bodyPr>
          <a:lstStyle/>
          <a:p>
            <a:pPr>
              <a:lnSpc>
                <a:spcPts val="3806"/>
              </a:lnSpc>
              <a:spcBef>
                <a:spcPct val="0"/>
              </a:spcBef>
            </a:pPr>
            <a:r>
              <a:rPr lang="en-US" sz="2718">
                <a:solidFill>
                  <a:srgbClr val="1E302C"/>
                </a:solidFill>
                <a:latin typeface="ITC Franklin Gothic LT"/>
              </a:rPr>
              <a:t>Questionnaire</a:t>
            </a:r>
          </a:p>
        </p:txBody>
      </p:sp>
      <p:sp>
        <p:nvSpPr>
          <p:cNvPr id="66" name="TextBox 54">
            <a:extLst>
              <a:ext uri="{FF2B5EF4-FFF2-40B4-BE49-F238E27FC236}">
                <a16:creationId xmlns:a16="http://schemas.microsoft.com/office/drawing/2014/main" id="{0205EDFC-8D4F-E13D-123C-18C2EB6281E6}"/>
              </a:ext>
            </a:extLst>
          </p:cNvPr>
          <p:cNvSpPr txBox="1"/>
          <p:nvPr/>
        </p:nvSpPr>
        <p:spPr>
          <a:xfrm>
            <a:off x="2685262" y="8231162"/>
            <a:ext cx="6887830" cy="455317"/>
          </a:xfrm>
          <a:prstGeom prst="rect">
            <a:avLst/>
          </a:prstGeom>
        </p:spPr>
        <p:txBody>
          <a:bodyPr lIns="0" tIns="0" rIns="0" bIns="0" rtlCol="0" anchor="t">
            <a:spAutoFit/>
          </a:bodyPr>
          <a:lstStyle/>
          <a:p>
            <a:pPr>
              <a:lnSpc>
                <a:spcPts val="3806"/>
              </a:lnSpc>
              <a:spcBef>
                <a:spcPct val="0"/>
              </a:spcBef>
            </a:pPr>
            <a:r>
              <a:rPr lang="en-US" sz="2718">
                <a:solidFill>
                  <a:srgbClr val="1E302C"/>
                </a:solidFill>
                <a:latin typeface="ITC Franklin Gothic LT"/>
              </a:rPr>
              <a:t>References</a:t>
            </a: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7EF"/>
        </a:solidFill>
        <a:effectLst/>
      </p:bgPr>
    </p:bg>
    <p:spTree>
      <p:nvGrpSpPr>
        <p:cNvPr id="1" name=""/>
        <p:cNvGrpSpPr/>
        <p:nvPr/>
      </p:nvGrpSpPr>
      <p:grpSpPr>
        <a:xfrm>
          <a:off x="0" y="0"/>
          <a:ext cx="0" cy="0"/>
          <a:chOff x="0" y="0"/>
          <a:chExt cx="0" cy="0"/>
        </a:xfrm>
      </p:grpSpPr>
      <p:grpSp>
        <p:nvGrpSpPr>
          <p:cNvPr id="2" name="Group 2"/>
          <p:cNvGrpSpPr/>
          <p:nvPr/>
        </p:nvGrpSpPr>
        <p:grpSpPr>
          <a:xfrm>
            <a:off x="-557510" y="9053545"/>
            <a:ext cx="19403020" cy="2466909"/>
            <a:chOff x="0" y="0"/>
            <a:chExt cx="5110260" cy="649721"/>
          </a:xfrm>
        </p:grpSpPr>
        <p:sp>
          <p:nvSpPr>
            <p:cNvPr id="3" name="Freeform 3"/>
            <p:cNvSpPr/>
            <p:nvPr/>
          </p:nvSpPr>
          <p:spPr>
            <a:xfrm>
              <a:off x="0" y="0"/>
              <a:ext cx="5110261" cy="649721"/>
            </a:xfrm>
            <a:custGeom>
              <a:avLst/>
              <a:gdLst/>
              <a:ahLst/>
              <a:cxnLst/>
              <a:rect l="l" t="t" r="r" b="b"/>
              <a:pathLst>
                <a:path w="5110261" h="649721">
                  <a:moveTo>
                    <a:pt x="0" y="0"/>
                  </a:moveTo>
                  <a:lnTo>
                    <a:pt x="5110261" y="0"/>
                  </a:lnTo>
                  <a:lnTo>
                    <a:pt x="5110261" y="649721"/>
                  </a:lnTo>
                  <a:lnTo>
                    <a:pt x="0" y="649721"/>
                  </a:lnTo>
                  <a:close/>
                </a:path>
              </a:pathLst>
            </a:custGeom>
            <a:solidFill>
              <a:srgbClr val="8DAFA8"/>
            </a:solidFill>
          </p:spPr>
        </p:sp>
        <p:sp>
          <p:nvSpPr>
            <p:cNvPr id="4" name="TextBox 4"/>
            <p:cNvSpPr txBox="1"/>
            <p:nvPr/>
          </p:nvSpPr>
          <p:spPr>
            <a:xfrm>
              <a:off x="0" y="-47625"/>
              <a:ext cx="5110260" cy="697346"/>
            </a:xfrm>
            <a:prstGeom prst="rect">
              <a:avLst/>
            </a:prstGeom>
          </p:spPr>
          <p:txBody>
            <a:bodyPr lIns="50800" tIns="50800" rIns="50800" bIns="50800" rtlCol="0" anchor="ctr"/>
            <a:lstStyle/>
            <a:p>
              <a:pPr algn="ctr">
                <a:lnSpc>
                  <a:spcPts val="2659"/>
                </a:lnSpc>
              </a:pPr>
              <a:endParaRPr/>
            </a:p>
          </p:txBody>
        </p:sp>
      </p:grpSp>
      <p:sp>
        <p:nvSpPr>
          <p:cNvPr id="22" name="TextBox 22"/>
          <p:cNvSpPr txBox="1"/>
          <p:nvPr/>
        </p:nvSpPr>
        <p:spPr>
          <a:xfrm>
            <a:off x="11582400" y="232288"/>
            <a:ext cx="8013304" cy="2191434"/>
          </a:xfrm>
          <a:prstGeom prst="rect">
            <a:avLst/>
          </a:prstGeom>
        </p:spPr>
        <p:txBody>
          <a:bodyPr lIns="0" tIns="0" rIns="0" bIns="0" rtlCol="0" anchor="t">
            <a:spAutoFit/>
          </a:bodyPr>
          <a:lstStyle/>
          <a:p>
            <a:pPr>
              <a:lnSpc>
                <a:spcPts val="18165"/>
              </a:lnSpc>
              <a:spcBef>
                <a:spcPct val="0"/>
              </a:spcBef>
            </a:pPr>
            <a:r>
              <a:rPr lang="en-US" sz="12975">
                <a:solidFill>
                  <a:srgbClr val="996633"/>
                </a:solidFill>
                <a:latin typeface="League Gothic" panose="020B0604020202020204" charset="0"/>
              </a:rPr>
              <a:t>Abstract</a:t>
            </a:r>
          </a:p>
        </p:txBody>
      </p:sp>
      <p:sp>
        <p:nvSpPr>
          <p:cNvPr id="25" name="TextBox 25"/>
          <p:cNvSpPr txBox="1"/>
          <p:nvPr/>
        </p:nvSpPr>
        <p:spPr>
          <a:xfrm>
            <a:off x="762000" y="2497030"/>
            <a:ext cx="16549742" cy="6412012"/>
          </a:xfrm>
          <a:prstGeom prst="rect">
            <a:avLst/>
          </a:prstGeom>
        </p:spPr>
        <p:txBody>
          <a:bodyPr wrap="square" lIns="0" tIns="0" rIns="0" bIns="0" rtlCol="0" anchor="t">
            <a:spAutoFit/>
          </a:bodyPr>
          <a:lstStyle/>
          <a:p>
            <a:pPr algn="just">
              <a:lnSpc>
                <a:spcPts val="2520"/>
              </a:lnSpc>
              <a:spcBef>
                <a:spcPct val="0"/>
              </a:spcBef>
            </a:pPr>
            <a:r>
              <a:rPr lang="en-US" sz="2400">
                <a:solidFill>
                  <a:srgbClr val="1E302C"/>
                </a:solidFill>
                <a:latin typeface="ITC Franklin Gothic LT"/>
              </a:rPr>
              <a:t>This project aims to investigate the intricate relationship between the quality of work life and occupational stress experienced by employees in contemporary workplaces. Quality of work life encompasses various factors, including job satisfaction, work-life balance, organizational culture, and employee well-being. Understanding these elements is crucial for fostering a positive work environment and enhancing overall employee satisfaction. The first part of the study involves an in-depth exploration of the current literature on quality of work life and occupational stress, laying the groundwork for a comprehensive analysis. </a:t>
            </a:r>
          </a:p>
          <a:p>
            <a:pPr algn="just">
              <a:lnSpc>
                <a:spcPts val="2520"/>
              </a:lnSpc>
              <a:spcBef>
                <a:spcPct val="0"/>
              </a:spcBef>
            </a:pPr>
            <a:endParaRPr lang="en-US" sz="2400">
              <a:solidFill>
                <a:srgbClr val="1E302C"/>
              </a:solidFill>
              <a:latin typeface="ITC Franklin Gothic LT"/>
            </a:endParaRPr>
          </a:p>
          <a:p>
            <a:pPr algn="just">
              <a:lnSpc>
                <a:spcPts val="2520"/>
              </a:lnSpc>
              <a:spcBef>
                <a:spcPct val="0"/>
              </a:spcBef>
            </a:pPr>
            <a:r>
              <a:rPr lang="en-US" sz="2400">
                <a:solidFill>
                  <a:srgbClr val="1E302C"/>
                </a:solidFill>
                <a:latin typeface="ITC Franklin Gothic LT"/>
              </a:rPr>
              <a:t>The second phase of the project involves empirical research, employing surveys and interviews to collect data directly from employees across diverse industries. By examining the day-to-day experiences of workers, we aim to identify specific factors influencing their quality of work life and the sources of occupational stress. This data-driven approach allows for a nuanced understanding of the challenges employees face, providing valuable insights for organizations seeking to improve working conditions and create a supportive atmosphere. The project will utilize both qualitative and quantitative methods to ensure a well-rounded perspective on the subject. </a:t>
            </a:r>
          </a:p>
          <a:p>
            <a:pPr algn="just">
              <a:lnSpc>
                <a:spcPts val="2520"/>
              </a:lnSpc>
              <a:spcBef>
                <a:spcPct val="0"/>
              </a:spcBef>
            </a:pPr>
            <a:endParaRPr lang="en-US" sz="2400">
              <a:solidFill>
                <a:srgbClr val="1E302C"/>
              </a:solidFill>
              <a:latin typeface="ITC Franklin Gothic LT"/>
            </a:endParaRPr>
          </a:p>
          <a:p>
            <a:pPr algn="just">
              <a:lnSpc>
                <a:spcPts val="2520"/>
              </a:lnSpc>
              <a:spcBef>
                <a:spcPct val="0"/>
              </a:spcBef>
            </a:pPr>
            <a:r>
              <a:rPr lang="en-US" sz="2400">
                <a:solidFill>
                  <a:srgbClr val="1E302C"/>
                </a:solidFill>
                <a:latin typeface="ITC Franklin Gothic LT"/>
              </a:rPr>
              <a:t>In the final phase, the project will offer practical recommendations based on the findings, designed to enhance the quality of work life and mitigate occupational stress among employees. These recommendations will be tailored to address specific issues identified during the research, providing actionable insights for organizations to implement positive changes. Ultimately, this project contributes to the ongoing discourse on workplace well-being, offering a valuable resource for employers, human resource professionals, and policymakers striving to create environments that promote both professional success and employee satisfaction.</a:t>
            </a:r>
          </a:p>
        </p:txBody>
      </p:sp>
      <p:sp>
        <p:nvSpPr>
          <p:cNvPr id="26" name="AutoShape 26"/>
          <p:cNvSpPr/>
          <p:nvPr/>
        </p:nvSpPr>
        <p:spPr>
          <a:xfrm>
            <a:off x="10820400" y="2171700"/>
            <a:ext cx="6116868" cy="0"/>
          </a:xfrm>
          <a:prstGeom prst="line">
            <a:avLst/>
          </a:prstGeom>
          <a:ln w="47625" cap="rnd">
            <a:solidFill>
              <a:srgbClr val="8DAFA8"/>
            </a:solidFill>
            <a:prstDash val="lgDash"/>
            <a:headEnd type="none" w="sm" len="sm"/>
            <a:tailEnd type="oval" w="lg" len="lg"/>
          </a:ln>
        </p:spPr>
      </p:sp>
      <p:sp>
        <p:nvSpPr>
          <p:cNvPr id="34" name="TextBox 14">
            <a:extLst>
              <a:ext uri="{FF2B5EF4-FFF2-40B4-BE49-F238E27FC236}">
                <a16:creationId xmlns:a16="http://schemas.microsoft.com/office/drawing/2014/main" id="{075D6FF1-1954-A2E3-CF4F-1650FB7A4A1A}"/>
              </a:ext>
            </a:extLst>
          </p:cNvPr>
          <p:cNvSpPr txBox="1"/>
          <p:nvPr/>
        </p:nvSpPr>
        <p:spPr>
          <a:xfrm>
            <a:off x="1670250" y="1700515"/>
            <a:ext cx="4220705" cy="4525083"/>
          </a:xfrm>
          <a:prstGeom prst="rect">
            <a:avLst/>
          </a:prstGeom>
        </p:spPr>
        <p:txBody>
          <a:bodyPr lIns="50800" tIns="50800" rIns="50800" bIns="50800" rtlCol="0" anchor="ctr"/>
          <a:lstStyle/>
          <a:p>
            <a:pPr algn="ctr">
              <a:lnSpc>
                <a:spcPts val="2659"/>
              </a:lnSpc>
            </a:pPr>
            <a:endParaRP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7EF"/>
        </a:solidFill>
        <a:effectLst/>
      </p:bgPr>
    </p:bg>
    <p:spTree>
      <p:nvGrpSpPr>
        <p:cNvPr id="1" name="">
          <a:extLst>
            <a:ext uri="{FF2B5EF4-FFF2-40B4-BE49-F238E27FC236}">
              <a16:creationId xmlns:a16="http://schemas.microsoft.com/office/drawing/2014/main" id="{FDB1CC15-F2ED-2C4B-E4B6-F5536615674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C443CF6-2F3C-649F-6210-36879272E06B}"/>
              </a:ext>
            </a:extLst>
          </p:cNvPr>
          <p:cNvGrpSpPr/>
          <p:nvPr/>
        </p:nvGrpSpPr>
        <p:grpSpPr>
          <a:xfrm>
            <a:off x="-557510" y="9053545"/>
            <a:ext cx="19403020" cy="2466909"/>
            <a:chOff x="0" y="0"/>
            <a:chExt cx="5110260" cy="649721"/>
          </a:xfrm>
        </p:grpSpPr>
        <p:sp>
          <p:nvSpPr>
            <p:cNvPr id="3" name="Freeform 3">
              <a:extLst>
                <a:ext uri="{FF2B5EF4-FFF2-40B4-BE49-F238E27FC236}">
                  <a16:creationId xmlns:a16="http://schemas.microsoft.com/office/drawing/2014/main" id="{DE01C646-8C48-571B-9EA3-7D44A74C1B2A}"/>
                </a:ext>
              </a:extLst>
            </p:cNvPr>
            <p:cNvSpPr/>
            <p:nvPr/>
          </p:nvSpPr>
          <p:spPr>
            <a:xfrm>
              <a:off x="0" y="0"/>
              <a:ext cx="5110261" cy="649721"/>
            </a:xfrm>
            <a:custGeom>
              <a:avLst/>
              <a:gdLst/>
              <a:ahLst/>
              <a:cxnLst/>
              <a:rect l="l" t="t" r="r" b="b"/>
              <a:pathLst>
                <a:path w="5110261" h="649721">
                  <a:moveTo>
                    <a:pt x="0" y="0"/>
                  </a:moveTo>
                  <a:lnTo>
                    <a:pt x="5110261" y="0"/>
                  </a:lnTo>
                  <a:lnTo>
                    <a:pt x="5110261" y="649721"/>
                  </a:lnTo>
                  <a:lnTo>
                    <a:pt x="0" y="649721"/>
                  </a:lnTo>
                  <a:close/>
                </a:path>
              </a:pathLst>
            </a:custGeom>
            <a:solidFill>
              <a:srgbClr val="8DAFA8"/>
            </a:solidFill>
          </p:spPr>
        </p:sp>
        <p:sp>
          <p:nvSpPr>
            <p:cNvPr id="4" name="TextBox 4">
              <a:extLst>
                <a:ext uri="{FF2B5EF4-FFF2-40B4-BE49-F238E27FC236}">
                  <a16:creationId xmlns:a16="http://schemas.microsoft.com/office/drawing/2014/main" id="{6B0C8283-049E-D5FD-1740-69F04BB64358}"/>
                </a:ext>
              </a:extLst>
            </p:cNvPr>
            <p:cNvSpPr txBox="1"/>
            <p:nvPr/>
          </p:nvSpPr>
          <p:spPr>
            <a:xfrm>
              <a:off x="0" y="-47625"/>
              <a:ext cx="5110260" cy="697346"/>
            </a:xfrm>
            <a:prstGeom prst="rect">
              <a:avLst/>
            </a:prstGeom>
          </p:spPr>
          <p:txBody>
            <a:bodyPr lIns="50800" tIns="50800" rIns="50800" bIns="50800" rtlCol="0" anchor="ctr"/>
            <a:lstStyle/>
            <a:p>
              <a:pPr algn="ctr">
                <a:lnSpc>
                  <a:spcPts val="2659"/>
                </a:lnSpc>
              </a:pPr>
              <a:endParaRPr/>
            </a:p>
          </p:txBody>
        </p:sp>
      </p:grpSp>
      <p:grpSp>
        <p:nvGrpSpPr>
          <p:cNvPr id="12" name="Group 12">
            <a:extLst>
              <a:ext uri="{FF2B5EF4-FFF2-40B4-BE49-F238E27FC236}">
                <a16:creationId xmlns:a16="http://schemas.microsoft.com/office/drawing/2014/main" id="{F6A4DEEE-8F7A-F253-D5BF-48295C3E900A}"/>
              </a:ext>
            </a:extLst>
          </p:cNvPr>
          <p:cNvGrpSpPr/>
          <p:nvPr/>
        </p:nvGrpSpPr>
        <p:grpSpPr>
          <a:xfrm>
            <a:off x="1125294" y="2096413"/>
            <a:ext cx="5194714" cy="5194714"/>
            <a:chOff x="0" y="0"/>
            <a:chExt cx="812800" cy="812800"/>
          </a:xfrm>
        </p:grpSpPr>
        <p:sp>
          <p:nvSpPr>
            <p:cNvPr id="13" name="Freeform 13">
              <a:extLst>
                <a:ext uri="{FF2B5EF4-FFF2-40B4-BE49-F238E27FC236}">
                  <a16:creationId xmlns:a16="http://schemas.microsoft.com/office/drawing/2014/main" id="{E4D377DD-6F16-5E99-50A7-E22317D8208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DAFA8">
                <a:alpha val="40000"/>
              </a:srgbClr>
            </a:solidFill>
          </p:spPr>
        </p:sp>
        <p:sp>
          <p:nvSpPr>
            <p:cNvPr id="14" name="TextBox 14">
              <a:extLst>
                <a:ext uri="{FF2B5EF4-FFF2-40B4-BE49-F238E27FC236}">
                  <a16:creationId xmlns:a16="http://schemas.microsoft.com/office/drawing/2014/main" id="{6E2AFF62-4B45-4ACB-2B09-48275E2764B7}"/>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15" name="Group 15">
            <a:extLst>
              <a:ext uri="{FF2B5EF4-FFF2-40B4-BE49-F238E27FC236}">
                <a16:creationId xmlns:a16="http://schemas.microsoft.com/office/drawing/2014/main" id="{BF844053-62CF-8AEC-1ED4-880472B2BB66}"/>
              </a:ext>
            </a:extLst>
          </p:cNvPr>
          <p:cNvGrpSpPr/>
          <p:nvPr/>
        </p:nvGrpSpPr>
        <p:grpSpPr>
          <a:xfrm>
            <a:off x="4615892" y="5090855"/>
            <a:ext cx="3010647" cy="3010647"/>
            <a:chOff x="0" y="0"/>
            <a:chExt cx="812800" cy="812800"/>
          </a:xfrm>
        </p:grpSpPr>
        <p:sp>
          <p:nvSpPr>
            <p:cNvPr id="16" name="Freeform 16">
              <a:extLst>
                <a:ext uri="{FF2B5EF4-FFF2-40B4-BE49-F238E27FC236}">
                  <a16:creationId xmlns:a16="http://schemas.microsoft.com/office/drawing/2014/main" id="{6500FA23-9B5F-AE15-C356-41E17BB9762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6A160">
                <a:alpha val="40000"/>
              </a:srgbClr>
            </a:solidFill>
          </p:spPr>
        </p:sp>
        <p:sp>
          <p:nvSpPr>
            <p:cNvPr id="17" name="TextBox 17">
              <a:extLst>
                <a:ext uri="{FF2B5EF4-FFF2-40B4-BE49-F238E27FC236}">
                  <a16:creationId xmlns:a16="http://schemas.microsoft.com/office/drawing/2014/main" id="{525360E6-F6BB-2747-4832-DA216DF1F066}"/>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18" name="Group 18">
            <a:extLst>
              <a:ext uri="{FF2B5EF4-FFF2-40B4-BE49-F238E27FC236}">
                <a16:creationId xmlns:a16="http://schemas.microsoft.com/office/drawing/2014/main" id="{9315BF39-9BD5-7E90-2D1A-AFF98689E6FE}"/>
              </a:ext>
            </a:extLst>
          </p:cNvPr>
          <p:cNvGrpSpPr/>
          <p:nvPr/>
        </p:nvGrpSpPr>
        <p:grpSpPr>
          <a:xfrm>
            <a:off x="1215025" y="883249"/>
            <a:ext cx="2316520" cy="2316520"/>
            <a:chOff x="0" y="0"/>
            <a:chExt cx="812800" cy="812800"/>
          </a:xfrm>
        </p:grpSpPr>
        <p:sp>
          <p:nvSpPr>
            <p:cNvPr id="19" name="Freeform 19">
              <a:extLst>
                <a:ext uri="{FF2B5EF4-FFF2-40B4-BE49-F238E27FC236}">
                  <a16:creationId xmlns:a16="http://schemas.microsoft.com/office/drawing/2014/main" id="{01CD6289-C7EB-CB94-01E8-4ADB1652AD6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6A160">
                <a:alpha val="40000"/>
              </a:srgbClr>
            </a:solidFill>
          </p:spPr>
        </p:sp>
        <p:sp>
          <p:nvSpPr>
            <p:cNvPr id="20" name="TextBox 20">
              <a:extLst>
                <a:ext uri="{FF2B5EF4-FFF2-40B4-BE49-F238E27FC236}">
                  <a16:creationId xmlns:a16="http://schemas.microsoft.com/office/drawing/2014/main" id="{E771A879-8A09-35FD-99B5-B52965EA8D11}"/>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22" name="TextBox 22">
            <a:extLst>
              <a:ext uri="{FF2B5EF4-FFF2-40B4-BE49-F238E27FC236}">
                <a16:creationId xmlns:a16="http://schemas.microsoft.com/office/drawing/2014/main" id="{E7FDD610-0D74-423A-0B17-7EBF789E5032}"/>
              </a:ext>
            </a:extLst>
          </p:cNvPr>
          <p:cNvSpPr txBox="1"/>
          <p:nvPr/>
        </p:nvSpPr>
        <p:spPr>
          <a:xfrm>
            <a:off x="11049000" y="81692"/>
            <a:ext cx="8013304" cy="2191434"/>
          </a:xfrm>
          <a:prstGeom prst="rect">
            <a:avLst/>
          </a:prstGeom>
        </p:spPr>
        <p:txBody>
          <a:bodyPr lIns="0" tIns="0" rIns="0" bIns="0" rtlCol="0" anchor="t">
            <a:spAutoFit/>
          </a:bodyPr>
          <a:lstStyle/>
          <a:p>
            <a:pPr>
              <a:lnSpc>
                <a:spcPts val="18165"/>
              </a:lnSpc>
              <a:spcBef>
                <a:spcPct val="0"/>
              </a:spcBef>
            </a:pPr>
            <a:r>
              <a:rPr lang="en-US" sz="12975">
                <a:solidFill>
                  <a:srgbClr val="996633"/>
                </a:solidFill>
                <a:latin typeface="League Gothic" panose="020B0604020202020204" charset="0"/>
              </a:rPr>
              <a:t>Introduction</a:t>
            </a:r>
          </a:p>
        </p:txBody>
      </p:sp>
      <p:sp>
        <p:nvSpPr>
          <p:cNvPr id="26" name="AutoShape 26">
            <a:extLst>
              <a:ext uri="{FF2B5EF4-FFF2-40B4-BE49-F238E27FC236}">
                <a16:creationId xmlns:a16="http://schemas.microsoft.com/office/drawing/2014/main" id="{A5643F07-CF8C-60DB-A623-410FDE26C6BE}"/>
              </a:ext>
            </a:extLst>
          </p:cNvPr>
          <p:cNvSpPr/>
          <p:nvPr/>
        </p:nvSpPr>
        <p:spPr>
          <a:xfrm>
            <a:off x="10820400" y="2036991"/>
            <a:ext cx="6116868" cy="0"/>
          </a:xfrm>
          <a:prstGeom prst="line">
            <a:avLst/>
          </a:prstGeom>
          <a:ln w="47625" cap="rnd">
            <a:solidFill>
              <a:srgbClr val="8DAFA8"/>
            </a:solidFill>
            <a:prstDash val="lgDash"/>
            <a:headEnd type="none" w="sm" len="sm"/>
            <a:tailEnd type="oval" w="lg" len="lg"/>
          </a:ln>
        </p:spPr>
      </p:sp>
      <p:sp>
        <p:nvSpPr>
          <p:cNvPr id="27" name="Freeform 27">
            <a:extLst>
              <a:ext uri="{FF2B5EF4-FFF2-40B4-BE49-F238E27FC236}">
                <a16:creationId xmlns:a16="http://schemas.microsoft.com/office/drawing/2014/main" id="{41B7091D-84B7-4764-924D-9B8550029BC2}"/>
              </a:ext>
            </a:extLst>
          </p:cNvPr>
          <p:cNvSpPr/>
          <p:nvPr/>
        </p:nvSpPr>
        <p:spPr>
          <a:xfrm rot="-6773629">
            <a:off x="347370" y="7054977"/>
            <a:ext cx="1637417" cy="705578"/>
          </a:xfrm>
          <a:custGeom>
            <a:avLst/>
            <a:gdLst/>
            <a:ahLst/>
            <a:cxnLst/>
            <a:rect l="l" t="t" r="r" b="b"/>
            <a:pathLst>
              <a:path w="1637417" h="705578">
                <a:moveTo>
                  <a:pt x="0" y="0"/>
                </a:moveTo>
                <a:lnTo>
                  <a:pt x="1637417" y="0"/>
                </a:lnTo>
                <a:lnTo>
                  <a:pt x="1637417" y="705577"/>
                </a:lnTo>
                <a:lnTo>
                  <a:pt x="0" y="7055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TextBox 5">
            <a:extLst>
              <a:ext uri="{FF2B5EF4-FFF2-40B4-BE49-F238E27FC236}">
                <a16:creationId xmlns:a16="http://schemas.microsoft.com/office/drawing/2014/main" id="{B85DB186-6D6D-EAF7-1A81-DC05E1343A15}"/>
              </a:ext>
            </a:extLst>
          </p:cNvPr>
          <p:cNvSpPr txBox="1"/>
          <p:nvPr/>
        </p:nvSpPr>
        <p:spPr>
          <a:xfrm>
            <a:off x="8392649" y="2366811"/>
            <a:ext cx="9918304" cy="6370975"/>
          </a:xfrm>
          <a:prstGeom prst="rect">
            <a:avLst/>
          </a:prstGeom>
          <a:noFill/>
        </p:spPr>
        <p:txBody>
          <a:bodyPr wrap="square">
            <a:spAutoFit/>
          </a:bodyPr>
          <a:lstStyle/>
          <a:p>
            <a:r>
              <a:rPr lang="en-IN" sz="2400">
                <a:latin typeface="ITC Franklin Gothic LT" panose="020B0604020202020204" charset="0"/>
              </a:rPr>
              <a:t>Quality of Work Life (QWL) refers to the overall well-being of employees in their work environment, encompassing various factors that influence their job satisfaction and performance. This concept emphasizes the importance of creating a positive and supportive workplace culture.</a:t>
            </a:r>
          </a:p>
          <a:p>
            <a:endParaRPr lang="en-IN" sz="2400">
              <a:latin typeface="ITC Franklin Gothic LT" panose="020B0604020202020204" charset="0"/>
            </a:endParaRPr>
          </a:p>
          <a:p>
            <a:r>
              <a:rPr lang="en-IN" sz="2400">
                <a:latin typeface="ITC Franklin Gothic LT" panose="020B0604020202020204" charset="0"/>
              </a:rPr>
              <a:t>Key components of the Quality of Work-Life concept include:</a:t>
            </a:r>
          </a:p>
          <a:p>
            <a:pPr marL="342900" indent="-342900">
              <a:buFont typeface="Wingdings" panose="05000000000000000000" pitchFamily="2" charset="2"/>
              <a:buChar char="Ø"/>
            </a:pPr>
            <a:r>
              <a:rPr lang="en-IN" sz="2400">
                <a:latin typeface="ITC Franklin Gothic LT" panose="020B0604020202020204" charset="0"/>
              </a:rPr>
              <a:t>Job Satisfaction</a:t>
            </a:r>
          </a:p>
          <a:p>
            <a:pPr marL="342900" indent="-342900">
              <a:buFont typeface="Wingdings" panose="05000000000000000000" pitchFamily="2" charset="2"/>
              <a:buChar char="Ø"/>
            </a:pPr>
            <a:r>
              <a:rPr lang="en-IN" sz="2400">
                <a:latin typeface="ITC Franklin Gothic LT" panose="020B0604020202020204" charset="0"/>
              </a:rPr>
              <a:t>Work-Life Balance	</a:t>
            </a:r>
          </a:p>
          <a:p>
            <a:pPr marL="342900" indent="-342900">
              <a:buFont typeface="Wingdings" panose="05000000000000000000" pitchFamily="2" charset="2"/>
              <a:buChar char="Ø"/>
            </a:pPr>
            <a:r>
              <a:rPr lang="en-IN" sz="2400">
                <a:latin typeface="ITC Franklin Gothic LT" panose="020B0604020202020204" charset="0"/>
              </a:rPr>
              <a:t>Physical and Mental Health</a:t>
            </a:r>
          </a:p>
          <a:p>
            <a:pPr marL="342900" indent="-342900">
              <a:buFont typeface="Wingdings" panose="05000000000000000000" pitchFamily="2" charset="2"/>
              <a:buChar char="Ø"/>
            </a:pPr>
            <a:r>
              <a:rPr lang="en-IN" sz="2400">
                <a:latin typeface="ITC Franklin Gothic LT" panose="020B0604020202020204" charset="0"/>
              </a:rPr>
              <a:t>Workplace Culture	</a:t>
            </a:r>
          </a:p>
          <a:p>
            <a:pPr marL="342900" indent="-342900">
              <a:buFont typeface="Wingdings" panose="05000000000000000000" pitchFamily="2" charset="2"/>
              <a:buChar char="Ø"/>
            </a:pPr>
            <a:r>
              <a:rPr lang="en-IN" sz="2400">
                <a:latin typeface="ITC Franklin Gothic LT" panose="020B0604020202020204" charset="0"/>
              </a:rPr>
              <a:t>Career Development Opportunities	</a:t>
            </a:r>
          </a:p>
          <a:p>
            <a:pPr marL="342900" indent="-342900">
              <a:buFont typeface="Wingdings" panose="05000000000000000000" pitchFamily="2" charset="2"/>
              <a:buChar char="Ø"/>
            </a:pPr>
            <a:r>
              <a:rPr lang="en-IN" sz="2400">
                <a:latin typeface="ITC Franklin Gothic LT" panose="020B0604020202020204" charset="0"/>
              </a:rPr>
              <a:t>Compensation and Benefits</a:t>
            </a:r>
          </a:p>
          <a:p>
            <a:endParaRPr lang="en-IN" sz="2400">
              <a:latin typeface="ITC Franklin Gothic LT" panose="020B0604020202020204" charset="0"/>
            </a:endParaRPr>
          </a:p>
          <a:p>
            <a:r>
              <a:rPr lang="en-IN" sz="2400">
                <a:latin typeface="ITC Franklin Gothic LT" panose="020B0604020202020204" charset="0"/>
              </a:rPr>
              <a:t>By prioritizing the various dimensions of QWL, organizations can create environments where employees feel valued, motivated, and empowered to achieve their full potential, ultimately leading to enhanced productivity, retention, and overall organizational effectiveness.</a:t>
            </a:r>
          </a:p>
        </p:txBody>
      </p:sp>
      <p:sp>
        <p:nvSpPr>
          <p:cNvPr id="8" name="Freeform 26">
            <a:extLst>
              <a:ext uri="{FF2B5EF4-FFF2-40B4-BE49-F238E27FC236}">
                <a16:creationId xmlns:a16="http://schemas.microsoft.com/office/drawing/2014/main" id="{EE27907F-EC3E-7F5D-A263-F9254B95083A}"/>
              </a:ext>
            </a:extLst>
          </p:cNvPr>
          <p:cNvSpPr/>
          <p:nvPr/>
        </p:nvSpPr>
        <p:spPr>
          <a:xfrm>
            <a:off x="1339391" y="1857557"/>
            <a:ext cx="6622643" cy="5526897"/>
          </a:xfrm>
          <a:custGeom>
            <a:avLst/>
            <a:gdLst/>
            <a:ahLst/>
            <a:cxnLst/>
            <a:rect l="l" t="t" r="r" b="b"/>
            <a:pathLst>
              <a:path w="6622643" h="5526897">
                <a:moveTo>
                  <a:pt x="0" y="0"/>
                </a:moveTo>
                <a:lnTo>
                  <a:pt x="6622643" y="0"/>
                </a:lnTo>
                <a:lnTo>
                  <a:pt x="6622643" y="5526897"/>
                </a:lnTo>
                <a:lnTo>
                  <a:pt x="0" y="552689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extLst>
      <p:ext uri="{BB962C8B-B14F-4D97-AF65-F5344CB8AC3E}">
        <p14:creationId xmlns:p14="http://schemas.microsoft.com/office/powerpoint/2010/main" val="894541905"/>
      </p:ext>
    </p:extLst>
  </p:cSld>
  <p:clrMapOvr>
    <a:masterClrMapping/>
  </p:clrMapOvr>
  <p:transition spd="slow">
    <p:randomBar dir="vert"/>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7EF"/>
        </a:solidFill>
        <a:effectLst/>
      </p:bgPr>
    </p:bg>
    <p:spTree>
      <p:nvGrpSpPr>
        <p:cNvPr id="1" name="">
          <a:extLst>
            <a:ext uri="{FF2B5EF4-FFF2-40B4-BE49-F238E27FC236}">
              <a16:creationId xmlns:a16="http://schemas.microsoft.com/office/drawing/2014/main" id="{1729717C-EC9F-F34D-A30A-D7501086C01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7C5412A-4BFD-B195-4C17-6F3694684CD7}"/>
              </a:ext>
            </a:extLst>
          </p:cNvPr>
          <p:cNvGrpSpPr/>
          <p:nvPr/>
        </p:nvGrpSpPr>
        <p:grpSpPr>
          <a:xfrm>
            <a:off x="-557510" y="9053545"/>
            <a:ext cx="19403020" cy="2466909"/>
            <a:chOff x="0" y="0"/>
            <a:chExt cx="5110260" cy="649721"/>
          </a:xfrm>
        </p:grpSpPr>
        <p:sp>
          <p:nvSpPr>
            <p:cNvPr id="3" name="Freeform 3">
              <a:extLst>
                <a:ext uri="{FF2B5EF4-FFF2-40B4-BE49-F238E27FC236}">
                  <a16:creationId xmlns:a16="http://schemas.microsoft.com/office/drawing/2014/main" id="{ECB087DB-593E-9018-0E3D-93B6B807FA4F}"/>
                </a:ext>
              </a:extLst>
            </p:cNvPr>
            <p:cNvSpPr/>
            <p:nvPr/>
          </p:nvSpPr>
          <p:spPr>
            <a:xfrm>
              <a:off x="0" y="0"/>
              <a:ext cx="5110261" cy="649721"/>
            </a:xfrm>
            <a:custGeom>
              <a:avLst/>
              <a:gdLst/>
              <a:ahLst/>
              <a:cxnLst/>
              <a:rect l="l" t="t" r="r" b="b"/>
              <a:pathLst>
                <a:path w="5110261" h="649721">
                  <a:moveTo>
                    <a:pt x="0" y="0"/>
                  </a:moveTo>
                  <a:lnTo>
                    <a:pt x="5110261" y="0"/>
                  </a:lnTo>
                  <a:lnTo>
                    <a:pt x="5110261" y="649721"/>
                  </a:lnTo>
                  <a:lnTo>
                    <a:pt x="0" y="649721"/>
                  </a:lnTo>
                  <a:close/>
                </a:path>
              </a:pathLst>
            </a:custGeom>
            <a:solidFill>
              <a:srgbClr val="8DAFA8"/>
            </a:solidFill>
          </p:spPr>
        </p:sp>
        <p:sp>
          <p:nvSpPr>
            <p:cNvPr id="4" name="TextBox 4">
              <a:extLst>
                <a:ext uri="{FF2B5EF4-FFF2-40B4-BE49-F238E27FC236}">
                  <a16:creationId xmlns:a16="http://schemas.microsoft.com/office/drawing/2014/main" id="{663DE9BF-08B6-B543-D4DD-3C2F0B3132AD}"/>
                </a:ext>
              </a:extLst>
            </p:cNvPr>
            <p:cNvSpPr txBox="1"/>
            <p:nvPr/>
          </p:nvSpPr>
          <p:spPr>
            <a:xfrm>
              <a:off x="0" y="-47625"/>
              <a:ext cx="5110260" cy="697346"/>
            </a:xfrm>
            <a:prstGeom prst="rect">
              <a:avLst/>
            </a:prstGeom>
          </p:spPr>
          <p:txBody>
            <a:bodyPr lIns="50800" tIns="50800" rIns="50800" bIns="50800" rtlCol="0" anchor="ctr"/>
            <a:lstStyle/>
            <a:p>
              <a:pPr algn="ctr">
                <a:lnSpc>
                  <a:spcPts val="2659"/>
                </a:lnSpc>
              </a:pPr>
              <a:endParaRPr/>
            </a:p>
          </p:txBody>
        </p:sp>
      </p:grpSp>
      <p:grpSp>
        <p:nvGrpSpPr>
          <p:cNvPr id="12" name="Group 12">
            <a:extLst>
              <a:ext uri="{FF2B5EF4-FFF2-40B4-BE49-F238E27FC236}">
                <a16:creationId xmlns:a16="http://schemas.microsoft.com/office/drawing/2014/main" id="{FBE66491-3AFD-02A0-6B7B-7F920F1F8CDF}"/>
              </a:ext>
            </a:extLst>
          </p:cNvPr>
          <p:cNvGrpSpPr/>
          <p:nvPr/>
        </p:nvGrpSpPr>
        <p:grpSpPr>
          <a:xfrm>
            <a:off x="1125294" y="2096413"/>
            <a:ext cx="5194714" cy="5194714"/>
            <a:chOff x="0" y="0"/>
            <a:chExt cx="812800" cy="812800"/>
          </a:xfrm>
        </p:grpSpPr>
        <p:sp>
          <p:nvSpPr>
            <p:cNvPr id="13" name="Freeform 13">
              <a:extLst>
                <a:ext uri="{FF2B5EF4-FFF2-40B4-BE49-F238E27FC236}">
                  <a16:creationId xmlns:a16="http://schemas.microsoft.com/office/drawing/2014/main" id="{2274BEAF-A7BB-7176-6A49-B12BDF1A057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DAFA8">
                <a:alpha val="40000"/>
              </a:srgbClr>
            </a:solidFill>
          </p:spPr>
        </p:sp>
        <p:sp>
          <p:nvSpPr>
            <p:cNvPr id="14" name="TextBox 14">
              <a:extLst>
                <a:ext uri="{FF2B5EF4-FFF2-40B4-BE49-F238E27FC236}">
                  <a16:creationId xmlns:a16="http://schemas.microsoft.com/office/drawing/2014/main" id="{47C71FCD-FFCB-7271-0DC9-A85FFC64A559}"/>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15" name="Group 15">
            <a:extLst>
              <a:ext uri="{FF2B5EF4-FFF2-40B4-BE49-F238E27FC236}">
                <a16:creationId xmlns:a16="http://schemas.microsoft.com/office/drawing/2014/main" id="{44B45499-E534-54F1-CE62-F92A19035EF1}"/>
              </a:ext>
            </a:extLst>
          </p:cNvPr>
          <p:cNvGrpSpPr/>
          <p:nvPr/>
        </p:nvGrpSpPr>
        <p:grpSpPr>
          <a:xfrm>
            <a:off x="4615892" y="5090855"/>
            <a:ext cx="3010647" cy="3010647"/>
            <a:chOff x="0" y="0"/>
            <a:chExt cx="812800" cy="812800"/>
          </a:xfrm>
        </p:grpSpPr>
        <p:sp>
          <p:nvSpPr>
            <p:cNvPr id="16" name="Freeform 16">
              <a:extLst>
                <a:ext uri="{FF2B5EF4-FFF2-40B4-BE49-F238E27FC236}">
                  <a16:creationId xmlns:a16="http://schemas.microsoft.com/office/drawing/2014/main" id="{17B6E04D-6354-DA4B-E7ED-BC97DC81D2C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6A160">
                <a:alpha val="40000"/>
              </a:srgbClr>
            </a:solidFill>
          </p:spPr>
        </p:sp>
        <p:sp>
          <p:nvSpPr>
            <p:cNvPr id="17" name="TextBox 17">
              <a:extLst>
                <a:ext uri="{FF2B5EF4-FFF2-40B4-BE49-F238E27FC236}">
                  <a16:creationId xmlns:a16="http://schemas.microsoft.com/office/drawing/2014/main" id="{35729657-2380-18A2-8C33-7661CBEFB23E}"/>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18" name="Group 18">
            <a:extLst>
              <a:ext uri="{FF2B5EF4-FFF2-40B4-BE49-F238E27FC236}">
                <a16:creationId xmlns:a16="http://schemas.microsoft.com/office/drawing/2014/main" id="{89738804-70F1-7CDF-614D-B3C7D8876121}"/>
              </a:ext>
            </a:extLst>
          </p:cNvPr>
          <p:cNvGrpSpPr/>
          <p:nvPr/>
        </p:nvGrpSpPr>
        <p:grpSpPr>
          <a:xfrm>
            <a:off x="1215025" y="883249"/>
            <a:ext cx="2316520" cy="2316520"/>
            <a:chOff x="0" y="0"/>
            <a:chExt cx="812800" cy="812800"/>
          </a:xfrm>
        </p:grpSpPr>
        <p:sp>
          <p:nvSpPr>
            <p:cNvPr id="19" name="Freeform 19">
              <a:extLst>
                <a:ext uri="{FF2B5EF4-FFF2-40B4-BE49-F238E27FC236}">
                  <a16:creationId xmlns:a16="http://schemas.microsoft.com/office/drawing/2014/main" id="{AE63F3EE-5F29-74D0-80C0-E032FCE7E48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6A160">
                <a:alpha val="40000"/>
              </a:srgbClr>
            </a:solidFill>
          </p:spPr>
        </p:sp>
        <p:sp>
          <p:nvSpPr>
            <p:cNvPr id="20" name="TextBox 20">
              <a:extLst>
                <a:ext uri="{FF2B5EF4-FFF2-40B4-BE49-F238E27FC236}">
                  <a16:creationId xmlns:a16="http://schemas.microsoft.com/office/drawing/2014/main" id="{057E7733-3367-A55A-D55D-AE3E17102AFE}"/>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27" name="Freeform 27">
            <a:extLst>
              <a:ext uri="{FF2B5EF4-FFF2-40B4-BE49-F238E27FC236}">
                <a16:creationId xmlns:a16="http://schemas.microsoft.com/office/drawing/2014/main" id="{28742DB9-C4D5-AC7A-6A4E-410EEC861F3D}"/>
              </a:ext>
            </a:extLst>
          </p:cNvPr>
          <p:cNvSpPr/>
          <p:nvPr/>
        </p:nvSpPr>
        <p:spPr>
          <a:xfrm rot="-6773629">
            <a:off x="347370" y="7054977"/>
            <a:ext cx="1637417" cy="705578"/>
          </a:xfrm>
          <a:custGeom>
            <a:avLst/>
            <a:gdLst/>
            <a:ahLst/>
            <a:cxnLst/>
            <a:rect l="l" t="t" r="r" b="b"/>
            <a:pathLst>
              <a:path w="1637417" h="705578">
                <a:moveTo>
                  <a:pt x="0" y="0"/>
                </a:moveTo>
                <a:lnTo>
                  <a:pt x="1637417" y="0"/>
                </a:lnTo>
                <a:lnTo>
                  <a:pt x="1637417" y="705577"/>
                </a:lnTo>
                <a:lnTo>
                  <a:pt x="0" y="7055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TextBox 5">
            <a:extLst>
              <a:ext uri="{FF2B5EF4-FFF2-40B4-BE49-F238E27FC236}">
                <a16:creationId xmlns:a16="http://schemas.microsoft.com/office/drawing/2014/main" id="{FA875914-7131-C69F-0131-3307C13C8962}"/>
              </a:ext>
            </a:extLst>
          </p:cNvPr>
          <p:cNvSpPr txBox="1"/>
          <p:nvPr/>
        </p:nvSpPr>
        <p:spPr>
          <a:xfrm>
            <a:off x="8170073" y="2331359"/>
            <a:ext cx="9918304" cy="6247864"/>
          </a:xfrm>
          <a:prstGeom prst="rect">
            <a:avLst/>
          </a:prstGeom>
          <a:noFill/>
        </p:spPr>
        <p:txBody>
          <a:bodyPr wrap="square">
            <a:spAutoFit/>
          </a:bodyPr>
          <a:lstStyle/>
          <a:p>
            <a:r>
              <a:rPr lang="en-US" sz="2500">
                <a:latin typeface="ITC Franklin Gothic LT" panose="020B0604020202020204" charset="0"/>
              </a:rPr>
              <a:t>Occupational stress is the physical, mental, or emotional strain experienced by individuals in the workplace. It can have a range of negative effects on health, well-being, and job performance. Organizations need to address and manage occupational stress to promote a healthy and productive work environment.</a:t>
            </a:r>
          </a:p>
          <a:p>
            <a:endParaRPr lang="en-US" sz="2500">
              <a:latin typeface="ITC Franklin Gothic LT" panose="020B0604020202020204" charset="0"/>
            </a:endParaRPr>
          </a:p>
          <a:p>
            <a:r>
              <a:rPr lang="en-US" sz="2500">
                <a:latin typeface="ITC Franklin Gothic LT" panose="020B0604020202020204" charset="0"/>
              </a:rPr>
              <a:t>Occupational stress can be influenced by the following factors:</a:t>
            </a:r>
          </a:p>
          <a:p>
            <a:endParaRPr lang="en-US" sz="2500">
              <a:latin typeface="ITC Franklin Gothic LT" panose="020B0604020202020204" charset="0"/>
            </a:endParaRPr>
          </a:p>
          <a:p>
            <a:pPr marL="342900" indent="-342900">
              <a:buFont typeface="Wingdings" panose="05000000000000000000" pitchFamily="2" charset="2"/>
              <a:buChar char="Ø"/>
            </a:pPr>
            <a:r>
              <a:rPr lang="en-US" sz="2500">
                <a:latin typeface="ITC Franklin Gothic LT" panose="020B0604020202020204" charset="0"/>
              </a:rPr>
              <a:t>Workload</a:t>
            </a:r>
          </a:p>
          <a:p>
            <a:pPr marL="342900" indent="-342900">
              <a:buFont typeface="Wingdings" panose="05000000000000000000" pitchFamily="2" charset="2"/>
              <a:buChar char="Ø"/>
            </a:pPr>
            <a:r>
              <a:rPr lang="en-US" sz="2500">
                <a:latin typeface="ITC Franklin Gothic LT" panose="020B0604020202020204" charset="0"/>
              </a:rPr>
              <a:t>Interpersonal Conflicts</a:t>
            </a:r>
          </a:p>
          <a:p>
            <a:pPr marL="342900" indent="-342900">
              <a:buFont typeface="Wingdings" panose="05000000000000000000" pitchFamily="2" charset="2"/>
              <a:buChar char="Ø"/>
            </a:pPr>
            <a:r>
              <a:rPr lang="en-US" sz="2500">
                <a:latin typeface="ITC Franklin Gothic LT" panose="020B0604020202020204" charset="0"/>
              </a:rPr>
              <a:t>Job Insecurity</a:t>
            </a:r>
          </a:p>
          <a:p>
            <a:pPr marL="342900" indent="-342900">
              <a:buFont typeface="Wingdings" panose="05000000000000000000" pitchFamily="2" charset="2"/>
              <a:buChar char="Ø"/>
            </a:pPr>
            <a:r>
              <a:rPr lang="en-US" sz="2500">
                <a:latin typeface="ITC Franklin Gothic LT" panose="020B0604020202020204" charset="0"/>
              </a:rPr>
              <a:t>Inadequate Work-life Balance</a:t>
            </a:r>
          </a:p>
          <a:p>
            <a:pPr marL="342900" indent="-342900">
              <a:buFont typeface="Wingdings" panose="05000000000000000000" pitchFamily="2" charset="2"/>
              <a:buChar char="Ø"/>
            </a:pPr>
            <a:r>
              <a:rPr lang="en-US" sz="2500">
                <a:latin typeface="ITC Franklin Gothic LT" panose="020B0604020202020204" charset="0"/>
              </a:rPr>
              <a:t>Personal Factors</a:t>
            </a:r>
          </a:p>
          <a:p>
            <a:endParaRPr lang="en-US" sz="2500">
              <a:latin typeface="ITC Franklin Gothic LT" panose="020B0604020202020204" charset="0"/>
            </a:endParaRPr>
          </a:p>
          <a:p>
            <a:r>
              <a:rPr lang="en-US" sz="2500">
                <a:latin typeface="ITC Franklin Gothic LT" panose="020B0604020202020204" charset="0"/>
              </a:rPr>
              <a:t>Altogether, occupational stress refers to the physical, mental, and emotional strain that individuals experience due to their work.</a:t>
            </a:r>
            <a:endParaRPr lang="en-IN" sz="2500">
              <a:latin typeface="ITC Franklin Gothic LT" panose="020B0604020202020204" charset="0"/>
            </a:endParaRPr>
          </a:p>
        </p:txBody>
      </p:sp>
      <p:sp>
        <p:nvSpPr>
          <p:cNvPr id="7" name="Freeform 14">
            <a:extLst>
              <a:ext uri="{FF2B5EF4-FFF2-40B4-BE49-F238E27FC236}">
                <a16:creationId xmlns:a16="http://schemas.microsoft.com/office/drawing/2014/main" id="{6797E4BF-9E31-DA11-D02B-10DFF8BC6444}"/>
              </a:ext>
            </a:extLst>
          </p:cNvPr>
          <p:cNvSpPr/>
          <p:nvPr/>
        </p:nvSpPr>
        <p:spPr>
          <a:xfrm>
            <a:off x="1304378" y="1904710"/>
            <a:ext cx="6557775" cy="5436991"/>
          </a:xfrm>
          <a:custGeom>
            <a:avLst/>
            <a:gdLst/>
            <a:ahLst/>
            <a:cxnLst/>
            <a:rect l="l" t="t" r="r" b="b"/>
            <a:pathLst>
              <a:path w="6557775" h="5436991">
                <a:moveTo>
                  <a:pt x="0" y="0"/>
                </a:moveTo>
                <a:lnTo>
                  <a:pt x="6557775" y="0"/>
                </a:lnTo>
                <a:lnTo>
                  <a:pt x="6557775" y="5436991"/>
                </a:lnTo>
                <a:lnTo>
                  <a:pt x="0" y="543699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AutoShape 26">
            <a:extLst>
              <a:ext uri="{FF2B5EF4-FFF2-40B4-BE49-F238E27FC236}">
                <a16:creationId xmlns:a16="http://schemas.microsoft.com/office/drawing/2014/main" id="{FC4F8A85-A837-741A-75DC-65774F0C27E0}"/>
              </a:ext>
            </a:extLst>
          </p:cNvPr>
          <p:cNvSpPr/>
          <p:nvPr/>
        </p:nvSpPr>
        <p:spPr>
          <a:xfrm>
            <a:off x="10820400" y="2036991"/>
            <a:ext cx="6116868" cy="0"/>
          </a:xfrm>
          <a:prstGeom prst="line">
            <a:avLst/>
          </a:prstGeom>
          <a:ln w="47625" cap="rnd">
            <a:solidFill>
              <a:srgbClr val="8DAFA8"/>
            </a:solidFill>
            <a:prstDash val="lgDash"/>
            <a:headEnd type="none" w="sm" len="sm"/>
            <a:tailEnd type="oval" w="lg" len="lg"/>
          </a:ln>
        </p:spPr>
      </p:sp>
      <p:sp>
        <p:nvSpPr>
          <p:cNvPr id="9" name="TextBox 22">
            <a:extLst>
              <a:ext uri="{FF2B5EF4-FFF2-40B4-BE49-F238E27FC236}">
                <a16:creationId xmlns:a16="http://schemas.microsoft.com/office/drawing/2014/main" id="{3AFCFA1B-5244-68F5-5EF1-37A4DC409E57}"/>
              </a:ext>
            </a:extLst>
          </p:cNvPr>
          <p:cNvSpPr txBox="1"/>
          <p:nvPr/>
        </p:nvSpPr>
        <p:spPr>
          <a:xfrm>
            <a:off x="11049000" y="81692"/>
            <a:ext cx="8013304" cy="2191434"/>
          </a:xfrm>
          <a:prstGeom prst="rect">
            <a:avLst/>
          </a:prstGeom>
        </p:spPr>
        <p:txBody>
          <a:bodyPr lIns="0" tIns="0" rIns="0" bIns="0" rtlCol="0" anchor="t">
            <a:spAutoFit/>
          </a:bodyPr>
          <a:lstStyle/>
          <a:p>
            <a:pPr>
              <a:lnSpc>
                <a:spcPts val="18165"/>
              </a:lnSpc>
              <a:spcBef>
                <a:spcPct val="0"/>
              </a:spcBef>
            </a:pPr>
            <a:r>
              <a:rPr lang="en-US" sz="12975">
                <a:solidFill>
                  <a:srgbClr val="996633"/>
                </a:solidFill>
                <a:latin typeface="League Gothic" panose="020B0604020202020204" charset="0"/>
              </a:rPr>
              <a:t>Introduction</a:t>
            </a:r>
          </a:p>
        </p:txBody>
      </p:sp>
    </p:spTree>
    <p:extLst>
      <p:ext uri="{BB962C8B-B14F-4D97-AF65-F5344CB8AC3E}">
        <p14:creationId xmlns:p14="http://schemas.microsoft.com/office/powerpoint/2010/main" val="31125212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7EF"/>
        </a:solidFill>
        <a:effectLst/>
      </p:bgPr>
    </p:bg>
    <p:spTree>
      <p:nvGrpSpPr>
        <p:cNvPr id="1" name="">
          <a:extLst>
            <a:ext uri="{FF2B5EF4-FFF2-40B4-BE49-F238E27FC236}">
              <a16:creationId xmlns:a16="http://schemas.microsoft.com/office/drawing/2014/main" id="{E1932B49-7D1F-93D5-578A-888C0B59405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A8BF3B7-8488-6B8D-E53A-182D48AA65F3}"/>
              </a:ext>
            </a:extLst>
          </p:cNvPr>
          <p:cNvGrpSpPr/>
          <p:nvPr/>
        </p:nvGrpSpPr>
        <p:grpSpPr>
          <a:xfrm>
            <a:off x="-557510" y="9053545"/>
            <a:ext cx="19403020" cy="2466909"/>
            <a:chOff x="0" y="0"/>
            <a:chExt cx="5110260" cy="649721"/>
          </a:xfrm>
        </p:grpSpPr>
        <p:sp>
          <p:nvSpPr>
            <p:cNvPr id="3" name="Freeform 3">
              <a:extLst>
                <a:ext uri="{FF2B5EF4-FFF2-40B4-BE49-F238E27FC236}">
                  <a16:creationId xmlns:a16="http://schemas.microsoft.com/office/drawing/2014/main" id="{60C03DC2-CC3C-133A-4E75-CB57009F11CF}"/>
                </a:ext>
              </a:extLst>
            </p:cNvPr>
            <p:cNvSpPr/>
            <p:nvPr/>
          </p:nvSpPr>
          <p:spPr>
            <a:xfrm>
              <a:off x="0" y="0"/>
              <a:ext cx="5110261" cy="649721"/>
            </a:xfrm>
            <a:custGeom>
              <a:avLst/>
              <a:gdLst/>
              <a:ahLst/>
              <a:cxnLst/>
              <a:rect l="l" t="t" r="r" b="b"/>
              <a:pathLst>
                <a:path w="5110261" h="649721">
                  <a:moveTo>
                    <a:pt x="0" y="0"/>
                  </a:moveTo>
                  <a:lnTo>
                    <a:pt x="5110261" y="0"/>
                  </a:lnTo>
                  <a:lnTo>
                    <a:pt x="5110261" y="649721"/>
                  </a:lnTo>
                  <a:lnTo>
                    <a:pt x="0" y="649721"/>
                  </a:lnTo>
                  <a:close/>
                </a:path>
              </a:pathLst>
            </a:custGeom>
            <a:solidFill>
              <a:srgbClr val="8DAFA8"/>
            </a:solidFill>
          </p:spPr>
        </p:sp>
        <p:sp>
          <p:nvSpPr>
            <p:cNvPr id="4" name="TextBox 4">
              <a:extLst>
                <a:ext uri="{FF2B5EF4-FFF2-40B4-BE49-F238E27FC236}">
                  <a16:creationId xmlns:a16="http://schemas.microsoft.com/office/drawing/2014/main" id="{6239F12A-C754-D516-DFB4-983DA9532A61}"/>
                </a:ext>
              </a:extLst>
            </p:cNvPr>
            <p:cNvSpPr txBox="1"/>
            <p:nvPr/>
          </p:nvSpPr>
          <p:spPr>
            <a:xfrm>
              <a:off x="0" y="-47625"/>
              <a:ext cx="5110260" cy="697346"/>
            </a:xfrm>
            <a:prstGeom prst="rect">
              <a:avLst/>
            </a:prstGeom>
          </p:spPr>
          <p:txBody>
            <a:bodyPr lIns="50800" tIns="50800" rIns="50800" bIns="50800" rtlCol="0" anchor="ctr"/>
            <a:lstStyle/>
            <a:p>
              <a:pPr algn="ctr">
                <a:lnSpc>
                  <a:spcPts val="2659"/>
                </a:lnSpc>
              </a:pPr>
              <a:endParaRPr/>
            </a:p>
          </p:txBody>
        </p:sp>
      </p:grpSp>
      <p:grpSp>
        <p:nvGrpSpPr>
          <p:cNvPr id="12" name="Group 12">
            <a:extLst>
              <a:ext uri="{FF2B5EF4-FFF2-40B4-BE49-F238E27FC236}">
                <a16:creationId xmlns:a16="http://schemas.microsoft.com/office/drawing/2014/main" id="{A7CD78A9-81F0-FD8C-0FB2-1B5D8997C854}"/>
              </a:ext>
            </a:extLst>
          </p:cNvPr>
          <p:cNvGrpSpPr/>
          <p:nvPr/>
        </p:nvGrpSpPr>
        <p:grpSpPr>
          <a:xfrm>
            <a:off x="1125294" y="2096413"/>
            <a:ext cx="5194714" cy="5194714"/>
            <a:chOff x="0" y="0"/>
            <a:chExt cx="812800" cy="812800"/>
          </a:xfrm>
        </p:grpSpPr>
        <p:sp>
          <p:nvSpPr>
            <p:cNvPr id="13" name="Freeform 13">
              <a:extLst>
                <a:ext uri="{FF2B5EF4-FFF2-40B4-BE49-F238E27FC236}">
                  <a16:creationId xmlns:a16="http://schemas.microsoft.com/office/drawing/2014/main" id="{BAE6D277-4DD3-65CA-7154-8F5862814A8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DAFA8">
                <a:alpha val="40000"/>
              </a:srgbClr>
            </a:solidFill>
          </p:spPr>
        </p:sp>
        <p:sp>
          <p:nvSpPr>
            <p:cNvPr id="14" name="TextBox 14">
              <a:extLst>
                <a:ext uri="{FF2B5EF4-FFF2-40B4-BE49-F238E27FC236}">
                  <a16:creationId xmlns:a16="http://schemas.microsoft.com/office/drawing/2014/main" id="{4608AE25-B45B-0660-0787-5FF7435182D5}"/>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15" name="Group 15">
            <a:extLst>
              <a:ext uri="{FF2B5EF4-FFF2-40B4-BE49-F238E27FC236}">
                <a16:creationId xmlns:a16="http://schemas.microsoft.com/office/drawing/2014/main" id="{42DB633D-26FE-764D-2496-D2C89E196D0F}"/>
              </a:ext>
            </a:extLst>
          </p:cNvPr>
          <p:cNvGrpSpPr/>
          <p:nvPr/>
        </p:nvGrpSpPr>
        <p:grpSpPr>
          <a:xfrm>
            <a:off x="4615892" y="5090855"/>
            <a:ext cx="3010647" cy="3010647"/>
            <a:chOff x="0" y="0"/>
            <a:chExt cx="812800" cy="812800"/>
          </a:xfrm>
        </p:grpSpPr>
        <p:sp>
          <p:nvSpPr>
            <p:cNvPr id="16" name="Freeform 16">
              <a:extLst>
                <a:ext uri="{FF2B5EF4-FFF2-40B4-BE49-F238E27FC236}">
                  <a16:creationId xmlns:a16="http://schemas.microsoft.com/office/drawing/2014/main" id="{977B1776-543F-DBCD-A3B9-099E657121F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6A160">
                <a:alpha val="40000"/>
              </a:srgbClr>
            </a:solidFill>
          </p:spPr>
        </p:sp>
        <p:sp>
          <p:nvSpPr>
            <p:cNvPr id="17" name="TextBox 17">
              <a:extLst>
                <a:ext uri="{FF2B5EF4-FFF2-40B4-BE49-F238E27FC236}">
                  <a16:creationId xmlns:a16="http://schemas.microsoft.com/office/drawing/2014/main" id="{85BE58DF-AB57-B7D8-2990-AFC0E0068CBE}"/>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18" name="Group 18">
            <a:extLst>
              <a:ext uri="{FF2B5EF4-FFF2-40B4-BE49-F238E27FC236}">
                <a16:creationId xmlns:a16="http://schemas.microsoft.com/office/drawing/2014/main" id="{2C4F4B88-2D99-CAF6-384D-B4BD2DA185EA}"/>
              </a:ext>
            </a:extLst>
          </p:cNvPr>
          <p:cNvGrpSpPr/>
          <p:nvPr/>
        </p:nvGrpSpPr>
        <p:grpSpPr>
          <a:xfrm>
            <a:off x="1215025" y="883249"/>
            <a:ext cx="2316520" cy="2316520"/>
            <a:chOff x="0" y="0"/>
            <a:chExt cx="812800" cy="812800"/>
          </a:xfrm>
        </p:grpSpPr>
        <p:sp>
          <p:nvSpPr>
            <p:cNvPr id="19" name="Freeform 19">
              <a:extLst>
                <a:ext uri="{FF2B5EF4-FFF2-40B4-BE49-F238E27FC236}">
                  <a16:creationId xmlns:a16="http://schemas.microsoft.com/office/drawing/2014/main" id="{80480012-D9ED-0B79-C867-9177D95B611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6A160">
                <a:alpha val="40000"/>
              </a:srgbClr>
            </a:solidFill>
          </p:spPr>
        </p:sp>
        <p:sp>
          <p:nvSpPr>
            <p:cNvPr id="20" name="TextBox 20">
              <a:extLst>
                <a:ext uri="{FF2B5EF4-FFF2-40B4-BE49-F238E27FC236}">
                  <a16:creationId xmlns:a16="http://schemas.microsoft.com/office/drawing/2014/main" id="{D3776DAD-3CFC-CCB4-7C57-5C8A931F9679}"/>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26" name="AutoShape 26">
            <a:extLst>
              <a:ext uri="{FF2B5EF4-FFF2-40B4-BE49-F238E27FC236}">
                <a16:creationId xmlns:a16="http://schemas.microsoft.com/office/drawing/2014/main" id="{D961BBEE-F943-A990-F59B-E3CB8FC8245A}"/>
              </a:ext>
            </a:extLst>
          </p:cNvPr>
          <p:cNvSpPr/>
          <p:nvPr/>
        </p:nvSpPr>
        <p:spPr>
          <a:xfrm>
            <a:off x="10820400" y="2036991"/>
            <a:ext cx="6116868" cy="0"/>
          </a:xfrm>
          <a:prstGeom prst="line">
            <a:avLst/>
          </a:prstGeom>
          <a:ln w="47625" cap="rnd">
            <a:solidFill>
              <a:srgbClr val="8DAFA8"/>
            </a:solidFill>
            <a:prstDash val="lgDash"/>
            <a:headEnd type="none" w="sm" len="sm"/>
            <a:tailEnd type="oval" w="lg" len="lg"/>
          </a:ln>
        </p:spPr>
      </p:sp>
      <p:sp>
        <p:nvSpPr>
          <p:cNvPr id="27" name="Freeform 27">
            <a:extLst>
              <a:ext uri="{FF2B5EF4-FFF2-40B4-BE49-F238E27FC236}">
                <a16:creationId xmlns:a16="http://schemas.microsoft.com/office/drawing/2014/main" id="{92F7E90F-4A6E-7655-9384-B422AA54EEAD}"/>
              </a:ext>
            </a:extLst>
          </p:cNvPr>
          <p:cNvSpPr/>
          <p:nvPr/>
        </p:nvSpPr>
        <p:spPr>
          <a:xfrm rot="-6773629">
            <a:off x="-85120" y="7552921"/>
            <a:ext cx="1637417" cy="705578"/>
          </a:xfrm>
          <a:custGeom>
            <a:avLst/>
            <a:gdLst/>
            <a:ahLst/>
            <a:cxnLst/>
            <a:rect l="l" t="t" r="r" b="b"/>
            <a:pathLst>
              <a:path w="1637417" h="705578">
                <a:moveTo>
                  <a:pt x="0" y="0"/>
                </a:moveTo>
                <a:lnTo>
                  <a:pt x="1637417" y="0"/>
                </a:lnTo>
                <a:lnTo>
                  <a:pt x="1637417" y="705577"/>
                </a:lnTo>
                <a:lnTo>
                  <a:pt x="0" y="7055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TextBox 7">
            <a:extLst>
              <a:ext uri="{FF2B5EF4-FFF2-40B4-BE49-F238E27FC236}">
                <a16:creationId xmlns:a16="http://schemas.microsoft.com/office/drawing/2014/main" id="{8FF388B1-9890-550D-4356-7A50993D8C1F}"/>
              </a:ext>
            </a:extLst>
          </p:cNvPr>
          <p:cNvSpPr txBox="1"/>
          <p:nvPr/>
        </p:nvSpPr>
        <p:spPr>
          <a:xfrm>
            <a:off x="11734800" y="188591"/>
            <a:ext cx="9701938" cy="2089803"/>
          </a:xfrm>
          <a:prstGeom prst="rect">
            <a:avLst/>
          </a:prstGeom>
          <a:noFill/>
        </p:spPr>
        <p:txBody>
          <a:bodyPr wrap="square">
            <a:spAutoFit/>
          </a:bodyPr>
          <a:lstStyle/>
          <a:p>
            <a:r>
              <a:rPr lang="en-US" sz="12980">
                <a:solidFill>
                  <a:srgbClr val="996633"/>
                </a:solidFill>
                <a:latin typeface="League Gothic" panose="020B0604020202020204" charset="0"/>
              </a:rPr>
              <a:t>Objectives</a:t>
            </a:r>
            <a:endParaRPr lang="en-IN" sz="12980"/>
          </a:p>
        </p:txBody>
      </p:sp>
      <p:sp>
        <p:nvSpPr>
          <p:cNvPr id="10" name="TextBox 9">
            <a:extLst>
              <a:ext uri="{FF2B5EF4-FFF2-40B4-BE49-F238E27FC236}">
                <a16:creationId xmlns:a16="http://schemas.microsoft.com/office/drawing/2014/main" id="{807A9F45-4368-DE8A-8F54-0215BED2E443}"/>
              </a:ext>
            </a:extLst>
          </p:cNvPr>
          <p:cNvSpPr txBox="1"/>
          <p:nvPr/>
        </p:nvSpPr>
        <p:spPr>
          <a:xfrm>
            <a:off x="7767169" y="2594918"/>
            <a:ext cx="10355708" cy="5990038"/>
          </a:xfrm>
          <a:prstGeom prst="rect">
            <a:avLst/>
          </a:prstGeom>
          <a:noFill/>
        </p:spPr>
        <p:txBody>
          <a:bodyPr wrap="square">
            <a:spAutoFit/>
          </a:bodyPr>
          <a:lstStyle/>
          <a:p>
            <a:pPr>
              <a:lnSpc>
                <a:spcPct val="106000"/>
              </a:lnSpc>
              <a:spcAft>
                <a:spcPts val="800"/>
              </a:spcAft>
            </a:pPr>
            <a:r>
              <a:rPr lang="en-IN" sz="2500">
                <a:effectLst/>
                <a:latin typeface="Times New Roman" panose="02020603050405020304" pitchFamily="18" charset="0"/>
                <a:ea typeface="Calibri" panose="020F0502020204030204" pitchFamily="34" charset="0"/>
                <a:cs typeface="Times New Roman" panose="02020603050405020304" pitchFamily="18" charset="0"/>
              </a:rPr>
              <a:t> </a:t>
            </a:r>
            <a:endParaRPr lang="en-IN" sz="2500">
              <a:effectLst/>
              <a:latin typeface="Calibri" panose="020F0502020204030204" pitchFamily="34" charset="0"/>
              <a:ea typeface="Calibri" panose="020F0502020204030204" pitchFamily="34" charset="0"/>
              <a:cs typeface="Times New Roman" panose="02020603050405020304" pitchFamily="18" charset="0"/>
            </a:endParaRPr>
          </a:p>
          <a:p>
            <a:pPr>
              <a:lnSpc>
                <a:spcPct val="106000"/>
              </a:lnSpc>
              <a:spcAft>
                <a:spcPts val="800"/>
              </a:spcAft>
            </a:pPr>
            <a:r>
              <a:rPr lang="en-IN" sz="2500">
                <a:effectLst/>
                <a:latin typeface="ITC Franklin Gothic LT" panose="020B0604020202020204" charset="0"/>
                <a:ea typeface="Calibri" panose="020F0502020204030204" pitchFamily="34" charset="0"/>
                <a:cs typeface="Times New Roman" panose="02020603050405020304" pitchFamily="18" charset="0"/>
              </a:rPr>
              <a:t>1. To examine work-life balance and its impact on employee performance and satisfaction.</a:t>
            </a:r>
          </a:p>
          <a:p>
            <a:pPr>
              <a:lnSpc>
                <a:spcPct val="106000"/>
              </a:lnSpc>
              <a:spcAft>
                <a:spcPts val="800"/>
              </a:spcAft>
            </a:pPr>
            <a:r>
              <a:rPr lang="en-IN" sz="2500">
                <a:effectLst/>
                <a:latin typeface="ITC Franklin Gothic LT" panose="020B0604020202020204" charset="0"/>
                <a:ea typeface="Calibri" panose="020F0502020204030204" pitchFamily="34" charset="0"/>
                <a:cs typeface="Times New Roman" panose="02020603050405020304" pitchFamily="18" charset="0"/>
              </a:rPr>
              <a:t>2. To identify key factors influencing job satisfaction and overall well-being of the employees.</a:t>
            </a:r>
          </a:p>
          <a:p>
            <a:pPr>
              <a:lnSpc>
                <a:spcPct val="106000"/>
              </a:lnSpc>
              <a:spcAft>
                <a:spcPts val="800"/>
              </a:spcAft>
            </a:pPr>
            <a:r>
              <a:rPr lang="en-IN" sz="2500">
                <a:effectLst/>
                <a:latin typeface="ITC Franklin Gothic LT" panose="020B0604020202020204" charset="0"/>
                <a:ea typeface="Calibri" panose="020F0502020204030204" pitchFamily="34" charset="0"/>
                <a:cs typeface="Times New Roman" panose="02020603050405020304" pitchFamily="18" charset="0"/>
              </a:rPr>
              <a:t>3. To investigate interpersonal relationship and their role in shaping the work environment.</a:t>
            </a:r>
          </a:p>
          <a:p>
            <a:pPr>
              <a:lnSpc>
                <a:spcPct val="106000"/>
              </a:lnSpc>
              <a:spcAft>
                <a:spcPts val="800"/>
              </a:spcAft>
            </a:pPr>
            <a:r>
              <a:rPr lang="en-IN" sz="2500">
                <a:effectLst/>
                <a:latin typeface="ITC Franklin Gothic LT" panose="020B0604020202020204" charset="0"/>
                <a:ea typeface="Calibri" panose="020F0502020204030204" pitchFamily="34" charset="0"/>
                <a:cs typeface="Times New Roman" panose="02020603050405020304" pitchFamily="18" charset="0"/>
              </a:rPr>
              <a:t>4. To analyze workload, role ambiguity, and organizational culture as potential stress factors.</a:t>
            </a:r>
          </a:p>
          <a:p>
            <a:pPr>
              <a:lnSpc>
                <a:spcPct val="106000"/>
              </a:lnSpc>
              <a:spcAft>
                <a:spcPts val="800"/>
              </a:spcAft>
            </a:pPr>
            <a:r>
              <a:rPr lang="en-IN" sz="2500">
                <a:effectLst/>
                <a:latin typeface="ITC Franklin Gothic LT" panose="020B0604020202020204" charset="0"/>
                <a:ea typeface="Calibri" panose="020F0502020204030204" pitchFamily="34" charset="0"/>
                <a:cs typeface="Times New Roman" panose="02020603050405020304" pitchFamily="18" charset="0"/>
              </a:rPr>
              <a:t>5. To propose strategies and interventions to improve the quality of work life.</a:t>
            </a:r>
          </a:p>
          <a:p>
            <a:pPr>
              <a:lnSpc>
                <a:spcPct val="106000"/>
              </a:lnSpc>
              <a:spcAft>
                <a:spcPts val="800"/>
              </a:spcAft>
            </a:pPr>
            <a:r>
              <a:rPr lang="en-IN" sz="2500">
                <a:effectLst/>
                <a:latin typeface="ITC Franklin Gothic LT" panose="020B0604020202020204" charset="0"/>
                <a:ea typeface="Calibri" panose="020F0502020204030204" pitchFamily="34" charset="0"/>
                <a:cs typeface="Times New Roman" panose="02020603050405020304" pitchFamily="18" charset="0"/>
              </a:rPr>
              <a:t>6. To contribute to creating a more positive, fulfilling, and sustainable work environment.</a:t>
            </a:r>
          </a:p>
        </p:txBody>
      </p:sp>
      <p:sp>
        <p:nvSpPr>
          <p:cNvPr id="11" name="Freeform 21">
            <a:extLst>
              <a:ext uri="{FF2B5EF4-FFF2-40B4-BE49-F238E27FC236}">
                <a16:creationId xmlns:a16="http://schemas.microsoft.com/office/drawing/2014/main" id="{796A4C9B-089D-514A-1458-2143046CC2AF}"/>
              </a:ext>
            </a:extLst>
          </p:cNvPr>
          <p:cNvSpPr/>
          <p:nvPr/>
        </p:nvSpPr>
        <p:spPr>
          <a:xfrm>
            <a:off x="57668" y="1501687"/>
            <a:ext cx="6947753" cy="6370976"/>
          </a:xfrm>
          <a:custGeom>
            <a:avLst/>
            <a:gdLst/>
            <a:ahLst/>
            <a:cxnLst/>
            <a:rect l="l" t="t" r="r" b="b"/>
            <a:pathLst>
              <a:path w="7709224" h="6601899">
                <a:moveTo>
                  <a:pt x="0" y="0"/>
                </a:moveTo>
                <a:lnTo>
                  <a:pt x="7709224" y="0"/>
                </a:lnTo>
                <a:lnTo>
                  <a:pt x="7709224" y="6601899"/>
                </a:lnTo>
                <a:lnTo>
                  <a:pt x="0" y="660189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extLst>
      <p:ext uri="{BB962C8B-B14F-4D97-AF65-F5344CB8AC3E}">
        <p14:creationId xmlns:p14="http://schemas.microsoft.com/office/powerpoint/2010/main" val="2995913656"/>
      </p:ext>
    </p:extLst>
  </p:cSld>
  <p:clrMapOvr>
    <a:masterClrMapping/>
  </p:clrMapOvr>
  <p:transition spd="slow">
    <p:cover/>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7EF"/>
        </a:solidFill>
        <a:effectLst/>
      </p:bgPr>
    </p:bg>
    <p:spTree>
      <p:nvGrpSpPr>
        <p:cNvPr id="1" name="">
          <a:extLst>
            <a:ext uri="{FF2B5EF4-FFF2-40B4-BE49-F238E27FC236}">
              <a16:creationId xmlns:a16="http://schemas.microsoft.com/office/drawing/2014/main" id="{976E8BE5-FD68-53D8-5DAE-40827ECBFE6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DB420F5-3BA1-7A1F-598E-893F50661A06}"/>
              </a:ext>
            </a:extLst>
          </p:cNvPr>
          <p:cNvGrpSpPr/>
          <p:nvPr/>
        </p:nvGrpSpPr>
        <p:grpSpPr>
          <a:xfrm>
            <a:off x="-557510" y="9077391"/>
            <a:ext cx="19403020" cy="2466909"/>
            <a:chOff x="0" y="0"/>
            <a:chExt cx="5110260" cy="649721"/>
          </a:xfrm>
        </p:grpSpPr>
        <p:sp>
          <p:nvSpPr>
            <p:cNvPr id="3" name="Freeform 3">
              <a:extLst>
                <a:ext uri="{FF2B5EF4-FFF2-40B4-BE49-F238E27FC236}">
                  <a16:creationId xmlns:a16="http://schemas.microsoft.com/office/drawing/2014/main" id="{A6B95A3D-CB9D-DDC6-EC0B-5D36BCC02B35}"/>
                </a:ext>
              </a:extLst>
            </p:cNvPr>
            <p:cNvSpPr/>
            <p:nvPr/>
          </p:nvSpPr>
          <p:spPr>
            <a:xfrm>
              <a:off x="0" y="0"/>
              <a:ext cx="5110261" cy="649721"/>
            </a:xfrm>
            <a:custGeom>
              <a:avLst/>
              <a:gdLst/>
              <a:ahLst/>
              <a:cxnLst/>
              <a:rect l="l" t="t" r="r" b="b"/>
              <a:pathLst>
                <a:path w="5110261" h="649721">
                  <a:moveTo>
                    <a:pt x="0" y="0"/>
                  </a:moveTo>
                  <a:lnTo>
                    <a:pt x="5110261" y="0"/>
                  </a:lnTo>
                  <a:lnTo>
                    <a:pt x="5110261" y="649721"/>
                  </a:lnTo>
                  <a:lnTo>
                    <a:pt x="0" y="649721"/>
                  </a:lnTo>
                  <a:close/>
                </a:path>
              </a:pathLst>
            </a:custGeom>
            <a:solidFill>
              <a:srgbClr val="8DAFA8"/>
            </a:solidFill>
          </p:spPr>
        </p:sp>
        <p:sp>
          <p:nvSpPr>
            <p:cNvPr id="4" name="TextBox 4">
              <a:extLst>
                <a:ext uri="{FF2B5EF4-FFF2-40B4-BE49-F238E27FC236}">
                  <a16:creationId xmlns:a16="http://schemas.microsoft.com/office/drawing/2014/main" id="{DD79C567-9184-BF92-696E-80C9AF395366}"/>
                </a:ext>
              </a:extLst>
            </p:cNvPr>
            <p:cNvSpPr txBox="1"/>
            <p:nvPr/>
          </p:nvSpPr>
          <p:spPr>
            <a:xfrm>
              <a:off x="0" y="-47625"/>
              <a:ext cx="5110260" cy="697346"/>
            </a:xfrm>
            <a:prstGeom prst="rect">
              <a:avLst/>
            </a:prstGeom>
          </p:spPr>
          <p:txBody>
            <a:bodyPr lIns="50800" tIns="50800" rIns="50800" bIns="50800" rtlCol="0" anchor="ctr"/>
            <a:lstStyle/>
            <a:p>
              <a:pPr algn="ctr">
                <a:lnSpc>
                  <a:spcPts val="2659"/>
                </a:lnSpc>
              </a:pPr>
              <a:endParaRPr/>
            </a:p>
          </p:txBody>
        </p:sp>
      </p:grpSp>
      <p:sp>
        <p:nvSpPr>
          <p:cNvPr id="26" name="AutoShape 26">
            <a:extLst>
              <a:ext uri="{FF2B5EF4-FFF2-40B4-BE49-F238E27FC236}">
                <a16:creationId xmlns:a16="http://schemas.microsoft.com/office/drawing/2014/main" id="{6A26ABF2-4D7E-FE1C-9702-4FD03813D991}"/>
              </a:ext>
            </a:extLst>
          </p:cNvPr>
          <p:cNvSpPr/>
          <p:nvPr/>
        </p:nvSpPr>
        <p:spPr>
          <a:xfrm>
            <a:off x="10820400" y="2036991"/>
            <a:ext cx="6116868" cy="0"/>
          </a:xfrm>
          <a:prstGeom prst="line">
            <a:avLst/>
          </a:prstGeom>
          <a:ln w="47625" cap="rnd">
            <a:solidFill>
              <a:srgbClr val="8DAFA8"/>
            </a:solidFill>
            <a:prstDash val="lgDash"/>
            <a:headEnd type="none" w="sm" len="sm"/>
            <a:tailEnd type="oval" w="lg" len="lg"/>
          </a:ln>
        </p:spPr>
      </p:sp>
      <p:sp>
        <p:nvSpPr>
          <p:cNvPr id="8" name="TextBox 7">
            <a:extLst>
              <a:ext uri="{FF2B5EF4-FFF2-40B4-BE49-F238E27FC236}">
                <a16:creationId xmlns:a16="http://schemas.microsoft.com/office/drawing/2014/main" id="{1C1D598E-2D0A-AD85-5F97-C87B35E40F40}"/>
              </a:ext>
            </a:extLst>
          </p:cNvPr>
          <p:cNvSpPr txBox="1"/>
          <p:nvPr/>
        </p:nvSpPr>
        <p:spPr>
          <a:xfrm>
            <a:off x="10668000" y="119506"/>
            <a:ext cx="9701938" cy="2089803"/>
          </a:xfrm>
          <a:prstGeom prst="rect">
            <a:avLst/>
          </a:prstGeom>
          <a:noFill/>
        </p:spPr>
        <p:txBody>
          <a:bodyPr wrap="square">
            <a:spAutoFit/>
          </a:bodyPr>
          <a:lstStyle/>
          <a:p>
            <a:r>
              <a:rPr lang="en-US" sz="12980">
                <a:solidFill>
                  <a:srgbClr val="996633"/>
                </a:solidFill>
                <a:latin typeface="League Gothic" panose="020B0604020202020204" charset="0"/>
              </a:rPr>
              <a:t> Methodology</a:t>
            </a:r>
            <a:endParaRPr lang="en-IN" sz="12980"/>
          </a:p>
        </p:txBody>
      </p:sp>
      <p:sp>
        <p:nvSpPr>
          <p:cNvPr id="6" name="TextBox 5">
            <a:extLst>
              <a:ext uri="{FF2B5EF4-FFF2-40B4-BE49-F238E27FC236}">
                <a16:creationId xmlns:a16="http://schemas.microsoft.com/office/drawing/2014/main" id="{421FBCDB-9866-FA2E-F9C0-D22ED2CD2D7A}"/>
              </a:ext>
            </a:extLst>
          </p:cNvPr>
          <p:cNvSpPr txBox="1"/>
          <p:nvPr/>
        </p:nvSpPr>
        <p:spPr>
          <a:xfrm>
            <a:off x="1676400" y="2564013"/>
            <a:ext cx="13661756" cy="5954002"/>
          </a:xfrm>
          <a:prstGeom prst="rect">
            <a:avLst/>
          </a:prstGeom>
          <a:noFill/>
        </p:spPr>
        <p:txBody>
          <a:bodyPr wrap="square">
            <a:spAutoFit/>
          </a:bodyPr>
          <a:lstStyle/>
          <a:p>
            <a:pPr>
              <a:lnSpc>
                <a:spcPct val="106000"/>
              </a:lnSpc>
              <a:spcAft>
                <a:spcPts val="800"/>
              </a:spcAft>
            </a:pPr>
            <a:r>
              <a:rPr lang="en-IN" sz="2500">
                <a:effectLst/>
                <a:latin typeface="ITC Franklin Gothic LT" panose="020B0604020202020204" charset="0"/>
                <a:ea typeface="Calibri" panose="020F0502020204030204" pitchFamily="34" charset="0"/>
                <a:cs typeface="Times New Roman" panose="02020603050405020304" pitchFamily="18" charset="0"/>
              </a:rPr>
              <a:t>Both primary and secondary research has been carried out for this project.</a:t>
            </a:r>
          </a:p>
          <a:p>
            <a:pPr>
              <a:lnSpc>
                <a:spcPct val="106000"/>
              </a:lnSpc>
              <a:spcAft>
                <a:spcPts val="800"/>
              </a:spcAft>
            </a:pPr>
            <a:r>
              <a:rPr lang="en-IN" sz="2500">
                <a:effectLst/>
                <a:latin typeface="ITC Franklin Gothic LT" panose="020B0604020202020204" charset="0"/>
                <a:ea typeface="Calibri" panose="020F0502020204030204" pitchFamily="34" charset="0"/>
                <a:cs typeface="Times New Roman" panose="02020603050405020304" pitchFamily="18" charset="0"/>
              </a:rPr>
              <a:t> • </a:t>
            </a:r>
            <a:r>
              <a:rPr lang="en-IN" sz="2500" b="1">
                <a:effectLst/>
                <a:latin typeface="ITC Franklin Gothic LT" panose="020B0604020202020204" charset="0"/>
                <a:ea typeface="Calibri" panose="020F0502020204030204" pitchFamily="34" charset="0"/>
                <a:cs typeface="Times New Roman" panose="02020603050405020304" pitchFamily="18" charset="0"/>
              </a:rPr>
              <a:t>Sample design</a:t>
            </a:r>
            <a:r>
              <a:rPr lang="en-IN" sz="2500">
                <a:effectLst/>
                <a:latin typeface="ITC Franklin Gothic LT" panose="020B0604020202020204" charset="0"/>
                <a:ea typeface="Calibri" panose="020F0502020204030204" pitchFamily="34" charset="0"/>
                <a:cs typeface="Times New Roman" panose="02020603050405020304" pitchFamily="18" charset="0"/>
              </a:rPr>
              <a:t>: Random samples of 150 respondents were chosen for the research through the questionnaires developed to find out the activities in which present-day people are more interested and are involved. </a:t>
            </a:r>
          </a:p>
          <a:p>
            <a:pPr>
              <a:lnSpc>
                <a:spcPct val="106000"/>
              </a:lnSpc>
              <a:spcAft>
                <a:spcPts val="800"/>
              </a:spcAft>
            </a:pPr>
            <a:r>
              <a:rPr lang="en-IN" sz="2500">
                <a:effectLst/>
                <a:latin typeface="ITC Franklin Gothic LT" panose="020B0604020202020204" charset="0"/>
                <a:ea typeface="Calibri" panose="020F0502020204030204" pitchFamily="34" charset="0"/>
                <a:cs typeface="Times New Roman" panose="02020603050405020304" pitchFamily="18" charset="0"/>
              </a:rPr>
              <a:t>• </a:t>
            </a:r>
            <a:r>
              <a:rPr lang="en-IN" sz="2500" b="1">
                <a:effectLst/>
                <a:latin typeface="ITC Franklin Gothic LT" panose="020B0604020202020204" charset="0"/>
                <a:ea typeface="Calibri" panose="020F0502020204030204" pitchFamily="34" charset="0"/>
                <a:cs typeface="Times New Roman" panose="02020603050405020304" pitchFamily="18" charset="0"/>
              </a:rPr>
              <a:t>Tools and Technique of Analysis</a:t>
            </a:r>
            <a:r>
              <a:rPr lang="en-IN" sz="2500">
                <a:effectLst/>
                <a:latin typeface="ITC Franklin Gothic LT" panose="020B0604020202020204" charset="0"/>
                <a:ea typeface="Calibri" panose="020F0502020204030204" pitchFamily="34" charset="0"/>
                <a:cs typeface="Times New Roman" panose="02020603050405020304" pitchFamily="18" charset="0"/>
              </a:rPr>
              <a:t>: The analysis done for the data obtained by the technique of random sampling is primarily descriptive in nature.</a:t>
            </a:r>
          </a:p>
          <a:p>
            <a:pPr>
              <a:lnSpc>
                <a:spcPct val="106000"/>
              </a:lnSpc>
              <a:spcAft>
                <a:spcPts val="800"/>
              </a:spcAft>
            </a:pPr>
            <a:r>
              <a:rPr lang="en-IN" sz="2500">
                <a:effectLst/>
                <a:latin typeface="ITC Franklin Gothic LT" panose="020B0604020202020204" charset="0"/>
                <a:ea typeface="Calibri" panose="020F0502020204030204" pitchFamily="34" charset="0"/>
                <a:cs typeface="Times New Roman" panose="02020603050405020304" pitchFamily="18" charset="0"/>
              </a:rPr>
              <a:t> • </a:t>
            </a:r>
            <a:r>
              <a:rPr lang="en-IN" sz="2500" b="1">
                <a:effectLst/>
                <a:latin typeface="ITC Franklin Gothic LT" panose="020B0604020202020204" charset="0"/>
                <a:ea typeface="Calibri" panose="020F0502020204030204" pitchFamily="34" charset="0"/>
                <a:cs typeface="Times New Roman" panose="02020603050405020304" pitchFamily="18" charset="0"/>
              </a:rPr>
              <a:t>Source of data:</a:t>
            </a:r>
            <a:r>
              <a:rPr lang="en-IN" sz="2500">
                <a:effectLst/>
                <a:latin typeface="ITC Franklin Gothic LT" panose="020B0604020202020204" charset="0"/>
                <a:ea typeface="Calibri" panose="020F0502020204030204" pitchFamily="34" charset="0"/>
                <a:cs typeface="Times New Roman" panose="02020603050405020304" pitchFamily="18" charset="0"/>
              </a:rPr>
              <a:t> </a:t>
            </a:r>
          </a:p>
          <a:p>
            <a:pPr>
              <a:lnSpc>
                <a:spcPct val="106000"/>
              </a:lnSpc>
              <a:spcAft>
                <a:spcPts val="800"/>
              </a:spcAft>
            </a:pPr>
            <a:r>
              <a:rPr lang="en-IN" sz="2500">
                <a:effectLst/>
                <a:latin typeface="ITC Franklin Gothic LT" panose="020B0604020202020204" charset="0"/>
                <a:ea typeface="Calibri" panose="020F0502020204030204" pitchFamily="34" charset="0"/>
                <a:cs typeface="Times New Roman" panose="02020603050405020304" pitchFamily="18" charset="0"/>
              </a:rPr>
              <a:t>1. Primary Data: The data, that has been collected for the first time and is original, is primary data. In this project, the primary data is in the form of a structured questionnaire. </a:t>
            </a:r>
          </a:p>
          <a:p>
            <a:pPr>
              <a:lnSpc>
                <a:spcPct val="106000"/>
              </a:lnSpc>
              <a:spcAft>
                <a:spcPts val="800"/>
              </a:spcAft>
            </a:pPr>
            <a:r>
              <a:rPr lang="en-IN" sz="2500">
                <a:effectLst/>
                <a:latin typeface="ITC Franklin Gothic LT" panose="020B0604020202020204" charset="0"/>
                <a:ea typeface="Calibri" panose="020F0502020204030204" pitchFamily="34" charset="0"/>
                <a:cs typeface="Times New Roman" panose="02020603050405020304" pitchFamily="18" charset="0"/>
              </a:rPr>
              <a:t>2. Secondary Data: The secondary information is mostly taken from websites, books, journals, and magazines. </a:t>
            </a:r>
          </a:p>
          <a:p>
            <a:pPr>
              <a:lnSpc>
                <a:spcPct val="106000"/>
              </a:lnSpc>
              <a:spcAft>
                <a:spcPts val="800"/>
              </a:spcAft>
            </a:pPr>
            <a:endParaRPr lang="en-IN" sz="2500">
              <a:latin typeface="ITC Franklin Gothic LT" panose="020B0604020202020204" charset="0"/>
              <a:ea typeface="Calibri" panose="020F0502020204030204" pitchFamily="34" charset="0"/>
              <a:cs typeface="Times New Roman" panose="02020603050405020304" pitchFamily="18" charset="0"/>
            </a:endParaRPr>
          </a:p>
          <a:p>
            <a:pPr>
              <a:lnSpc>
                <a:spcPct val="106000"/>
              </a:lnSpc>
              <a:spcAft>
                <a:spcPts val="800"/>
              </a:spcAft>
            </a:pPr>
            <a:endParaRPr lang="en-IN" sz="16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43205381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7EF"/>
        </a:solidFill>
        <a:effectLst/>
      </p:bgPr>
    </p:bg>
    <p:spTree>
      <p:nvGrpSpPr>
        <p:cNvPr id="1" name="">
          <a:extLst>
            <a:ext uri="{FF2B5EF4-FFF2-40B4-BE49-F238E27FC236}">
              <a16:creationId xmlns:a16="http://schemas.microsoft.com/office/drawing/2014/main" id="{AC265427-70A7-12B9-B317-2D26509F561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E73BD8A-8411-844C-FECE-E087C6AC3FCF}"/>
              </a:ext>
            </a:extLst>
          </p:cNvPr>
          <p:cNvGrpSpPr/>
          <p:nvPr/>
        </p:nvGrpSpPr>
        <p:grpSpPr>
          <a:xfrm>
            <a:off x="-557510" y="9053545"/>
            <a:ext cx="19403020" cy="2466909"/>
            <a:chOff x="0" y="0"/>
            <a:chExt cx="5110260" cy="649721"/>
          </a:xfrm>
        </p:grpSpPr>
        <p:sp>
          <p:nvSpPr>
            <p:cNvPr id="3" name="Freeform 3">
              <a:extLst>
                <a:ext uri="{FF2B5EF4-FFF2-40B4-BE49-F238E27FC236}">
                  <a16:creationId xmlns:a16="http://schemas.microsoft.com/office/drawing/2014/main" id="{9D9B366D-129B-67DA-CE6C-F954FE442AC6}"/>
                </a:ext>
              </a:extLst>
            </p:cNvPr>
            <p:cNvSpPr/>
            <p:nvPr/>
          </p:nvSpPr>
          <p:spPr>
            <a:xfrm>
              <a:off x="0" y="0"/>
              <a:ext cx="5110261" cy="649721"/>
            </a:xfrm>
            <a:custGeom>
              <a:avLst/>
              <a:gdLst/>
              <a:ahLst/>
              <a:cxnLst/>
              <a:rect l="l" t="t" r="r" b="b"/>
              <a:pathLst>
                <a:path w="5110261" h="649721">
                  <a:moveTo>
                    <a:pt x="0" y="0"/>
                  </a:moveTo>
                  <a:lnTo>
                    <a:pt x="5110261" y="0"/>
                  </a:lnTo>
                  <a:lnTo>
                    <a:pt x="5110261" y="649721"/>
                  </a:lnTo>
                  <a:lnTo>
                    <a:pt x="0" y="649721"/>
                  </a:lnTo>
                  <a:close/>
                </a:path>
              </a:pathLst>
            </a:custGeom>
            <a:solidFill>
              <a:srgbClr val="8DAFA8"/>
            </a:solidFill>
          </p:spPr>
        </p:sp>
        <p:sp>
          <p:nvSpPr>
            <p:cNvPr id="4" name="TextBox 4">
              <a:extLst>
                <a:ext uri="{FF2B5EF4-FFF2-40B4-BE49-F238E27FC236}">
                  <a16:creationId xmlns:a16="http://schemas.microsoft.com/office/drawing/2014/main" id="{C0827852-0E27-9C8A-311E-133FF9D5C656}"/>
                </a:ext>
              </a:extLst>
            </p:cNvPr>
            <p:cNvSpPr txBox="1"/>
            <p:nvPr/>
          </p:nvSpPr>
          <p:spPr>
            <a:xfrm>
              <a:off x="0" y="-47625"/>
              <a:ext cx="5110260" cy="697346"/>
            </a:xfrm>
            <a:prstGeom prst="rect">
              <a:avLst/>
            </a:prstGeom>
          </p:spPr>
          <p:txBody>
            <a:bodyPr lIns="50800" tIns="50800" rIns="50800" bIns="50800" rtlCol="0" anchor="ctr"/>
            <a:lstStyle/>
            <a:p>
              <a:pPr algn="ctr">
                <a:lnSpc>
                  <a:spcPts val="2659"/>
                </a:lnSpc>
              </a:pPr>
              <a:endParaRPr/>
            </a:p>
          </p:txBody>
        </p:sp>
      </p:grpSp>
      <p:sp>
        <p:nvSpPr>
          <p:cNvPr id="26" name="AutoShape 26">
            <a:extLst>
              <a:ext uri="{FF2B5EF4-FFF2-40B4-BE49-F238E27FC236}">
                <a16:creationId xmlns:a16="http://schemas.microsoft.com/office/drawing/2014/main" id="{0E210311-7223-E7D0-3463-2C403D3F0FB0}"/>
              </a:ext>
            </a:extLst>
          </p:cNvPr>
          <p:cNvSpPr/>
          <p:nvPr/>
        </p:nvSpPr>
        <p:spPr>
          <a:xfrm>
            <a:off x="10820400" y="2036991"/>
            <a:ext cx="6116868" cy="0"/>
          </a:xfrm>
          <a:prstGeom prst="line">
            <a:avLst/>
          </a:prstGeom>
          <a:ln w="47625" cap="rnd">
            <a:solidFill>
              <a:srgbClr val="8DAFA8"/>
            </a:solidFill>
            <a:prstDash val="lgDash"/>
            <a:headEnd type="none" w="sm" len="sm"/>
            <a:tailEnd type="oval" w="lg" len="lg"/>
          </a:ln>
        </p:spPr>
      </p:sp>
      <p:sp>
        <p:nvSpPr>
          <p:cNvPr id="8" name="TextBox 7">
            <a:extLst>
              <a:ext uri="{FF2B5EF4-FFF2-40B4-BE49-F238E27FC236}">
                <a16:creationId xmlns:a16="http://schemas.microsoft.com/office/drawing/2014/main" id="{3CB9A60F-7938-676E-2036-29D46B05FD5A}"/>
              </a:ext>
            </a:extLst>
          </p:cNvPr>
          <p:cNvSpPr txBox="1"/>
          <p:nvPr/>
        </p:nvSpPr>
        <p:spPr>
          <a:xfrm>
            <a:off x="10668000" y="119506"/>
            <a:ext cx="9701938" cy="2089803"/>
          </a:xfrm>
          <a:prstGeom prst="rect">
            <a:avLst/>
          </a:prstGeom>
          <a:noFill/>
        </p:spPr>
        <p:txBody>
          <a:bodyPr wrap="square">
            <a:spAutoFit/>
          </a:bodyPr>
          <a:lstStyle/>
          <a:p>
            <a:r>
              <a:rPr lang="en-US" sz="12980">
                <a:solidFill>
                  <a:srgbClr val="996633"/>
                </a:solidFill>
                <a:latin typeface="League Gothic" panose="020B0604020202020204" charset="0"/>
              </a:rPr>
              <a:t> Methodology</a:t>
            </a:r>
            <a:endParaRPr lang="en-IN" sz="12980"/>
          </a:p>
        </p:txBody>
      </p:sp>
      <p:sp>
        <p:nvSpPr>
          <p:cNvPr id="6" name="TextBox 5">
            <a:extLst>
              <a:ext uri="{FF2B5EF4-FFF2-40B4-BE49-F238E27FC236}">
                <a16:creationId xmlns:a16="http://schemas.microsoft.com/office/drawing/2014/main" id="{0D9930C1-47FE-19C7-6714-5B93B99BAF6B}"/>
              </a:ext>
            </a:extLst>
          </p:cNvPr>
          <p:cNvSpPr txBox="1"/>
          <p:nvPr/>
        </p:nvSpPr>
        <p:spPr>
          <a:xfrm>
            <a:off x="1849464" y="2251785"/>
            <a:ext cx="13661756" cy="2725041"/>
          </a:xfrm>
          <a:prstGeom prst="rect">
            <a:avLst/>
          </a:prstGeom>
          <a:noFill/>
        </p:spPr>
        <p:txBody>
          <a:bodyPr wrap="square">
            <a:spAutoFit/>
          </a:bodyPr>
          <a:lstStyle/>
          <a:p>
            <a:pPr>
              <a:lnSpc>
                <a:spcPct val="106000"/>
              </a:lnSpc>
              <a:spcAft>
                <a:spcPts val="800"/>
              </a:spcAft>
            </a:pPr>
            <a:r>
              <a:rPr lang="en-IN" sz="2500" b="1">
                <a:effectLst/>
                <a:latin typeface="ITC Franklin Gothic LT" panose="020B0604020202020204" charset="0"/>
                <a:ea typeface="Calibri" panose="020F0502020204030204" pitchFamily="34" charset="0"/>
                <a:cs typeface="Times New Roman" panose="02020603050405020304" pitchFamily="18" charset="0"/>
              </a:rPr>
              <a:t>DIAGRAMATIC REPRESENTATAION:</a:t>
            </a:r>
            <a:endParaRPr lang="en-IN" sz="2500">
              <a:effectLst/>
              <a:latin typeface="ITC Franklin Gothic LT" panose="020B0604020202020204" charset="0"/>
              <a:ea typeface="Calibri" panose="020F0502020204030204" pitchFamily="34" charset="0"/>
              <a:cs typeface="Times New Roman" panose="02020603050405020304" pitchFamily="18" charset="0"/>
            </a:endParaRPr>
          </a:p>
          <a:p>
            <a:pPr>
              <a:lnSpc>
                <a:spcPct val="106000"/>
              </a:lnSpc>
              <a:spcAft>
                <a:spcPts val="800"/>
              </a:spcAft>
            </a:pPr>
            <a:r>
              <a:rPr lang="en-IN" sz="2500" b="1">
                <a:effectLst/>
                <a:latin typeface="ITC Franklin Gothic LT" panose="020B0604020202020204" charset="0"/>
                <a:ea typeface="Calibri" panose="020F0502020204030204" pitchFamily="34" charset="0"/>
                <a:cs typeface="Times New Roman" panose="02020603050405020304" pitchFamily="18" charset="0"/>
              </a:rPr>
              <a:t> Bar Diagram:</a:t>
            </a:r>
            <a:r>
              <a:rPr lang="en-IN" sz="2500">
                <a:effectLst/>
                <a:latin typeface="ITC Franklin Gothic LT" panose="020B0604020202020204" charset="0"/>
                <a:ea typeface="Calibri" panose="020F0502020204030204" pitchFamily="34" charset="0"/>
                <a:cs typeface="Times New Roman" panose="02020603050405020304" pitchFamily="18" charset="0"/>
              </a:rPr>
              <a:t> A bar graph is a chart that uses bars to show comparisons between categories of data. The bars can be either horizontal or vertical. Bar graphs with vertical bars are sometimes called vertical bar graphs. </a:t>
            </a:r>
          </a:p>
          <a:p>
            <a:pPr>
              <a:lnSpc>
                <a:spcPct val="106000"/>
              </a:lnSpc>
              <a:spcAft>
                <a:spcPts val="800"/>
              </a:spcAft>
            </a:pPr>
            <a:r>
              <a:rPr lang="en-IN" sz="2500" b="1">
                <a:effectLst/>
                <a:latin typeface="ITC Franklin Gothic LT" panose="020B0604020202020204" charset="0"/>
                <a:ea typeface="Calibri" panose="020F0502020204030204" pitchFamily="34" charset="0"/>
                <a:cs typeface="Times New Roman" panose="02020603050405020304" pitchFamily="18" charset="0"/>
              </a:rPr>
              <a:t>Pie chart:</a:t>
            </a:r>
            <a:r>
              <a:rPr lang="en-IN" sz="2500">
                <a:effectLst/>
                <a:latin typeface="ITC Franklin Gothic LT" panose="020B0604020202020204" charset="0"/>
                <a:ea typeface="Calibri" panose="020F0502020204030204" pitchFamily="34" charset="0"/>
                <a:cs typeface="Times New Roman" panose="02020603050405020304" pitchFamily="18" charset="0"/>
              </a:rPr>
              <a:t> A pie chart is a circular chart divided into sectors; each sector shows the relative size of each value</a:t>
            </a:r>
          </a:p>
        </p:txBody>
      </p:sp>
      <p:pic>
        <p:nvPicPr>
          <p:cNvPr id="12" name="Picture 11">
            <a:extLst>
              <a:ext uri="{FF2B5EF4-FFF2-40B4-BE49-F238E27FC236}">
                <a16:creationId xmlns:a16="http://schemas.microsoft.com/office/drawing/2014/main" id="{99D2CAFF-6E80-AA25-0E93-E705967665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6000" y="4972306"/>
            <a:ext cx="3810000" cy="3810000"/>
          </a:xfrm>
          <a:prstGeom prst="rect">
            <a:avLst/>
          </a:prstGeom>
        </p:spPr>
      </p:pic>
      <p:pic>
        <p:nvPicPr>
          <p:cNvPr id="14" name="Picture 13">
            <a:extLst>
              <a:ext uri="{FF2B5EF4-FFF2-40B4-BE49-F238E27FC236}">
                <a16:creationId xmlns:a16="http://schemas.microsoft.com/office/drawing/2014/main" id="{C6B7CB6B-E7DB-4F8D-792B-B09B2F3720F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28074" y="5067239"/>
            <a:ext cx="3810000" cy="3810000"/>
          </a:xfrm>
          <a:prstGeom prst="rect">
            <a:avLst/>
          </a:prstGeom>
        </p:spPr>
      </p:pic>
    </p:spTree>
    <p:extLst>
      <p:ext uri="{BB962C8B-B14F-4D97-AF65-F5344CB8AC3E}">
        <p14:creationId xmlns:p14="http://schemas.microsoft.com/office/powerpoint/2010/main" val="103431312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7EF"/>
        </a:solidFill>
        <a:effectLst/>
      </p:bgPr>
    </p:bg>
    <p:spTree>
      <p:nvGrpSpPr>
        <p:cNvPr id="1" name="">
          <a:extLst>
            <a:ext uri="{FF2B5EF4-FFF2-40B4-BE49-F238E27FC236}">
              <a16:creationId xmlns:a16="http://schemas.microsoft.com/office/drawing/2014/main" id="{2B1DCC48-533E-E40F-800A-F51754F13B4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C859FB4-7017-9AAF-6CD4-2A581FA90918}"/>
              </a:ext>
            </a:extLst>
          </p:cNvPr>
          <p:cNvGrpSpPr/>
          <p:nvPr/>
        </p:nvGrpSpPr>
        <p:grpSpPr>
          <a:xfrm>
            <a:off x="-557510" y="9053545"/>
            <a:ext cx="19403020" cy="2466909"/>
            <a:chOff x="0" y="0"/>
            <a:chExt cx="5110260" cy="649721"/>
          </a:xfrm>
        </p:grpSpPr>
        <p:sp>
          <p:nvSpPr>
            <p:cNvPr id="3" name="Freeform 3">
              <a:extLst>
                <a:ext uri="{FF2B5EF4-FFF2-40B4-BE49-F238E27FC236}">
                  <a16:creationId xmlns:a16="http://schemas.microsoft.com/office/drawing/2014/main" id="{F219F46B-D812-9354-2429-0CBF463F170E}"/>
                </a:ext>
              </a:extLst>
            </p:cNvPr>
            <p:cNvSpPr/>
            <p:nvPr/>
          </p:nvSpPr>
          <p:spPr>
            <a:xfrm>
              <a:off x="0" y="0"/>
              <a:ext cx="5110261" cy="649721"/>
            </a:xfrm>
            <a:custGeom>
              <a:avLst/>
              <a:gdLst/>
              <a:ahLst/>
              <a:cxnLst/>
              <a:rect l="l" t="t" r="r" b="b"/>
              <a:pathLst>
                <a:path w="5110261" h="649721">
                  <a:moveTo>
                    <a:pt x="0" y="0"/>
                  </a:moveTo>
                  <a:lnTo>
                    <a:pt x="5110261" y="0"/>
                  </a:lnTo>
                  <a:lnTo>
                    <a:pt x="5110261" y="649721"/>
                  </a:lnTo>
                  <a:lnTo>
                    <a:pt x="0" y="649721"/>
                  </a:lnTo>
                  <a:close/>
                </a:path>
              </a:pathLst>
            </a:custGeom>
            <a:solidFill>
              <a:srgbClr val="8DAFA8"/>
            </a:solidFill>
          </p:spPr>
        </p:sp>
        <p:sp>
          <p:nvSpPr>
            <p:cNvPr id="4" name="TextBox 4">
              <a:extLst>
                <a:ext uri="{FF2B5EF4-FFF2-40B4-BE49-F238E27FC236}">
                  <a16:creationId xmlns:a16="http://schemas.microsoft.com/office/drawing/2014/main" id="{D373CAE5-A9DB-4E28-857E-8AA7E4F6CAA2}"/>
                </a:ext>
              </a:extLst>
            </p:cNvPr>
            <p:cNvSpPr txBox="1"/>
            <p:nvPr/>
          </p:nvSpPr>
          <p:spPr>
            <a:xfrm>
              <a:off x="0" y="-47625"/>
              <a:ext cx="5110260" cy="697346"/>
            </a:xfrm>
            <a:prstGeom prst="rect">
              <a:avLst/>
            </a:prstGeom>
          </p:spPr>
          <p:txBody>
            <a:bodyPr lIns="50800" tIns="50800" rIns="50800" bIns="50800" rtlCol="0" anchor="ctr"/>
            <a:lstStyle/>
            <a:p>
              <a:pPr algn="ctr">
                <a:lnSpc>
                  <a:spcPts val="2659"/>
                </a:lnSpc>
              </a:pPr>
              <a:endParaRPr/>
            </a:p>
          </p:txBody>
        </p:sp>
      </p:grpSp>
      <p:sp>
        <p:nvSpPr>
          <p:cNvPr id="26" name="AutoShape 26">
            <a:extLst>
              <a:ext uri="{FF2B5EF4-FFF2-40B4-BE49-F238E27FC236}">
                <a16:creationId xmlns:a16="http://schemas.microsoft.com/office/drawing/2014/main" id="{23718FFD-5C3A-6950-3D48-B3CF2C117F2C}"/>
              </a:ext>
            </a:extLst>
          </p:cNvPr>
          <p:cNvSpPr/>
          <p:nvPr/>
        </p:nvSpPr>
        <p:spPr>
          <a:xfrm>
            <a:off x="10820400" y="2036991"/>
            <a:ext cx="6116868" cy="0"/>
          </a:xfrm>
          <a:prstGeom prst="line">
            <a:avLst/>
          </a:prstGeom>
          <a:ln w="47625" cap="rnd">
            <a:solidFill>
              <a:srgbClr val="8DAFA8"/>
            </a:solidFill>
            <a:prstDash val="lgDash"/>
            <a:headEnd type="none" w="sm" len="sm"/>
            <a:tailEnd type="oval" w="lg" len="lg"/>
          </a:ln>
        </p:spPr>
      </p:sp>
      <p:sp>
        <p:nvSpPr>
          <p:cNvPr id="8" name="TextBox 7">
            <a:extLst>
              <a:ext uri="{FF2B5EF4-FFF2-40B4-BE49-F238E27FC236}">
                <a16:creationId xmlns:a16="http://schemas.microsoft.com/office/drawing/2014/main" id="{2AC0FA20-E2E9-092F-8CC5-6EB2AD6F513B}"/>
              </a:ext>
            </a:extLst>
          </p:cNvPr>
          <p:cNvSpPr txBox="1"/>
          <p:nvPr/>
        </p:nvSpPr>
        <p:spPr>
          <a:xfrm>
            <a:off x="10668000" y="119506"/>
            <a:ext cx="9701938" cy="2089803"/>
          </a:xfrm>
          <a:prstGeom prst="rect">
            <a:avLst/>
          </a:prstGeom>
          <a:noFill/>
        </p:spPr>
        <p:txBody>
          <a:bodyPr wrap="square">
            <a:spAutoFit/>
          </a:bodyPr>
          <a:lstStyle/>
          <a:p>
            <a:r>
              <a:rPr lang="en-US" sz="12980">
                <a:solidFill>
                  <a:srgbClr val="996633"/>
                </a:solidFill>
                <a:latin typeface="League Gothic" panose="020B0604020202020204" charset="0"/>
              </a:rPr>
              <a:t> Methodology</a:t>
            </a:r>
            <a:endParaRPr lang="en-IN" sz="12980"/>
          </a:p>
        </p:txBody>
      </p:sp>
      <p:sp>
        <p:nvSpPr>
          <p:cNvPr id="6" name="TextBox 5">
            <a:extLst>
              <a:ext uri="{FF2B5EF4-FFF2-40B4-BE49-F238E27FC236}">
                <a16:creationId xmlns:a16="http://schemas.microsoft.com/office/drawing/2014/main" id="{5A139535-D397-5A2D-7AEA-0E155769DF18}"/>
              </a:ext>
            </a:extLst>
          </p:cNvPr>
          <p:cNvSpPr txBox="1"/>
          <p:nvPr/>
        </p:nvSpPr>
        <p:spPr>
          <a:xfrm>
            <a:off x="1613115" y="1745960"/>
            <a:ext cx="16687800" cy="7578485"/>
          </a:xfrm>
          <a:prstGeom prst="rect">
            <a:avLst/>
          </a:prstGeom>
          <a:noFill/>
        </p:spPr>
        <p:txBody>
          <a:bodyPr wrap="square">
            <a:spAutoFit/>
          </a:bodyPr>
          <a:lstStyle/>
          <a:p>
            <a:pPr>
              <a:lnSpc>
                <a:spcPct val="106000"/>
              </a:lnSpc>
              <a:spcAft>
                <a:spcPts val="800"/>
              </a:spcAft>
            </a:pPr>
            <a:r>
              <a:rPr lang="en-IN" sz="2400" b="1">
                <a:effectLst/>
                <a:latin typeface="ITC Franklin Gothic LT" panose="020B0604020202020204" charset="0"/>
                <a:ea typeface="Calibri" panose="020F0502020204030204" pitchFamily="34" charset="0"/>
                <a:cs typeface="Times New Roman" panose="02020603050405020304" pitchFamily="18" charset="0"/>
              </a:rPr>
              <a:t>DATA TYPE</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a:lnSpc>
                <a:spcPct val="106000"/>
              </a:lnSpc>
              <a:spcAft>
                <a:spcPts val="800"/>
              </a:spcAft>
            </a:pPr>
            <a:r>
              <a:rPr lang="en-IN" sz="2400">
                <a:effectLst/>
                <a:latin typeface="ITC Franklin Gothic LT" panose="020B0604020202020204" charset="0"/>
                <a:ea typeface="Calibri" panose="020F0502020204030204" pitchFamily="34" charset="0"/>
                <a:cs typeface="Times New Roman" panose="02020603050405020304" pitchFamily="18" charset="0"/>
              </a:rPr>
              <a:t> </a:t>
            </a:r>
            <a:r>
              <a:rPr lang="en-IN" sz="2400" b="1">
                <a:effectLst/>
                <a:latin typeface="ITC Franklin Gothic LT" panose="020B0604020202020204" charset="0"/>
                <a:ea typeface="Calibri" panose="020F0502020204030204" pitchFamily="34" charset="0"/>
                <a:cs typeface="Times New Roman" panose="02020603050405020304" pitchFamily="18" charset="0"/>
              </a:rPr>
              <a:t>Data: </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a:lnSpc>
                <a:spcPct val="106000"/>
              </a:lnSpc>
              <a:spcAft>
                <a:spcPts val="800"/>
              </a:spcAft>
            </a:pPr>
            <a:r>
              <a:rPr lang="en-IN" sz="2400">
                <a:effectLst/>
                <a:latin typeface="ITC Franklin Gothic LT" panose="020B0604020202020204" charset="0"/>
                <a:ea typeface="Calibri" panose="020F0502020204030204" pitchFamily="34" charset="0"/>
                <a:cs typeface="Times New Roman" panose="02020603050405020304" pitchFamily="18" charset="0"/>
              </a:rPr>
              <a:t>The data used in the study is primary data. The primary data for the research project was acquired through questionnaires and the secondary sources of information were magazines, publications, and the Internet. The primary data was further studied using the chi-square test of independence between the attributes in the questionnaires.</a:t>
            </a:r>
          </a:p>
          <a:p>
            <a:pPr>
              <a:lnSpc>
                <a:spcPct val="106000"/>
              </a:lnSpc>
              <a:spcAft>
                <a:spcPts val="800"/>
              </a:spcAft>
            </a:pPr>
            <a:r>
              <a:rPr lang="en-IN" sz="2400" b="1">
                <a:effectLst/>
                <a:latin typeface="ITC Franklin Gothic LT" panose="020B0604020202020204" charset="0"/>
                <a:ea typeface="Calibri" panose="020F0502020204030204" pitchFamily="34" charset="0"/>
                <a:cs typeface="Times New Roman" panose="02020603050405020304" pitchFamily="18" charset="0"/>
              </a:rPr>
              <a:t> Mode of data collection:</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a:lnSpc>
                <a:spcPct val="106000"/>
              </a:lnSpc>
              <a:spcAft>
                <a:spcPts val="800"/>
              </a:spcAft>
            </a:pPr>
            <a:r>
              <a:rPr lang="en-IN" sz="2400">
                <a:effectLst/>
                <a:latin typeface="ITC Franklin Gothic LT" panose="020B0604020202020204" charset="0"/>
                <a:ea typeface="Calibri" panose="020F0502020204030204" pitchFamily="34" charset="0"/>
                <a:cs typeface="Times New Roman" panose="02020603050405020304" pitchFamily="18" charset="0"/>
              </a:rPr>
              <a:t> Data is collected through the questionnaire method. </a:t>
            </a:r>
          </a:p>
          <a:p>
            <a:pPr>
              <a:lnSpc>
                <a:spcPct val="106000"/>
              </a:lnSpc>
              <a:spcAft>
                <a:spcPts val="800"/>
              </a:spcAft>
            </a:pPr>
            <a:r>
              <a:rPr lang="en-IN" sz="2400" b="1">
                <a:effectLst/>
                <a:latin typeface="ITC Franklin Gothic LT" panose="020B0604020202020204" charset="0"/>
                <a:ea typeface="Calibri" panose="020F0502020204030204" pitchFamily="34" charset="0"/>
                <a:cs typeface="Times New Roman" panose="02020603050405020304" pitchFamily="18" charset="0"/>
              </a:rPr>
              <a:t>Questionnaire: </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a:lnSpc>
                <a:spcPct val="106000"/>
              </a:lnSpc>
              <a:spcAft>
                <a:spcPts val="800"/>
              </a:spcAft>
            </a:pPr>
            <a:r>
              <a:rPr lang="en-IN" sz="2400">
                <a:effectLst/>
                <a:latin typeface="ITC Franklin Gothic LT" panose="020B0604020202020204" charset="0"/>
                <a:ea typeface="Calibri" panose="020F0502020204030204" pitchFamily="34" charset="0"/>
                <a:cs typeface="Times New Roman" panose="02020603050405020304" pitchFamily="18" charset="0"/>
              </a:rPr>
              <a:t>The questionnaire was formed with care ensuring that it is clear, brief nonambiguous, and with non-offending statements. </a:t>
            </a:r>
          </a:p>
          <a:p>
            <a:pPr>
              <a:lnSpc>
                <a:spcPct val="106000"/>
              </a:lnSpc>
              <a:spcAft>
                <a:spcPts val="800"/>
              </a:spcAft>
            </a:pPr>
            <a:r>
              <a:rPr lang="en-IN" sz="2400" b="1">
                <a:effectLst/>
                <a:latin typeface="ITC Franklin Gothic LT" panose="020B0604020202020204" charset="0"/>
                <a:ea typeface="Calibri" panose="020F0502020204030204" pitchFamily="34" charset="0"/>
                <a:cs typeface="Times New Roman" panose="02020603050405020304" pitchFamily="18" charset="0"/>
              </a:rPr>
              <a:t>Population: </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a:lnSpc>
                <a:spcPct val="106000"/>
              </a:lnSpc>
              <a:spcAft>
                <a:spcPts val="800"/>
              </a:spcAft>
            </a:pPr>
            <a:r>
              <a:rPr lang="en-IN" sz="2400">
                <a:effectLst/>
                <a:latin typeface="ITC Franklin Gothic LT" panose="020B0604020202020204" charset="0"/>
                <a:ea typeface="Calibri" panose="020F0502020204030204" pitchFamily="34" charset="0"/>
                <a:cs typeface="Times New Roman" panose="02020603050405020304" pitchFamily="18" charset="0"/>
              </a:rPr>
              <a:t>The population considered for study is the population of 18 years and above.</a:t>
            </a:r>
          </a:p>
          <a:p>
            <a:pPr>
              <a:lnSpc>
                <a:spcPct val="106000"/>
              </a:lnSpc>
              <a:spcAft>
                <a:spcPts val="800"/>
              </a:spcAft>
            </a:pPr>
            <a:r>
              <a:rPr lang="en-IN" sz="2400" b="1">
                <a:effectLst/>
                <a:latin typeface="ITC Franklin Gothic LT" panose="020B0604020202020204" charset="0"/>
                <a:ea typeface="Calibri" panose="020F0502020204030204" pitchFamily="34" charset="0"/>
                <a:cs typeface="Times New Roman" panose="02020603050405020304" pitchFamily="18" charset="0"/>
              </a:rPr>
              <a:t> Sample: </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a:lnSpc>
                <a:spcPct val="106000"/>
              </a:lnSpc>
              <a:spcAft>
                <a:spcPts val="800"/>
              </a:spcAft>
            </a:pPr>
            <a:r>
              <a:rPr lang="en-IN" sz="2400">
                <a:effectLst/>
                <a:latin typeface="ITC Franklin Gothic LT" panose="020B0604020202020204" charset="0"/>
                <a:ea typeface="Calibri" panose="020F0502020204030204" pitchFamily="34" charset="0"/>
                <a:cs typeface="Times New Roman" panose="02020603050405020304" pitchFamily="18" charset="0"/>
              </a:rPr>
              <a:t>A sample of 150 people was taken from various families in Hyderabad. </a:t>
            </a:r>
          </a:p>
          <a:p>
            <a:pPr>
              <a:lnSpc>
                <a:spcPct val="106000"/>
              </a:lnSpc>
              <a:spcAft>
                <a:spcPts val="800"/>
              </a:spcAft>
            </a:pPr>
            <a:r>
              <a:rPr lang="en-IN" sz="2400" b="1">
                <a:effectLst/>
                <a:latin typeface="ITC Franklin Gothic LT" panose="020B0604020202020204" charset="0"/>
                <a:ea typeface="Calibri" panose="020F0502020204030204" pitchFamily="34" charset="0"/>
                <a:cs typeface="Times New Roman" panose="02020603050405020304" pitchFamily="18" charset="0"/>
              </a:rPr>
              <a:t>Data tabulation: </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a:lnSpc>
                <a:spcPct val="106000"/>
              </a:lnSpc>
              <a:spcAft>
                <a:spcPts val="800"/>
              </a:spcAft>
            </a:pPr>
            <a:r>
              <a:rPr lang="en-IN" sz="2400">
                <a:effectLst/>
                <a:latin typeface="ITC Franklin Gothic LT" panose="020B0604020202020204" charset="0"/>
                <a:ea typeface="Calibri" panose="020F0502020204030204" pitchFamily="34" charset="0"/>
                <a:cs typeface="Times New Roman" panose="02020603050405020304" pitchFamily="18" charset="0"/>
              </a:rPr>
              <a:t>The questionnaire was serially numbered, and data was coded and tabulated using SPSS Statistics 26th version. </a:t>
            </a:r>
          </a:p>
          <a:p>
            <a:pPr>
              <a:lnSpc>
                <a:spcPct val="106000"/>
              </a:lnSpc>
              <a:spcAft>
                <a:spcPts val="800"/>
              </a:spcAft>
            </a:pPr>
            <a:r>
              <a:rPr lang="en-IN" sz="180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92315695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7EF"/>
        </a:solidFill>
        <a:effectLst/>
      </p:bgPr>
    </p:bg>
    <p:spTree>
      <p:nvGrpSpPr>
        <p:cNvPr id="1" name="">
          <a:extLst>
            <a:ext uri="{FF2B5EF4-FFF2-40B4-BE49-F238E27FC236}">
              <a16:creationId xmlns:a16="http://schemas.microsoft.com/office/drawing/2014/main" id="{05516941-0E3B-0D01-6E57-F7C3BB27EDC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C5FF65F-C007-96AD-D5B4-8C2C79650553}"/>
              </a:ext>
            </a:extLst>
          </p:cNvPr>
          <p:cNvGrpSpPr/>
          <p:nvPr/>
        </p:nvGrpSpPr>
        <p:grpSpPr>
          <a:xfrm>
            <a:off x="-557510" y="9053545"/>
            <a:ext cx="19403020" cy="2466909"/>
            <a:chOff x="0" y="0"/>
            <a:chExt cx="5110260" cy="649721"/>
          </a:xfrm>
        </p:grpSpPr>
        <p:sp>
          <p:nvSpPr>
            <p:cNvPr id="3" name="Freeform 3">
              <a:extLst>
                <a:ext uri="{FF2B5EF4-FFF2-40B4-BE49-F238E27FC236}">
                  <a16:creationId xmlns:a16="http://schemas.microsoft.com/office/drawing/2014/main" id="{86B78B01-401D-28DD-2FC1-752679865715}"/>
                </a:ext>
              </a:extLst>
            </p:cNvPr>
            <p:cNvSpPr/>
            <p:nvPr/>
          </p:nvSpPr>
          <p:spPr>
            <a:xfrm>
              <a:off x="0" y="0"/>
              <a:ext cx="5110261" cy="649721"/>
            </a:xfrm>
            <a:custGeom>
              <a:avLst/>
              <a:gdLst/>
              <a:ahLst/>
              <a:cxnLst/>
              <a:rect l="l" t="t" r="r" b="b"/>
              <a:pathLst>
                <a:path w="5110261" h="649721">
                  <a:moveTo>
                    <a:pt x="0" y="0"/>
                  </a:moveTo>
                  <a:lnTo>
                    <a:pt x="5110261" y="0"/>
                  </a:lnTo>
                  <a:lnTo>
                    <a:pt x="5110261" y="649721"/>
                  </a:lnTo>
                  <a:lnTo>
                    <a:pt x="0" y="649721"/>
                  </a:lnTo>
                  <a:close/>
                </a:path>
              </a:pathLst>
            </a:custGeom>
            <a:solidFill>
              <a:srgbClr val="8DAFA8"/>
            </a:solidFill>
          </p:spPr>
        </p:sp>
        <p:sp>
          <p:nvSpPr>
            <p:cNvPr id="4" name="TextBox 4">
              <a:extLst>
                <a:ext uri="{FF2B5EF4-FFF2-40B4-BE49-F238E27FC236}">
                  <a16:creationId xmlns:a16="http://schemas.microsoft.com/office/drawing/2014/main" id="{87162F38-8103-6CDF-1A95-977AE26C47BD}"/>
                </a:ext>
              </a:extLst>
            </p:cNvPr>
            <p:cNvSpPr txBox="1"/>
            <p:nvPr/>
          </p:nvSpPr>
          <p:spPr>
            <a:xfrm>
              <a:off x="0" y="-47625"/>
              <a:ext cx="5110260" cy="697346"/>
            </a:xfrm>
            <a:prstGeom prst="rect">
              <a:avLst/>
            </a:prstGeom>
          </p:spPr>
          <p:txBody>
            <a:bodyPr lIns="50800" tIns="50800" rIns="50800" bIns="50800" rtlCol="0" anchor="ctr"/>
            <a:lstStyle/>
            <a:p>
              <a:pPr algn="ctr">
                <a:lnSpc>
                  <a:spcPts val="2659"/>
                </a:lnSpc>
              </a:pPr>
              <a:endParaRPr/>
            </a:p>
          </p:txBody>
        </p:sp>
      </p:grpSp>
      <p:sp>
        <p:nvSpPr>
          <p:cNvPr id="26" name="AutoShape 26">
            <a:extLst>
              <a:ext uri="{FF2B5EF4-FFF2-40B4-BE49-F238E27FC236}">
                <a16:creationId xmlns:a16="http://schemas.microsoft.com/office/drawing/2014/main" id="{75B30176-5628-20A0-2A37-E798B210ABA5}"/>
              </a:ext>
            </a:extLst>
          </p:cNvPr>
          <p:cNvSpPr/>
          <p:nvPr/>
        </p:nvSpPr>
        <p:spPr>
          <a:xfrm>
            <a:off x="10820400" y="2036991"/>
            <a:ext cx="6116868" cy="0"/>
          </a:xfrm>
          <a:prstGeom prst="line">
            <a:avLst/>
          </a:prstGeom>
          <a:ln w="47625" cap="rnd">
            <a:solidFill>
              <a:srgbClr val="8DAFA8"/>
            </a:solidFill>
            <a:prstDash val="lgDash"/>
            <a:headEnd type="none" w="sm" len="sm"/>
            <a:tailEnd type="oval" w="lg" len="lg"/>
          </a:ln>
        </p:spPr>
      </p:sp>
      <p:sp>
        <p:nvSpPr>
          <p:cNvPr id="8" name="TextBox 7">
            <a:extLst>
              <a:ext uri="{FF2B5EF4-FFF2-40B4-BE49-F238E27FC236}">
                <a16:creationId xmlns:a16="http://schemas.microsoft.com/office/drawing/2014/main" id="{281DE6A0-0AC1-2837-0B36-FC6A6C6DA1F3}"/>
              </a:ext>
            </a:extLst>
          </p:cNvPr>
          <p:cNvSpPr txBox="1"/>
          <p:nvPr/>
        </p:nvSpPr>
        <p:spPr>
          <a:xfrm>
            <a:off x="10668000" y="119506"/>
            <a:ext cx="9701938" cy="2089803"/>
          </a:xfrm>
          <a:prstGeom prst="rect">
            <a:avLst/>
          </a:prstGeom>
          <a:noFill/>
        </p:spPr>
        <p:txBody>
          <a:bodyPr wrap="square">
            <a:spAutoFit/>
          </a:bodyPr>
          <a:lstStyle/>
          <a:p>
            <a:r>
              <a:rPr lang="en-US" sz="12980">
                <a:solidFill>
                  <a:srgbClr val="996633"/>
                </a:solidFill>
                <a:latin typeface="League Gothic" panose="020B0604020202020204" charset="0"/>
              </a:rPr>
              <a:t> Methodology</a:t>
            </a:r>
            <a:endParaRPr lang="en-IN" sz="1298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C667B22-1E0D-0A15-4353-92E77A8FB85E}"/>
                  </a:ext>
                </a:extLst>
              </p:cNvPr>
              <p:cNvSpPr txBox="1"/>
              <p:nvPr/>
            </p:nvSpPr>
            <p:spPr>
              <a:xfrm>
                <a:off x="1318444" y="1938064"/>
                <a:ext cx="16687800" cy="6934655"/>
              </a:xfrm>
              <a:prstGeom prst="rect">
                <a:avLst/>
              </a:prstGeom>
              <a:noFill/>
            </p:spPr>
            <p:txBody>
              <a:bodyPr wrap="square">
                <a:spAutoFit/>
              </a:bodyPr>
              <a:lstStyle/>
              <a:p>
                <a:pPr>
                  <a:lnSpc>
                    <a:spcPct val="106000"/>
                  </a:lnSpc>
                  <a:spcAft>
                    <a:spcPts val="800"/>
                  </a:spcAft>
                </a:pPr>
                <a:r>
                  <a:rPr lang="en-IN" sz="2400" b="1">
                    <a:effectLst/>
                    <a:latin typeface="ITC Franklin Gothic LT" panose="020B0604020202020204" charset="0"/>
                    <a:ea typeface="Calibri" panose="020F0502020204030204" pitchFamily="34" charset="0"/>
                    <a:cs typeface="Times New Roman" panose="02020603050405020304" pitchFamily="18" charset="0"/>
                  </a:rPr>
                  <a:t>Statistical analysis: </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a:lnSpc>
                    <a:spcPct val="106000"/>
                  </a:lnSpc>
                  <a:spcAft>
                    <a:spcPts val="800"/>
                  </a:spcAft>
                </a:pPr>
                <a:r>
                  <a:rPr lang="en-IN" sz="2400">
                    <a:effectLst/>
                    <a:latin typeface="ITC Franklin Gothic LT" panose="020B0604020202020204" charset="0"/>
                    <a:ea typeface="Calibri" panose="020F0502020204030204" pitchFamily="34" charset="0"/>
                    <a:cs typeface="Times New Roman" panose="02020603050405020304" pitchFamily="18" charset="0"/>
                  </a:rPr>
                  <a:t>Analysis was done using the SPSS Statistics 26th version. </a:t>
                </a:r>
              </a:p>
              <a:p>
                <a:pPr>
                  <a:lnSpc>
                    <a:spcPct val="106000"/>
                  </a:lnSpc>
                  <a:spcAft>
                    <a:spcPts val="800"/>
                  </a:spcAft>
                </a:pPr>
                <a:r>
                  <a:rPr lang="en-IN" sz="2400" b="1">
                    <a:effectLst/>
                    <a:latin typeface="ITC Franklin Gothic LT" panose="020B0604020202020204" charset="0"/>
                    <a:ea typeface="Calibri" panose="020F0502020204030204" pitchFamily="34" charset="0"/>
                    <a:cs typeface="Times New Roman" panose="02020603050405020304" pitchFamily="18" charset="0"/>
                  </a:rPr>
                  <a:t> </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a:lnSpc>
                    <a:spcPct val="106000"/>
                  </a:lnSpc>
                  <a:spcAft>
                    <a:spcPts val="800"/>
                  </a:spcAft>
                </a:pPr>
                <a:r>
                  <a:rPr lang="en-IN" sz="2400" b="1">
                    <a:effectLst/>
                    <a:latin typeface="ITC Franklin Gothic LT" panose="020B0604020202020204" charset="0"/>
                    <a:ea typeface="Calibri" panose="020F0502020204030204" pitchFamily="34" charset="0"/>
                    <a:cs typeface="Times New Roman" panose="02020603050405020304" pitchFamily="18" charset="0"/>
                  </a:rPr>
                  <a:t>STATISTICAL TECHNIQUES USED FOR DATA ANALYSIS </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a:lnSpc>
                    <a:spcPct val="106000"/>
                  </a:lnSpc>
                  <a:spcAft>
                    <a:spcPts val="800"/>
                  </a:spcAft>
                </a:pPr>
                <a:r>
                  <a:rPr lang="en-IN" sz="2400" b="1">
                    <a:effectLst/>
                    <a:latin typeface="ITC Franklin Gothic LT" panose="020B0604020202020204" charset="0"/>
                    <a:ea typeface="Calibri" panose="020F0502020204030204" pitchFamily="34" charset="0"/>
                    <a:cs typeface="Times New Roman" panose="02020603050405020304" pitchFamily="18" charset="0"/>
                  </a:rPr>
                  <a:t>Frequency distribution: </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a:lnSpc>
                    <a:spcPct val="106000"/>
                  </a:lnSpc>
                  <a:spcAft>
                    <a:spcPts val="800"/>
                  </a:spcAft>
                </a:pPr>
                <a:r>
                  <a:rPr lang="en-IN" sz="2400">
                    <a:effectLst/>
                    <a:latin typeface="ITC Franklin Gothic LT" panose="020B0604020202020204" charset="0"/>
                    <a:ea typeface="Calibri" panose="020F0502020204030204" pitchFamily="34" charset="0"/>
                    <a:cs typeface="Times New Roman" panose="02020603050405020304" pitchFamily="18" charset="0"/>
                  </a:rPr>
                  <a:t>The most important part of organizing and summarizing statistical data is constructing a frequency distribution table. In this method, classification is done according to quantitative magnitude. </a:t>
                </a:r>
              </a:p>
              <a:p>
                <a:pPr>
                  <a:lnSpc>
                    <a:spcPct val="106000"/>
                  </a:lnSpc>
                  <a:spcAft>
                    <a:spcPts val="800"/>
                  </a:spcAft>
                </a:pPr>
                <a:r>
                  <a:rPr lang="en-IN" sz="2400" b="1">
                    <a:effectLst/>
                    <a:latin typeface="ITC Franklin Gothic LT" panose="020B0604020202020204" charset="0"/>
                    <a:ea typeface="Calibri" panose="020F0502020204030204" pitchFamily="34" charset="0"/>
                    <a:cs typeface="Times New Roman" panose="02020603050405020304" pitchFamily="18" charset="0"/>
                  </a:rPr>
                  <a:t>Chi-square test for independence of attributes: </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a:lnSpc>
                    <a:spcPct val="106000"/>
                  </a:lnSpc>
                  <a:spcAft>
                    <a:spcPts val="800"/>
                  </a:spcAft>
                </a:pPr>
                <a:r>
                  <a:rPr lang="en-IN" sz="2400">
                    <a:effectLst/>
                    <a:latin typeface="ITC Franklin Gothic LT" panose="020B0604020202020204" charset="0"/>
                    <a:ea typeface="Calibri" panose="020F0502020204030204" pitchFamily="34" charset="0"/>
                    <a:cs typeface="Times New Roman" panose="02020603050405020304" pitchFamily="18" charset="0"/>
                  </a:rPr>
                  <a:t>The chi-square test is used to test the independence of attributes. With the help of this test, it is possible to assess the significance of the difference between the observed and expected frequencies. </a:t>
                </a:r>
              </a:p>
              <a:p>
                <a:pPr>
                  <a:lnSpc>
                    <a:spcPct val="106000"/>
                  </a:lnSpc>
                  <a:spcAft>
                    <a:spcPts val="800"/>
                  </a:spcAft>
                </a:pPr>
                <a:r>
                  <a:rPr lang="en-IN" sz="2400" b="1">
                    <a:effectLst/>
                    <a:latin typeface="ITC Franklin Gothic LT" panose="020B0604020202020204" charset="0"/>
                    <a:ea typeface="Calibri" panose="020F0502020204030204" pitchFamily="34" charset="0"/>
                    <a:cs typeface="Times New Roman" panose="02020603050405020304" pitchFamily="18" charset="0"/>
                  </a:rPr>
                  <a:t>Test Statistic:</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a:lnSpc>
                    <a:spcPct val="106000"/>
                  </a:lnSpc>
                  <a:spcAft>
                    <a:spcPts val="800"/>
                  </a:spcAft>
                </a:pPr>
                <a14:m>
                  <m:oMath xmlns:m="http://schemas.openxmlformats.org/officeDocument/2006/math">
                    <m:r>
                      <a:rPr lang="en-IN" sz="2400" i="1">
                        <a:effectLst/>
                        <a:latin typeface="Cambria Math" panose="02040503050406030204" pitchFamily="18" charset="0"/>
                        <a:ea typeface="Calibri" panose="020F0502020204030204" pitchFamily="34" charset="0"/>
                        <a:cs typeface="Times New Roman" panose="02020603050405020304" pitchFamily="18" charset="0"/>
                      </a:rPr>
                      <m:t> </m:t>
                    </m:r>
                    <m:sSup>
                      <m:sSupPr>
                        <m:ctrlPr>
                          <a:rPr lang="en-IN" sz="24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2400" i="1">
                            <a:effectLst/>
                            <a:latin typeface="Cambria Math" panose="02040503050406030204" pitchFamily="18" charset="0"/>
                            <a:ea typeface="Calibri" panose="020F0502020204030204" pitchFamily="34" charset="0"/>
                            <a:cs typeface="Times New Roman" panose="02020603050405020304" pitchFamily="18" charset="0"/>
                          </a:rPr>
                          <m:t>𝜒</m:t>
                        </m:r>
                      </m:e>
                      <m:sup>
                        <m:r>
                          <a:rPr lang="en-US" sz="2400" i="1">
                            <a:effectLst/>
                            <a:latin typeface="Cambria Math" panose="02040503050406030204" pitchFamily="18" charset="0"/>
                            <a:ea typeface="Calibri" panose="020F0502020204030204" pitchFamily="34" charset="0"/>
                            <a:cs typeface="Times New Roman" panose="02020603050405020304" pitchFamily="18" charset="0"/>
                          </a:rPr>
                          <m:t>2</m:t>
                        </m:r>
                      </m:sup>
                    </m:sSup>
                  </m:oMath>
                </a14:m>
                <a:r>
                  <a:rPr lang="en-US" sz="2400">
                    <a:effectLst/>
                    <a:latin typeface="ITC Franklin Gothic LT" panose="020B0604020202020204" charset="0"/>
                    <a:ea typeface="Calibri" panose="020F0502020204030204" pitchFamily="34" charset="0"/>
                    <a:cs typeface="Times New Roman" panose="02020603050405020304" pitchFamily="18" charset="0"/>
                  </a:rPr>
                  <a:t> = </a:t>
                </a:r>
                <a14:m>
                  <m:oMath xmlns:m="http://schemas.openxmlformats.org/officeDocument/2006/math">
                    <m:nary>
                      <m:naryPr>
                        <m:chr m:val="∑"/>
                        <m:limLoc m:val="undOvr"/>
                        <m:supHide m:val="on"/>
                        <m:ctrlPr>
                          <a:rPr lang="en-IN" sz="2400" i="1">
                            <a:effectLst/>
                            <a:latin typeface="Cambria Math" panose="02040503050406030204" pitchFamily="18" charset="0"/>
                            <a:ea typeface="Calibri" panose="020F0502020204030204" pitchFamily="34" charset="0"/>
                            <a:cs typeface="Times New Roman" panose="02020603050405020304" pitchFamily="18" charset="0"/>
                          </a:rPr>
                        </m:ctrlPr>
                      </m:naryPr>
                      <m:sub>
                        <m:r>
                          <a:rPr lang="en-US" sz="2400" i="1">
                            <a:effectLst/>
                            <a:latin typeface="Cambria Math" panose="02040503050406030204" pitchFamily="18" charset="0"/>
                            <a:ea typeface="Calibri" panose="020F0502020204030204" pitchFamily="34" charset="0"/>
                            <a:cs typeface="Times New Roman" panose="02020603050405020304" pitchFamily="18" charset="0"/>
                          </a:rPr>
                          <m:t>𝑖</m:t>
                        </m:r>
                      </m:sub>
                      <m:sup/>
                      <m:e>
                        <m:nary>
                          <m:naryPr>
                            <m:chr m:val="∑"/>
                            <m:limLoc m:val="undOvr"/>
                            <m:supHide m:val="on"/>
                            <m:ctrlPr>
                              <a:rPr lang="en-IN" sz="2400" i="1">
                                <a:effectLst/>
                                <a:latin typeface="Cambria Math" panose="02040503050406030204" pitchFamily="18" charset="0"/>
                                <a:ea typeface="Calibri" panose="020F0502020204030204" pitchFamily="34" charset="0"/>
                                <a:cs typeface="Times New Roman" panose="02020603050405020304" pitchFamily="18" charset="0"/>
                              </a:rPr>
                            </m:ctrlPr>
                          </m:naryPr>
                          <m:sub>
                            <m:r>
                              <a:rPr lang="en-US" sz="2400" i="1">
                                <a:effectLst/>
                                <a:latin typeface="Cambria Math" panose="02040503050406030204" pitchFamily="18" charset="0"/>
                                <a:ea typeface="Calibri" panose="020F0502020204030204" pitchFamily="34" charset="0"/>
                                <a:cs typeface="Times New Roman" panose="02020603050405020304" pitchFamily="18" charset="0"/>
                              </a:rPr>
                              <m:t>𝑗</m:t>
                            </m:r>
                          </m:sub>
                          <m:sup/>
                          <m:e>
                            <m:r>
                              <a:rPr lang="en-US" sz="2400" i="1">
                                <a:effectLst/>
                                <a:latin typeface="Cambria Math" panose="02040503050406030204" pitchFamily="18" charset="0"/>
                                <a:ea typeface="Calibri" panose="020F0502020204030204" pitchFamily="34" charset="0"/>
                                <a:cs typeface="Times New Roman" panose="02020603050405020304" pitchFamily="18" charset="0"/>
                              </a:rPr>
                              <m:t> </m:t>
                            </m:r>
                            <m:f>
                              <m:fPr>
                                <m:ctrlPr>
                                  <a:rPr lang="en-IN" sz="2400" i="1">
                                    <a:effectLst/>
                                    <a:latin typeface="Cambria Math" panose="02040503050406030204" pitchFamily="18" charset="0"/>
                                    <a:ea typeface="Calibri" panose="020F0502020204030204" pitchFamily="34" charset="0"/>
                                    <a:cs typeface="Times New Roman" panose="02020603050405020304" pitchFamily="18" charset="0"/>
                                  </a:rPr>
                                </m:ctrlPr>
                              </m:fPr>
                              <m:num>
                                <m:sSup>
                                  <m:sSupPr>
                                    <m:ctrlPr>
                                      <a:rPr lang="en-IN" sz="2400" i="1">
                                        <a:effectLst/>
                                        <a:latin typeface="Cambria Math" panose="02040503050406030204" pitchFamily="18" charset="0"/>
                                        <a:ea typeface="Calibri" panose="020F0502020204030204" pitchFamily="34" charset="0"/>
                                        <a:cs typeface="Times New Roman" panose="02020603050405020304" pitchFamily="18" charset="0"/>
                                      </a:rPr>
                                    </m:ctrlPr>
                                  </m:sSupPr>
                                  <m:e>
                                    <m:d>
                                      <m:dPr>
                                        <m:ctrlPr>
                                          <a:rPr lang="en-IN" sz="2400" i="1">
                                            <a:effectLst/>
                                            <a:latin typeface="Cambria Math" panose="02040503050406030204" pitchFamily="18" charset="0"/>
                                            <a:ea typeface="Calibri" panose="020F0502020204030204" pitchFamily="34" charset="0"/>
                                            <a:cs typeface="Times New Roman" panose="02020603050405020304" pitchFamily="18" charset="0"/>
                                          </a:rPr>
                                        </m:ctrlPr>
                                      </m:dPr>
                                      <m:e>
                                        <m:r>
                                          <m:rPr>
                                            <m:sty m:val="p"/>
                                          </m:rPr>
                                          <a:rPr lang="en-IN" sz="2400">
                                            <a:effectLst/>
                                            <a:latin typeface="Cambria Math" panose="02040503050406030204" pitchFamily="18" charset="0"/>
                                            <a:ea typeface="Calibri" panose="020F0502020204030204" pitchFamily="34" charset="0"/>
                                            <a:cs typeface="Times New Roman" panose="02020603050405020304" pitchFamily="18" charset="0"/>
                                          </a:rPr>
                                          <m:t>O</m:t>
                                        </m:r>
                                        <m:r>
                                          <m:rPr>
                                            <m:sty m:val="p"/>
                                          </m:rPr>
                                          <a:rPr lang="en-IN" sz="2400" baseline="-25000">
                                            <a:effectLst/>
                                            <a:latin typeface="Cambria Math" panose="02040503050406030204" pitchFamily="18" charset="0"/>
                                            <a:ea typeface="Calibri" panose="020F0502020204030204" pitchFamily="34" charset="0"/>
                                            <a:cs typeface="Times New Roman" panose="02020603050405020304" pitchFamily="18" charset="0"/>
                                          </a:rPr>
                                          <m:t>ij</m:t>
                                        </m:r>
                                        <m:r>
                                          <a:rPr lang="en-US" sz="2400" i="1">
                                            <a:effectLst/>
                                            <a:latin typeface="Cambria Math" panose="02040503050406030204" pitchFamily="18" charset="0"/>
                                            <a:ea typeface="Calibri" panose="020F0502020204030204" pitchFamily="34" charset="0"/>
                                            <a:cs typeface="Times New Roman" panose="02020603050405020304" pitchFamily="18" charset="0"/>
                                          </a:rPr>
                                          <m:t>−</m:t>
                                        </m:r>
                                        <m:r>
                                          <m:rPr>
                                            <m:sty m:val="p"/>
                                          </m:rPr>
                                          <a:rPr lang="en-IN" sz="2400">
                                            <a:effectLst/>
                                            <a:latin typeface="Cambria Math" panose="02040503050406030204" pitchFamily="18" charset="0"/>
                                            <a:ea typeface="Calibri" panose="020F0502020204030204" pitchFamily="34" charset="0"/>
                                            <a:cs typeface="Times New Roman" panose="02020603050405020304" pitchFamily="18" charset="0"/>
                                          </a:rPr>
                                          <m:t>E</m:t>
                                        </m:r>
                                        <m:r>
                                          <m:rPr>
                                            <m:sty m:val="p"/>
                                          </m:rPr>
                                          <a:rPr lang="en-IN" sz="2400" baseline="-25000">
                                            <a:effectLst/>
                                            <a:latin typeface="Cambria Math" panose="02040503050406030204" pitchFamily="18" charset="0"/>
                                            <a:ea typeface="Calibri" panose="020F0502020204030204" pitchFamily="34" charset="0"/>
                                            <a:cs typeface="Times New Roman" panose="02020603050405020304" pitchFamily="18" charset="0"/>
                                          </a:rPr>
                                          <m:t>ij</m:t>
                                        </m:r>
                                      </m:e>
                                    </m:d>
                                  </m:e>
                                  <m:sup>
                                    <m:r>
                                      <a:rPr lang="en-US" sz="2400" i="1">
                                        <a:effectLst/>
                                        <a:latin typeface="Cambria Math" panose="02040503050406030204" pitchFamily="18" charset="0"/>
                                        <a:ea typeface="Calibri" panose="020F0502020204030204" pitchFamily="34" charset="0"/>
                                        <a:cs typeface="Times New Roman" panose="02020603050405020304" pitchFamily="18" charset="0"/>
                                      </a:rPr>
                                      <m:t>2</m:t>
                                    </m:r>
                                  </m:sup>
                                </m:sSup>
                              </m:num>
                              <m:den>
                                <m:r>
                                  <m:rPr>
                                    <m:sty m:val="p"/>
                                  </m:rPr>
                                  <a:rPr lang="en-IN" sz="2400">
                                    <a:effectLst/>
                                    <a:latin typeface="Cambria Math" panose="02040503050406030204" pitchFamily="18" charset="0"/>
                                    <a:ea typeface="Calibri" panose="020F0502020204030204" pitchFamily="34" charset="0"/>
                                    <a:cs typeface="Times New Roman" panose="02020603050405020304" pitchFamily="18" charset="0"/>
                                  </a:rPr>
                                  <m:t>E</m:t>
                                </m:r>
                                <m:r>
                                  <m:rPr>
                                    <m:sty m:val="p"/>
                                  </m:rPr>
                                  <a:rPr lang="en-IN" sz="2400" baseline="-25000">
                                    <a:effectLst/>
                                    <a:latin typeface="Cambria Math" panose="02040503050406030204" pitchFamily="18" charset="0"/>
                                    <a:ea typeface="Calibri" panose="020F0502020204030204" pitchFamily="34" charset="0"/>
                                    <a:cs typeface="Times New Roman" panose="02020603050405020304" pitchFamily="18" charset="0"/>
                                  </a:rPr>
                                  <m:t>ij</m:t>
                                </m:r>
                              </m:den>
                            </m:f>
                          </m:e>
                        </m:nary>
                      </m:e>
                    </m:nary>
                  </m:oMath>
                </a14:m>
                <a:r>
                  <a:rPr lang="en-US" sz="2400">
                    <a:effectLst/>
                    <a:latin typeface="ITC Franklin Gothic LT" panose="020B0604020202020204" charset="0"/>
                    <a:ea typeface="Times New Roman" panose="02020603050405020304" pitchFamily="18" charset="0"/>
                    <a:cs typeface="Times New Roman" panose="02020603050405020304" pitchFamily="18" charset="0"/>
                  </a:rPr>
                  <a:t>    </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a:lnSpc>
                    <a:spcPct val="106000"/>
                  </a:lnSpc>
                  <a:spcAft>
                    <a:spcPts val="800"/>
                  </a:spcAft>
                </a:pP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a:lnSpc>
                    <a:spcPct val="106000"/>
                  </a:lnSpc>
                  <a:spcAft>
                    <a:spcPts val="800"/>
                  </a:spcAft>
                </a:pPr>
                <a:r>
                  <a:rPr lang="en-IN" sz="2400">
                    <a:effectLst/>
                    <a:latin typeface="ITC Franklin Gothic LT" panose="020B0604020202020204" charset="0"/>
                    <a:ea typeface="Calibri" panose="020F0502020204030204" pitchFamily="34" charset="0"/>
                    <a:cs typeface="Times New Roman" panose="02020603050405020304" pitchFamily="18" charset="0"/>
                  </a:rPr>
                  <a:t> </a:t>
                </a:r>
              </a:p>
            </p:txBody>
          </p:sp>
        </mc:Choice>
        <mc:Fallback xmlns="">
          <p:sp>
            <p:nvSpPr>
              <p:cNvPr id="6" name="TextBox 5">
                <a:extLst>
                  <a:ext uri="{FF2B5EF4-FFF2-40B4-BE49-F238E27FC236}">
                    <a16:creationId xmlns:a16="http://schemas.microsoft.com/office/drawing/2014/main" id="{BC667B22-1E0D-0A15-4353-92E77A8FB85E}"/>
                  </a:ext>
                </a:extLst>
              </p:cNvPr>
              <p:cNvSpPr txBox="1">
                <a:spLocks noRot="1" noChangeAspect="1" noMove="1" noResize="1" noEditPoints="1" noAdjustHandles="1" noChangeArrowheads="1" noChangeShapeType="1" noTextEdit="1"/>
              </p:cNvSpPr>
              <p:nvPr/>
            </p:nvSpPr>
            <p:spPr>
              <a:xfrm>
                <a:off x="1318444" y="1938064"/>
                <a:ext cx="16687800" cy="6934655"/>
              </a:xfrm>
              <a:prstGeom prst="rect">
                <a:avLst/>
              </a:prstGeom>
              <a:blipFill>
                <a:blip r:embed="rId2"/>
                <a:stretch>
                  <a:fillRect l="-548" t="-704"/>
                </a:stretch>
              </a:blipFill>
            </p:spPr>
            <p:txBody>
              <a:bodyPr/>
              <a:lstStyle/>
              <a:p>
                <a:r>
                  <a:rPr lang="en-IN">
                    <a:noFill/>
                  </a:rPr>
                  <a:t> </a:t>
                </a:r>
              </a:p>
            </p:txBody>
          </p:sp>
        </mc:Fallback>
      </mc:AlternateContent>
    </p:spTree>
    <p:extLst>
      <p:ext uri="{BB962C8B-B14F-4D97-AF65-F5344CB8AC3E}">
        <p14:creationId xmlns:p14="http://schemas.microsoft.com/office/powerpoint/2010/main" val="267938922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7EF"/>
        </a:solidFill>
        <a:effectLst/>
      </p:bgPr>
    </p:bg>
    <p:spTree>
      <p:nvGrpSpPr>
        <p:cNvPr id="1" name="">
          <a:extLst>
            <a:ext uri="{FF2B5EF4-FFF2-40B4-BE49-F238E27FC236}">
              <a16:creationId xmlns:a16="http://schemas.microsoft.com/office/drawing/2014/main" id="{7F984DE8-F255-B83A-F9CC-71082CE4716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50952672-1690-0F35-0BED-CCE48DBF9505}"/>
              </a:ext>
            </a:extLst>
          </p:cNvPr>
          <p:cNvGrpSpPr/>
          <p:nvPr/>
        </p:nvGrpSpPr>
        <p:grpSpPr>
          <a:xfrm>
            <a:off x="-557510" y="9053545"/>
            <a:ext cx="19403020" cy="2466909"/>
            <a:chOff x="0" y="0"/>
            <a:chExt cx="5110260" cy="649721"/>
          </a:xfrm>
        </p:grpSpPr>
        <p:sp>
          <p:nvSpPr>
            <p:cNvPr id="3" name="Freeform 3">
              <a:extLst>
                <a:ext uri="{FF2B5EF4-FFF2-40B4-BE49-F238E27FC236}">
                  <a16:creationId xmlns:a16="http://schemas.microsoft.com/office/drawing/2014/main" id="{CDD88EB1-C69B-2654-B2C9-5A4BC9196B2E}"/>
                </a:ext>
              </a:extLst>
            </p:cNvPr>
            <p:cNvSpPr/>
            <p:nvPr/>
          </p:nvSpPr>
          <p:spPr>
            <a:xfrm>
              <a:off x="0" y="0"/>
              <a:ext cx="5110261" cy="649721"/>
            </a:xfrm>
            <a:custGeom>
              <a:avLst/>
              <a:gdLst/>
              <a:ahLst/>
              <a:cxnLst/>
              <a:rect l="l" t="t" r="r" b="b"/>
              <a:pathLst>
                <a:path w="5110261" h="649721">
                  <a:moveTo>
                    <a:pt x="0" y="0"/>
                  </a:moveTo>
                  <a:lnTo>
                    <a:pt x="5110261" y="0"/>
                  </a:lnTo>
                  <a:lnTo>
                    <a:pt x="5110261" y="649721"/>
                  </a:lnTo>
                  <a:lnTo>
                    <a:pt x="0" y="649721"/>
                  </a:lnTo>
                  <a:close/>
                </a:path>
              </a:pathLst>
            </a:custGeom>
            <a:solidFill>
              <a:srgbClr val="8DAFA8"/>
            </a:solidFill>
          </p:spPr>
        </p:sp>
        <p:sp>
          <p:nvSpPr>
            <p:cNvPr id="4" name="TextBox 4">
              <a:extLst>
                <a:ext uri="{FF2B5EF4-FFF2-40B4-BE49-F238E27FC236}">
                  <a16:creationId xmlns:a16="http://schemas.microsoft.com/office/drawing/2014/main" id="{E6BC7F33-4927-5E18-D369-8A59F71C9E03}"/>
                </a:ext>
              </a:extLst>
            </p:cNvPr>
            <p:cNvSpPr txBox="1"/>
            <p:nvPr/>
          </p:nvSpPr>
          <p:spPr>
            <a:xfrm>
              <a:off x="0" y="-47625"/>
              <a:ext cx="5110260" cy="697346"/>
            </a:xfrm>
            <a:prstGeom prst="rect">
              <a:avLst/>
            </a:prstGeom>
          </p:spPr>
          <p:txBody>
            <a:bodyPr lIns="50800" tIns="50800" rIns="50800" bIns="50800" rtlCol="0" anchor="ctr"/>
            <a:lstStyle/>
            <a:p>
              <a:pPr algn="ctr">
                <a:lnSpc>
                  <a:spcPts val="2659"/>
                </a:lnSpc>
              </a:pPr>
              <a:endParaRPr/>
            </a:p>
          </p:txBody>
        </p:sp>
      </p:grpSp>
      <p:sp>
        <p:nvSpPr>
          <p:cNvPr id="26" name="AutoShape 26">
            <a:extLst>
              <a:ext uri="{FF2B5EF4-FFF2-40B4-BE49-F238E27FC236}">
                <a16:creationId xmlns:a16="http://schemas.microsoft.com/office/drawing/2014/main" id="{A11DCF23-8A84-47BB-385C-030940B1FB0B}"/>
              </a:ext>
            </a:extLst>
          </p:cNvPr>
          <p:cNvSpPr/>
          <p:nvPr/>
        </p:nvSpPr>
        <p:spPr>
          <a:xfrm>
            <a:off x="10820400" y="2036991"/>
            <a:ext cx="6116868" cy="0"/>
          </a:xfrm>
          <a:prstGeom prst="line">
            <a:avLst/>
          </a:prstGeom>
          <a:ln w="47625" cap="rnd">
            <a:solidFill>
              <a:srgbClr val="8DAFA8"/>
            </a:solidFill>
            <a:prstDash val="lgDash"/>
            <a:headEnd type="none" w="sm" len="sm"/>
            <a:tailEnd type="oval" w="lg" len="lg"/>
          </a:ln>
        </p:spPr>
      </p:sp>
      <p:sp>
        <p:nvSpPr>
          <p:cNvPr id="8" name="TextBox 7">
            <a:extLst>
              <a:ext uri="{FF2B5EF4-FFF2-40B4-BE49-F238E27FC236}">
                <a16:creationId xmlns:a16="http://schemas.microsoft.com/office/drawing/2014/main" id="{363D4FED-FA1B-76CF-DFBF-52FF0BDEF71A}"/>
              </a:ext>
            </a:extLst>
          </p:cNvPr>
          <p:cNvSpPr txBox="1"/>
          <p:nvPr/>
        </p:nvSpPr>
        <p:spPr>
          <a:xfrm>
            <a:off x="10668000" y="119506"/>
            <a:ext cx="9701938" cy="2089803"/>
          </a:xfrm>
          <a:prstGeom prst="rect">
            <a:avLst/>
          </a:prstGeom>
          <a:noFill/>
        </p:spPr>
        <p:txBody>
          <a:bodyPr wrap="square">
            <a:spAutoFit/>
          </a:bodyPr>
          <a:lstStyle/>
          <a:p>
            <a:r>
              <a:rPr lang="en-US" sz="12980">
                <a:solidFill>
                  <a:srgbClr val="996633"/>
                </a:solidFill>
                <a:latin typeface="League Gothic" panose="020B0604020202020204" charset="0"/>
              </a:rPr>
              <a:t> Methodology</a:t>
            </a:r>
            <a:endParaRPr lang="en-IN" sz="12980"/>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41EA3982-3D4F-086E-E693-BD8F19892FFE}"/>
                  </a:ext>
                </a:extLst>
              </p:cNvPr>
              <p:cNvSpPr txBox="1"/>
              <p:nvPr/>
            </p:nvSpPr>
            <p:spPr>
              <a:xfrm>
                <a:off x="1676400" y="2240029"/>
                <a:ext cx="13335000" cy="7022500"/>
              </a:xfrm>
              <a:prstGeom prst="rect">
                <a:avLst/>
              </a:prstGeom>
              <a:noFill/>
            </p:spPr>
            <p:txBody>
              <a:bodyPr wrap="square">
                <a:spAutoFit/>
              </a:bodyPr>
              <a:lstStyle/>
              <a:p>
                <a:pPr>
                  <a:lnSpc>
                    <a:spcPct val="106000"/>
                  </a:lnSpc>
                  <a:spcAft>
                    <a:spcPts val="800"/>
                  </a:spcAft>
                </a:pPr>
                <a:r>
                  <a:rPr lang="en-IN" sz="2400" b="1">
                    <a:effectLst/>
                    <a:latin typeface="ITC Franklin Gothic LT" panose="020B0604020202020204" charset="0"/>
                    <a:ea typeface="Calibri" panose="020F0502020204030204" pitchFamily="34" charset="0"/>
                    <a:cs typeface="Times New Roman" panose="02020603050405020304" pitchFamily="18" charset="0"/>
                  </a:rPr>
                  <a:t>P-level: </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a:lnSpc>
                    <a:spcPct val="106000"/>
                  </a:lnSpc>
                  <a:spcAft>
                    <a:spcPts val="800"/>
                  </a:spcAft>
                </a:pPr>
                <a:r>
                  <a:rPr lang="en-IN" sz="2400">
                    <a:effectLst/>
                    <a:latin typeface="ITC Franklin Gothic LT" panose="020B0604020202020204" charset="0"/>
                    <a:ea typeface="Calibri" panose="020F0502020204030204" pitchFamily="34" charset="0"/>
                    <a:cs typeface="Times New Roman" panose="02020603050405020304" pitchFamily="18" charset="0"/>
                  </a:rPr>
                  <a:t>The p-level represents the probability of error that is involved in accepting our observed result as valid, that is as representative of the population. The p-level of 0.05 is customarily treated as borderline accepted at a level. </a:t>
                </a:r>
              </a:p>
              <a:p>
                <a:pPr>
                  <a:lnSpc>
                    <a:spcPct val="106000"/>
                  </a:lnSpc>
                  <a:spcAft>
                    <a:spcPts val="800"/>
                  </a:spcAft>
                </a:pPr>
                <a:r>
                  <a:rPr lang="en-IN" sz="2400" b="1">
                    <a:effectLst/>
                    <a:latin typeface="ITC Franklin Gothic LT" panose="020B0604020202020204" charset="0"/>
                    <a:ea typeface="Calibri" panose="020F0502020204030204" pitchFamily="34" charset="0"/>
                    <a:cs typeface="Times New Roman" panose="02020603050405020304" pitchFamily="18" charset="0"/>
                  </a:rPr>
                  <a:t>Decision rule: </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a:lnSpc>
                    <a:spcPct val="106000"/>
                  </a:lnSpc>
                  <a:spcAft>
                    <a:spcPts val="800"/>
                  </a:spcAft>
                </a:pPr>
                <a:r>
                  <a:rPr lang="en-IN" sz="2400">
                    <a:effectLst/>
                    <a:latin typeface="ITC Franklin Gothic LT" panose="020B0604020202020204" charset="0"/>
                    <a:ea typeface="Calibri" panose="020F0502020204030204" pitchFamily="34" charset="0"/>
                    <a:cs typeface="Times New Roman" panose="02020603050405020304" pitchFamily="18" charset="0"/>
                  </a:rPr>
                  <a:t>If p&lt;0.05, then p is significant, and we reject H0 i.e., the attributes are dependent at</a:t>
                </a:r>
              </a:p>
              <a:p>
                <a:pPr>
                  <a:lnSpc>
                    <a:spcPct val="106000"/>
                  </a:lnSpc>
                  <a:spcAft>
                    <a:spcPts val="800"/>
                  </a:spcAft>
                </a:pPr>
                <a:r>
                  <a:rPr lang="en-IN" sz="2400">
                    <a:effectLst/>
                    <a:latin typeface="ITC Franklin Gothic LT" panose="020B0604020202020204" charset="0"/>
                    <a:ea typeface="Calibri" panose="020F0502020204030204" pitchFamily="34" charset="0"/>
                    <a:cs typeface="Times New Roman" panose="02020603050405020304" pitchFamily="18" charset="0"/>
                  </a:rPr>
                  <a:t>5% level of significance.</a:t>
                </a:r>
              </a:p>
              <a:p>
                <a:pPr>
                  <a:lnSpc>
                    <a:spcPct val="106000"/>
                  </a:lnSpc>
                  <a:spcAft>
                    <a:spcPts val="800"/>
                  </a:spcAft>
                </a:pPr>
                <a:r>
                  <a:rPr lang="en-IN" sz="2400" b="1">
                    <a:effectLst/>
                    <a:latin typeface="ITC Franklin Gothic LT" panose="020B0604020202020204" charset="0"/>
                    <a:ea typeface="Calibri" panose="020F0502020204030204" pitchFamily="34" charset="0"/>
                    <a:cs typeface="Times New Roman" panose="02020603050405020304" pitchFamily="18" charset="0"/>
                  </a:rPr>
                  <a:t>Coefficient of contingency: </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a:lnSpc>
                    <a:spcPct val="106000"/>
                  </a:lnSpc>
                  <a:spcAft>
                    <a:spcPts val="800"/>
                  </a:spcAft>
                </a:pPr>
                <a:r>
                  <a:rPr lang="en-IN" sz="2400">
                    <a:effectLst/>
                    <a:latin typeface="ITC Franklin Gothic LT" panose="020B0604020202020204" charset="0"/>
                    <a:ea typeface="Calibri" panose="020F0502020204030204" pitchFamily="34" charset="0"/>
                    <a:cs typeface="Times New Roman" panose="02020603050405020304" pitchFamily="18" charset="0"/>
                  </a:rPr>
                  <a:t>When H0 is rejected the amount of association between two attributes is given by the Coefficient of contingency.</a:t>
                </a:r>
              </a:p>
              <a:p>
                <a:pPr>
                  <a:lnSpc>
                    <a:spcPct val="106000"/>
                  </a:lnSpc>
                  <a:spcAft>
                    <a:spcPts val="800"/>
                  </a:spcAft>
                </a:pPr>
                <a:r>
                  <a:rPr lang="en-IN" sz="4000">
                    <a:effectLst/>
                    <a:latin typeface="ITC Franklin Gothic LT" panose="020B0604020202020204" charset="0"/>
                    <a:ea typeface="Calibri" panose="020F0502020204030204" pitchFamily="34" charset="0"/>
                    <a:cs typeface="Times New Roman" panose="02020603050405020304" pitchFamily="18" charset="0"/>
                  </a:rPr>
                  <a:t>C = </a:t>
                </a:r>
                <a14:m>
                  <m:oMath xmlns:m="http://schemas.openxmlformats.org/officeDocument/2006/math">
                    <m:r>
                      <a:rPr lang="en-IN" sz="4000" i="1" smtClean="0">
                        <a:effectLst/>
                        <a:latin typeface="Cambria Math" panose="02040503050406030204" pitchFamily="18" charset="0"/>
                        <a:ea typeface="Cambria Math" panose="02040503050406030204" pitchFamily="18" charset="0"/>
                        <a:cs typeface="Times New Roman" panose="02020603050405020304" pitchFamily="18" charset="0"/>
                      </a:rPr>
                      <m:t>√</m:t>
                    </m:r>
                    <m:f>
                      <m:fPr>
                        <m:ctrlPr>
                          <a:rPr lang="en-IN" sz="4000" i="1" smtClean="0">
                            <a:effectLst/>
                            <a:latin typeface="Cambria Math" panose="02040503050406030204" pitchFamily="18" charset="0"/>
                            <a:ea typeface="Cambria Math" panose="02040503050406030204" pitchFamily="18" charset="0"/>
                            <a:cs typeface="Times New Roman" panose="02020603050405020304" pitchFamily="18" charset="0"/>
                          </a:rPr>
                        </m:ctrlPr>
                      </m:fPr>
                      <m:num>
                        <m:r>
                          <m:rPr>
                            <m:sty m:val="p"/>
                          </m:rPr>
                          <a:rPr lang="el-GR" sz="4000" i="1" smtClean="0">
                            <a:effectLst/>
                            <a:latin typeface="Cambria Math" panose="02040503050406030204" pitchFamily="18" charset="0"/>
                            <a:ea typeface="Cambria Math" panose="02040503050406030204" pitchFamily="18" charset="0"/>
                            <a:cs typeface="Times New Roman" panose="02020603050405020304" pitchFamily="18" charset="0"/>
                          </a:rPr>
                          <m:t>χ</m:t>
                        </m:r>
                        <m:r>
                          <a:rPr lang="el-GR" sz="4000" i="1" smtClean="0">
                            <a:effectLst/>
                            <a:latin typeface="Cambria Math" panose="02040503050406030204" pitchFamily="18" charset="0"/>
                            <a:ea typeface="Cambria Math" panose="02040503050406030204" pitchFamily="18" charset="0"/>
                            <a:cs typeface="Times New Roman" panose="02020603050405020304" pitchFamily="18" charset="0"/>
                          </a:rPr>
                          <m:t>²</m:t>
                        </m:r>
                      </m:num>
                      <m:den>
                        <m:sSup>
                          <m:sSupPr>
                            <m:ctrlPr>
                              <a:rPr lang="el-GR" sz="4000" i="1">
                                <a:latin typeface="Cambria Math" panose="02040503050406030204" pitchFamily="18" charset="0"/>
                                <a:ea typeface="Cambria Math" panose="02040503050406030204" pitchFamily="18" charset="0"/>
                                <a:cs typeface="Times New Roman" panose="02020603050405020304" pitchFamily="18" charset="0"/>
                              </a:rPr>
                            </m:ctrlPr>
                          </m:sSupPr>
                          <m:e>
                            <m:r>
                              <m:rPr>
                                <m:sty m:val="p"/>
                              </m:rPr>
                              <a:rPr lang="el-GR" sz="4000" i="1">
                                <a:latin typeface="Cambria Math" panose="02040503050406030204" pitchFamily="18" charset="0"/>
                                <a:ea typeface="Cambria Math" panose="02040503050406030204" pitchFamily="18" charset="0"/>
                                <a:cs typeface="Times New Roman" panose="02020603050405020304" pitchFamily="18" charset="0"/>
                              </a:rPr>
                              <m:t>χ</m:t>
                            </m:r>
                          </m:e>
                          <m:sup>
                            <m:r>
                              <a:rPr lang="el-GR" sz="4000" i="1">
                                <a:latin typeface="Cambria Math" panose="02040503050406030204" pitchFamily="18" charset="0"/>
                                <a:ea typeface="Cambria Math" panose="02040503050406030204" pitchFamily="18" charset="0"/>
                                <a:cs typeface="Times New Roman" panose="02020603050405020304" pitchFamily="18" charset="0"/>
                              </a:rPr>
                              <m:t>2</m:t>
                            </m:r>
                          </m:sup>
                        </m:sSup>
                        <m:r>
                          <a:rPr lang="en-IN" sz="4000" b="0" i="1" smtClean="0">
                            <a:latin typeface="Cambria Math" panose="02040503050406030204" pitchFamily="18" charset="0"/>
                            <a:ea typeface="Cambria Math" panose="02040503050406030204" pitchFamily="18" charset="0"/>
                            <a:cs typeface="Times New Roman" panose="02020603050405020304" pitchFamily="18" charset="0"/>
                          </a:rPr>
                          <m:t>+</m:t>
                        </m:r>
                        <m:r>
                          <a:rPr lang="en-IN" sz="4000" b="0" i="1" smtClean="0">
                            <a:latin typeface="Cambria Math" panose="02040503050406030204" pitchFamily="18" charset="0"/>
                            <a:ea typeface="Cambria Math" panose="02040503050406030204" pitchFamily="18" charset="0"/>
                            <a:cs typeface="Times New Roman" panose="02020603050405020304" pitchFamily="18" charset="0"/>
                          </a:rPr>
                          <m:t>𝑁</m:t>
                        </m:r>
                      </m:den>
                    </m:f>
                  </m:oMath>
                </a14:m>
                <a:endParaRPr lang="en-IN" sz="4000">
                  <a:effectLst/>
                  <a:latin typeface="ITC Franklin Gothic LT" panose="020B0604020202020204" charset="0"/>
                  <a:ea typeface="Calibri" panose="020F0502020204030204" pitchFamily="34" charset="0"/>
                  <a:cs typeface="Times New Roman" panose="02020603050405020304" pitchFamily="18" charset="0"/>
                </a:endParaRPr>
              </a:p>
              <a:p>
                <a:pPr>
                  <a:lnSpc>
                    <a:spcPct val="106000"/>
                  </a:lnSpc>
                  <a:spcAft>
                    <a:spcPts val="800"/>
                  </a:spcAft>
                </a:pPr>
                <a:r>
                  <a:rPr lang="en-IN" sz="2400">
                    <a:effectLst/>
                    <a:latin typeface="ITC Franklin Gothic LT" panose="020B0604020202020204" charset="0"/>
                    <a:ea typeface="Calibri" panose="020F0502020204030204" pitchFamily="34" charset="0"/>
                    <a:cs typeface="Times New Roman" panose="02020603050405020304" pitchFamily="18" charset="0"/>
                  </a:rPr>
                  <a:t>Where N=total frequency, χ 2 = calculated.</a:t>
                </a:r>
              </a:p>
              <a:p>
                <a:pPr>
                  <a:lnSpc>
                    <a:spcPct val="106000"/>
                  </a:lnSpc>
                  <a:spcAft>
                    <a:spcPts val="800"/>
                  </a:spcAft>
                </a:pPr>
                <a:endParaRPr lang="en-IN" sz="4000">
                  <a:effectLst/>
                  <a:latin typeface="ITC Franklin Gothic LT" panose="020B0604020202020204" charset="0"/>
                  <a:ea typeface="Calibri" panose="020F0502020204030204" pitchFamily="34" charset="0"/>
                  <a:cs typeface="Times New Roman" panose="02020603050405020304" pitchFamily="18" charset="0"/>
                </a:endParaRPr>
              </a:p>
            </p:txBody>
          </p:sp>
        </mc:Choice>
        <mc:Fallback xmlns="">
          <p:sp>
            <p:nvSpPr>
              <p:cNvPr id="12" name="TextBox 11">
                <a:extLst>
                  <a:ext uri="{FF2B5EF4-FFF2-40B4-BE49-F238E27FC236}">
                    <a16:creationId xmlns:a16="http://schemas.microsoft.com/office/drawing/2014/main" id="{41EA3982-3D4F-086E-E693-BD8F19892FFE}"/>
                  </a:ext>
                </a:extLst>
              </p:cNvPr>
              <p:cNvSpPr txBox="1">
                <a:spLocks noRot="1" noChangeAspect="1" noMove="1" noResize="1" noEditPoints="1" noAdjustHandles="1" noChangeArrowheads="1" noChangeShapeType="1" noTextEdit="1"/>
              </p:cNvSpPr>
              <p:nvPr/>
            </p:nvSpPr>
            <p:spPr>
              <a:xfrm>
                <a:off x="1676400" y="2240029"/>
                <a:ext cx="13335000" cy="7022500"/>
              </a:xfrm>
              <a:prstGeom prst="rect">
                <a:avLst/>
              </a:prstGeom>
              <a:blipFill>
                <a:blip r:embed="rId2"/>
                <a:stretch>
                  <a:fillRect l="-1600" t="-694"/>
                </a:stretch>
              </a:blipFill>
            </p:spPr>
            <p:txBody>
              <a:bodyPr/>
              <a:lstStyle/>
              <a:p>
                <a:r>
                  <a:rPr lang="en-IN">
                    <a:noFill/>
                  </a:rPr>
                  <a:t> </a:t>
                </a:r>
              </a:p>
            </p:txBody>
          </p:sp>
        </mc:Fallback>
      </mc:AlternateContent>
    </p:spTree>
    <p:extLst>
      <p:ext uri="{BB962C8B-B14F-4D97-AF65-F5344CB8AC3E}">
        <p14:creationId xmlns:p14="http://schemas.microsoft.com/office/powerpoint/2010/main" val="113552757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7EF"/>
        </a:solidFill>
        <a:effectLst/>
      </p:bgPr>
    </p:bg>
    <p:spTree>
      <p:nvGrpSpPr>
        <p:cNvPr id="1" name="">
          <a:extLst>
            <a:ext uri="{FF2B5EF4-FFF2-40B4-BE49-F238E27FC236}">
              <a16:creationId xmlns:a16="http://schemas.microsoft.com/office/drawing/2014/main" id="{982AF63A-5CE5-1441-D3A6-89C2622841C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EAAD00A-31F9-5798-1916-DC754A0EF3A7}"/>
              </a:ext>
            </a:extLst>
          </p:cNvPr>
          <p:cNvGrpSpPr/>
          <p:nvPr/>
        </p:nvGrpSpPr>
        <p:grpSpPr>
          <a:xfrm>
            <a:off x="4917956" y="5085847"/>
            <a:ext cx="3827651" cy="3827651"/>
            <a:chOff x="0" y="0"/>
            <a:chExt cx="812800" cy="812800"/>
          </a:xfrm>
        </p:grpSpPr>
        <p:sp>
          <p:nvSpPr>
            <p:cNvPr id="3" name="Freeform 3">
              <a:extLst>
                <a:ext uri="{FF2B5EF4-FFF2-40B4-BE49-F238E27FC236}">
                  <a16:creationId xmlns:a16="http://schemas.microsoft.com/office/drawing/2014/main" id="{191E7AA0-F0A0-E7FE-EB3A-C86B7ADD5E9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DAFA8">
                <a:alpha val="40000"/>
              </a:srgbClr>
            </a:solidFill>
          </p:spPr>
        </p:sp>
        <p:sp>
          <p:nvSpPr>
            <p:cNvPr id="4" name="TextBox 4">
              <a:extLst>
                <a:ext uri="{FF2B5EF4-FFF2-40B4-BE49-F238E27FC236}">
                  <a16:creationId xmlns:a16="http://schemas.microsoft.com/office/drawing/2014/main" id="{319B1977-B99F-B49D-1D23-C118B24C25DA}"/>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 name="Group 5">
            <a:extLst>
              <a:ext uri="{FF2B5EF4-FFF2-40B4-BE49-F238E27FC236}">
                <a16:creationId xmlns:a16="http://schemas.microsoft.com/office/drawing/2014/main" id="{710F14D3-C612-5473-C9CD-8E8921D7E6B5}"/>
              </a:ext>
            </a:extLst>
          </p:cNvPr>
          <p:cNvGrpSpPr/>
          <p:nvPr/>
        </p:nvGrpSpPr>
        <p:grpSpPr>
          <a:xfrm>
            <a:off x="714039" y="1672355"/>
            <a:ext cx="3389171" cy="3389171"/>
            <a:chOff x="0" y="0"/>
            <a:chExt cx="812800" cy="812800"/>
          </a:xfrm>
        </p:grpSpPr>
        <p:sp>
          <p:nvSpPr>
            <p:cNvPr id="6" name="Freeform 6">
              <a:extLst>
                <a:ext uri="{FF2B5EF4-FFF2-40B4-BE49-F238E27FC236}">
                  <a16:creationId xmlns:a16="http://schemas.microsoft.com/office/drawing/2014/main" id="{5A6540E4-1A66-DCEB-C3D1-9632EDBEB68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DAFA8">
                <a:alpha val="40000"/>
              </a:srgbClr>
            </a:solidFill>
          </p:spPr>
        </p:sp>
        <p:sp>
          <p:nvSpPr>
            <p:cNvPr id="7" name="TextBox 7">
              <a:extLst>
                <a:ext uri="{FF2B5EF4-FFF2-40B4-BE49-F238E27FC236}">
                  <a16:creationId xmlns:a16="http://schemas.microsoft.com/office/drawing/2014/main" id="{33232C03-1407-1CB9-4A3D-BE73CCA67394}"/>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8" name="Group 8">
            <a:extLst>
              <a:ext uri="{FF2B5EF4-FFF2-40B4-BE49-F238E27FC236}">
                <a16:creationId xmlns:a16="http://schemas.microsoft.com/office/drawing/2014/main" id="{236B72A4-34B1-4097-D784-E28232DBDFDD}"/>
              </a:ext>
            </a:extLst>
          </p:cNvPr>
          <p:cNvGrpSpPr/>
          <p:nvPr/>
        </p:nvGrpSpPr>
        <p:grpSpPr>
          <a:xfrm>
            <a:off x="1004805" y="4038431"/>
            <a:ext cx="2094831" cy="2094831"/>
            <a:chOff x="0" y="0"/>
            <a:chExt cx="812800" cy="812800"/>
          </a:xfrm>
        </p:grpSpPr>
        <p:sp>
          <p:nvSpPr>
            <p:cNvPr id="9" name="Freeform 9">
              <a:extLst>
                <a:ext uri="{FF2B5EF4-FFF2-40B4-BE49-F238E27FC236}">
                  <a16:creationId xmlns:a16="http://schemas.microsoft.com/office/drawing/2014/main" id="{79117826-A6F1-A98F-A5EE-92E6DC464B4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6A160">
                <a:alpha val="40000"/>
              </a:srgbClr>
            </a:solidFill>
          </p:spPr>
        </p:sp>
        <p:sp>
          <p:nvSpPr>
            <p:cNvPr id="10" name="TextBox 10">
              <a:extLst>
                <a:ext uri="{FF2B5EF4-FFF2-40B4-BE49-F238E27FC236}">
                  <a16:creationId xmlns:a16="http://schemas.microsoft.com/office/drawing/2014/main" id="{5B93C9CE-20A8-8A2E-2A0B-9C93C9133118}"/>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11" name="Group 11">
            <a:extLst>
              <a:ext uri="{FF2B5EF4-FFF2-40B4-BE49-F238E27FC236}">
                <a16:creationId xmlns:a16="http://schemas.microsoft.com/office/drawing/2014/main" id="{9FF1F19E-5D00-07DC-041E-886B8C1B9F25}"/>
              </a:ext>
            </a:extLst>
          </p:cNvPr>
          <p:cNvGrpSpPr/>
          <p:nvPr/>
        </p:nvGrpSpPr>
        <p:grpSpPr>
          <a:xfrm>
            <a:off x="5784365" y="2991016"/>
            <a:ext cx="2094831" cy="2094831"/>
            <a:chOff x="0" y="0"/>
            <a:chExt cx="812800" cy="812800"/>
          </a:xfrm>
        </p:grpSpPr>
        <p:sp>
          <p:nvSpPr>
            <p:cNvPr id="12" name="Freeform 12">
              <a:extLst>
                <a:ext uri="{FF2B5EF4-FFF2-40B4-BE49-F238E27FC236}">
                  <a16:creationId xmlns:a16="http://schemas.microsoft.com/office/drawing/2014/main" id="{50E478D2-737F-5E5C-71A7-1D6C45FD657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6A160">
                <a:alpha val="40000"/>
              </a:srgbClr>
            </a:solidFill>
          </p:spPr>
        </p:sp>
        <p:sp>
          <p:nvSpPr>
            <p:cNvPr id="13" name="TextBox 13">
              <a:extLst>
                <a:ext uri="{FF2B5EF4-FFF2-40B4-BE49-F238E27FC236}">
                  <a16:creationId xmlns:a16="http://schemas.microsoft.com/office/drawing/2014/main" id="{55DB4C44-E08C-0754-09CF-E3448446AC1C}"/>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15" name="Group 15">
            <a:extLst>
              <a:ext uri="{FF2B5EF4-FFF2-40B4-BE49-F238E27FC236}">
                <a16:creationId xmlns:a16="http://schemas.microsoft.com/office/drawing/2014/main" id="{91471076-325B-2F6B-37F6-7BEC8C8D2DDA}"/>
              </a:ext>
            </a:extLst>
          </p:cNvPr>
          <p:cNvGrpSpPr/>
          <p:nvPr/>
        </p:nvGrpSpPr>
        <p:grpSpPr>
          <a:xfrm>
            <a:off x="-557510" y="-889891"/>
            <a:ext cx="19403020" cy="1779782"/>
            <a:chOff x="0" y="0"/>
            <a:chExt cx="5110260" cy="468749"/>
          </a:xfrm>
        </p:grpSpPr>
        <p:sp>
          <p:nvSpPr>
            <p:cNvPr id="16" name="Freeform 16">
              <a:extLst>
                <a:ext uri="{FF2B5EF4-FFF2-40B4-BE49-F238E27FC236}">
                  <a16:creationId xmlns:a16="http://schemas.microsoft.com/office/drawing/2014/main" id="{AE39A92B-089A-6D3A-F187-27F292A4B81F}"/>
                </a:ext>
              </a:extLst>
            </p:cNvPr>
            <p:cNvSpPr/>
            <p:nvPr/>
          </p:nvSpPr>
          <p:spPr>
            <a:xfrm>
              <a:off x="0" y="0"/>
              <a:ext cx="5110261" cy="468749"/>
            </a:xfrm>
            <a:custGeom>
              <a:avLst/>
              <a:gdLst/>
              <a:ahLst/>
              <a:cxnLst/>
              <a:rect l="l" t="t" r="r" b="b"/>
              <a:pathLst>
                <a:path w="5110261" h="468749">
                  <a:moveTo>
                    <a:pt x="0" y="0"/>
                  </a:moveTo>
                  <a:lnTo>
                    <a:pt x="5110261" y="0"/>
                  </a:lnTo>
                  <a:lnTo>
                    <a:pt x="5110261" y="468749"/>
                  </a:lnTo>
                  <a:lnTo>
                    <a:pt x="0" y="468749"/>
                  </a:lnTo>
                  <a:close/>
                </a:path>
              </a:pathLst>
            </a:custGeom>
            <a:solidFill>
              <a:srgbClr val="8DAFA8"/>
            </a:solidFill>
          </p:spPr>
        </p:sp>
        <p:sp>
          <p:nvSpPr>
            <p:cNvPr id="17" name="TextBox 17">
              <a:extLst>
                <a:ext uri="{FF2B5EF4-FFF2-40B4-BE49-F238E27FC236}">
                  <a16:creationId xmlns:a16="http://schemas.microsoft.com/office/drawing/2014/main" id="{7D9F66D8-3707-16E0-4901-8BFD894AA471}"/>
                </a:ext>
              </a:extLst>
            </p:cNvPr>
            <p:cNvSpPr txBox="1"/>
            <p:nvPr/>
          </p:nvSpPr>
          <p:spPr>
            <a:xfrm>
              <a:off x="0" y="-47625"/>
              <a:ext cx="5110260" cy="516374"/>
            </a:xfrm>
            <a:prstGeom prst="rect">
              <a:avLst/>
            </a:prstGeom>
          </p:spPr>
          <p:txBody>
            <a:bodyPr lIns="50800" tIns="50800" rIns="50800" bIns="50800" rtlCol="0" anchor="ctr"/>
            <a:lstStyle/>
            <a:p>
              <a:pPr algn="ctr">
                <a:lnSpc>
                  <a:spcPts val="2659"/>
                </a:lnSpc>
              </a:pPr>
              <a:endParaRPr/>
            </a:p>
          </p:txBody>
        </p:sp>
      </p:grpSp>
      <p:grpSp>
        <p:nvGrpSpPr>
          <p:cNvPr id="18" name="Group 18">
            <a:extLst>
              <a:ext uri="{FF2B5EF4-FFF2-40B4-BE49-F238E27FC236}">
                <a16:creationId xmlns:a16="http://schemas.microsoft.com/office/drawing/2014/main" id="{BDCEDB52-6F38-9B09-9618-20B03ADE78D3}"/>
              </a:ext>
            </a:extLst>
          </p:cNvPr>
          <p:cNvGrpSpPr/>
          <p:nvPr/>
        </p:nvGrpSpPr>
        <p:grpSpPr>
          <a:xfrm>
            <a:off x="-557510" y="9397109"/>
            <a:ext cx="19403020" cy="1779782"/>
            <a:chOff x="0" y="0"/>
            <a:chExt cx="5110260" cy="468749"/>
          </a:xfrm>
        </p:grpSpPr>
        <p:sp>
          <p:nvSpPr>
            <p:cNvPr id="19" name="Freeform 19">
              <a:extLst>
                <a:ext uri="{FF2B5EF4-FFF2-40B4-BE49-F238E27FC236}">
                  <a16:creationId xmlns:a16="http://schemas.microsoft.com/office/drawing/2014/main" id="{01C206E7-0373-10EA-A238-34EB792EFD5C}"/>
                </a:ext>
              </a:extLst>
            </p:cNvPr>
            <p:cNvSpPr/>
            <p:nvPr/>
          </p:nvSpPr>
          <p:spPr>
            <a:xfrm>
              <a:off x="0" y="0"/>
              <a:ext cx="5110261" cy="468749"/>
            </a:xfrm>
            <a:custGeom>
              <a:avLst/>
              <a:gdLst/>
              <a:ahLst/>
              <a:cxnLst/>
              <a:rect l="l" t="t" r="r" b="b"/>
              <a:pathLst>
                <a:path w="5110261" h="468749">
                  <a:moveTo>
                    <a:pt x="0" y="0"/>
                  </a:moveTo>
                  <a:lnTo>
                    <a:pt x="5110261" y="0"/>
                  </a:lnTo>
                  <a:lnTo>
                    <a:pt x="5110261" y="468749"/>
                  </a:lnTo>
                  <a:lnTo>
                    <a:pt x="0" y="468749"/>
                  </a:lnTo>
                  <a:close/>
                </a:path>
              </a:pathLst>
            </a:custGeom>
            <a:solidFill>
              <a:srgbClr val="8DAFA8"/>
            </a:solidFill>
          </p:spPr>
        </p:sp>
        <p:sp>
          <p:nvSpPr>
            <p:cNvPr id="20" name="TextBox 20">
              <a:extLst>
                <a:ext uri="{FF2B5EF4-FFF2-40B4-BE49-F238E27FC236}">
                  <a16:creationId xmlns:a16="http://schemas.microsoft.com/office/drawing/2014/main" id="{8D04E944-DABD-8B57-57CF-8917656CFB6A}"/>
                </a:ext>
              </a:extLst>
            </p:cNvPr>
            <p:cNvSpPr txBox="1"/>
            <p:nvPr/>
          </p:nvSpPr>
          <p:spPr>
            <a:xfrm>
              <a:off x="0" y="-47625"/>
              <a:ext cx="5110260" cy="516374"/>
            </a:xfrm>
            <a:prstGeom prst="rect">
              <a:avLst/>
            </a:prstGeom>
          </p:spPr>
          <p:txBody>
            <a:bodyPr lIns="50800" tIns="50800" rIns="50800" bIns="50800" rtlCol="0" anchor="ctr"/>
            <a:lstStyle/>
            <a:p>
              <a:pPr algn="ctr">
                <a:lnSpc>
                  <a:spcPts val="2659"/>
                </a:lnSpc>
              </a:pPr>
              <a:endParaRPr/>
            </a:p>
          </p:txBody>
        </p:sp>
      </p:grpSp>
      <p:sp>
        <p:nvSpPr>
          <p:cNvPr id="23" name="TextBox 23">
            <a:extLst>
              <a:ext uri="{FF2B5EF4-FFF2-40B4-BE49-F238E27FC236}">
                <a16:creationId xmlns:a16="http://schemas.microsoft.com/office/drawing/2014/main" id="{28C0FAF4-814E-87DD-2786-757FED837F61}"/>
              </a:ext>
            </a:extLst>
          </p:cNvPr>
          <p:cNvSpPr txBox="1"/>
          <p:nvPr/>
        </p:nvSpPr>
        <p:spPr>
          <a:xfrm>
            <a:off x="11827243" y="1505984"/>
            <a:ext cx="5253409" cy="912089"/>
          </a:xfrm>
          <a:prstGeom prst="rect">
            <a:avLst/>
          </a:prstGeom>
        </p:spPr>
        <p:txBody>
          <a:bodyPr lIns="50800" tIns="50800" rIns="50800" bIns="50800" rtlCol="0" anchor="ctr"/>
          <a:lstStyle/>
          <a:p>
            <a:pPr algn="r">
              <a:lnSpc>
                <a:spcPts val="2659"/>
              </a:lnSpc>
            </a:pPr>
            <a:endParaRPr/>
          </a:p>
        </p:txBody>
      </p:sp>
      <p:sp>
        <p:nvSpPr>
          <p:cNvPr id="24" name="Freeform 24">
            <a:extLst>
              <a:ext uri="{FF2B5EF4-FFF2-40B4-BE49-F238E27FC236}">
                <a16:creationId xmlns:a16="http://schemas.microsoft.com/office/drawing/2014/main" id="{6F0CB609-CD10-C017-366F-A5A445464875}"/>
              </a:ext>
            </a:extLst>
          </p:cNvPr>
          <p:cNvSpPr/>
          <p:nvPr/>
        </p:nvSpPr>
        <p:spPr>
          <a:xfrm rot="1627902">
            <a:off x="6335051" y="2326537"/>
            <a:ext cx="2254244" cy="971374"/>
          </a:xfrm>
          <a:custGeom>
            <a:avLst/>
            <a:gdLst/>
            <a:ahLst/>
            <a:cxnLst/>
            <a:rect l="l" t="t" r="r" b="b"/>
            <a:pathLst>
              <a:path w="2254244" h="971374">
                <a:moveTo>
                  <a:pt x="0" y="0"/>
                </a:moveTo>
                <a:lnTo>
                  <a:pt x="2254244" y="0"/>
                </a:lnTo>
                <a:lnTo>
                  <a:pt x="2254244" y="971375"/>
                </a:lnTo>
                <a:lnTo>
                  <a:pt x="0" y="97137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5" name="Freeform 25">
            <a:extLst>
              <a:ext uri="{FF2B5EF4-FFF2-40B4-BE49-F238E27FC236}">
                <a16:creationId xmlns:a16="http://schemas.microsoft.com/office/drawing/2014/main" id="{CEE1DB50-3564-6AE1-7B07-61024C0F991D}"/>
              </a:ext>
            </a:extLst>
          </p:cNvPr>
          <p:cNvSpPr/>
          <p:nvPr/>
        </p:nvSpPr>
        <p:spPr>
          <a:xfrm rot="1627902" flipV="1">
            <a:off x="747928" y="7642829"/>
            <a:ext cx="2254244" cy="971374"/>
          </a:xfrm>
          <a:custGeom>
            <a:avLst/>
            <a:gdLst/>
            <a:ahLst/>
            <a:cxnLst/>
            <a:rect l="l" t="t" r="r" b="b"/>
            <a:pathLst>
              <a:path w="2254244" h="971374">
                <a:moveTo>
                  <a:pt x="0" y="971374"/>
                </a:moveTo>
                <a:lnTo>
                  <a:pt x="2254244" y="971374"/>
                </a:lnTo>
                <a:lnTo>
                  <a:pt x="2254244" y="0"/>
                </a:lnTo>
                <a:lnTo>
                  <a:pt x="0" y="0"/>
                </a:lnTo>
                <a:lnTo>
                  <a:pt x="0" y="971374"/>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6" name="Freeform 26">
            <a:extLst>
              <a:ext uri="{FF2B5EF4-FFF2-40B4-BE49-F238E27FC236}">
                <a16:creationId xmlns:a16="http://schemas.microsoft.com/office/drawing/2014/main" id="{1D4E75DA-C65F-37B3-33B4-C60CD52CC1E2}"/>
              </a:ext>
            </a:extLst>
          </p:cNvPr>
          <p:cNvSpPr/>
          <p:nvPr/>
        </p:nvSpPr>
        <p:spPr>
          <a:xfrm>
            <a:off x="824566" y="6133262"/>
            <a:ext cx="632667" cy="675664"/>
          </a:xfrm>
          <a:custGeom>
            <a:avLst/>
            <a:gdLst/>
            <a:ahLst/>
            <a:cxnLst/>
            <a:rect l="l" t="t" r="r" b="b"/>
            <a:pathLst>
              <a:path w="632667" h="675664">
                <a:moveTo>
                  <a:pt x="0" y="0"/>
                </a:moveTo>
                <a:lnTo>
                  <a:pt x="632667" y="0"/>
                </a:lnTo>
                <a:lnTo>
                  <a:pt x="632667" y="675664"/>
                </a:lnTo>
                <a:lnTo>
                  <a:pt x="0" y="67566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27" name="Freeform 24">
            <a:extLst>
              <a:ext uri="{FF2B5EF4-FFF2-40B4-BE49-F238E27FC236}">
                <a16:creationId xmlns:a16="http://schemas.microsoft.com/office/drawing/2014/main" id="{CAA98725-3833-4A62-DD46-6AEA4537513F}"/>
              </a:ext>
            </a:extLst>
          </p:cNvPr>
          <p:cNvSpPr/>
          <p:nvPr/>
        </p:nvSpPr>
        <p:spPr>
          <a:xfrm>
            <a:off x="1443627" y="2860851"/>
            <a:ext cx="6120306" cy="4965962"/>
          </a:xfrm>
          <a:custGeom>
            <a:avLst/>
            <a:gdLst/>
            <a:ahLst/>
            <a:cxnLst/>
            <a:rect l="l" t="t" r="r" b="b"/>
            <a:pathLst>
              <a:path w="5550107" h="4763001">
                <a:moveTo>
                  <a:pt x="0" y="0"/>
                </a:moveTo>
                <a:lnTo>
                  <a:pt x="5550106" y="0"/>
                </a:lnTo>
                <a:lnTo>
                  <a:pt x="5550106" y="4763001"/>
                </a:lnTo>
                <a:lnTo>
                  <a:pt x="0" y="476300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29" name="TextBox 28">
            <a:extLst>
              <a:ext uri="{FF2B5EF4-FFF2-40B4-BE49-F238E27FC236}">
                <a16:creationId xmlns:a16="http://schemas.microsoft.com/office/drawing/2014/main" id="{00538970-C366-9E83-0EB8-CA73CC380E7F}"/>
              </a:ext>
            </a:extLst>
          </p:cNvPr>
          <p:cNvSpPr txBox="1"/>
          <p:nvPr/>
        </p:nvSpPr>
        <p:spPr>
          <a:xfrm>
            <a:off x="9802975" y="3555619"/>
            <a:ext cx="9705529" cy="4140877"/>
          </a:xfrm>
          <a:prstGeom prst="rect">
            <a:avLst/>
          </a:prstGeom>
          <a:noFill/>
        </p:spPr>
        <p:txBody>
          <a:bodyPr wrap="square">
            <a:spAutoFit/>
          </a:bodyPr>
          <a:lstStyle/>
          <a:p>
            <a:pPr>
              <a:lnSpc>
                <a:spcPts val="3806"/>
              </a:lnSpc>
              <a:spcBef>
                <a:spcPct val="0"/>
              </a:spcBef>
            </a:pPr>
            <a:r>
              <a:rPr lang="en-US" sz="8000">
                <a:solidFill>
                  <a:srgbClr val="996633"/>
                </a:solidFill>
                <a:latin typeface="League Gothic" panose="020B0604020202020204" charset="0"/>
              </a:rPr>
              <a:t>Statistical Analysis Part 1: </a:t>
            </a:r>
          </a:p>
          <a:p>
            <a:pPr>
              <a:lnSpc>
                <a:spcPts val="3806"/>
              </a:lnSpc>
              <a:spcBef>
                <a:spcPct val="0"/>
              </a:spcBef>
            </a:pPr>
            <a:endParaRPr lang="en-US" sz="8000">
              <a:solidFill>
                <a:srgbClr val="996633"/>
              </a:solidFill>
              <a:latin typeface="League Gothic" panose="020B0604020202020204" charset="0"/>
            </a:endParaRPr>
          </a:p>
          <a:p>
            <a:pPr>
              <a:lnSpc>
                <a:spcPts val="3806"/>
              </a:lnSpc>
              <a:spcBef>
                <a:spcPct val="0"/>
              </a:spcBef>
            </a:pPr>
            <a:endParaRPr lang="en-US" sz="8000">
              <a:solidFill>
                <a:srgbClr val="996633"/>
              </a:solidFill>
              <a:latin typeface="League Gothic" panose="020B0604020202020204" charset="0"/>
            </a:endParaRPr>
          </a:p>
          <a:p>
            <a:pPr>
              <a:lnSpc>
                <a:spcPts val="3806"/>
              </a:lnSpc>
              <a:spcBef>
                <a:spcPct val="0"/>
              </a:spcBef>
            </a:pPr>
            <a:r>
              <a:rPr lang="en-US" sz="8000">
                <a:solidFill>
                  <a:srgbClr val="996633"/>
                </a:solidFill>
                <a:latin typeface="League Gothic" panose="020B0604020202020204" charset="0"/>
              </a:rPr>
              <a:t>Frequency Tables, </a:t>
            </a:r>
          </a:p>
          <a:p>
            <a:pPr>
              <a:lnSpc>
                <a:spcPts val="3806"/>
              </a:lnSpc>
              <a:spcBef>
                <a:spcPct val="0"/>
              </a:spcBef>
            </a:pPr>
            <a:endParaRPr lang="en-US" sz="8000">
              <a:solidFill>
                <a:srgbClr val="996633"/>
              </a:solidFill>
              <a:latin typeface="League Gothic" panose="020B0604020202020204" charset="0"/>
            </a:endParaRPr>
          </a:p>
          <a:p>
            <a:pPr>
              <a:lnSpc>
                <a:spcPts val="3806"/>
              </a:lnSpc>
              <a:spcBef>
                <a:spcPct val="0"/>
              </a:spcBef>
            </a:pPr>
            <a:r>
              <a:rPr lang="en-US" sz="8000">
                <a:solidFill>
                  <a:srgbClr val="996633"/>
                </a:solidFill>
                <a:latin typeface="League Gothic" panose="020B0604020202020204" charset="0"/>
              </a:rPr>
              <a:t>Pie Charts, </a:t>
            </a:r>
          </a:p>
          <a:p>
            <a:pPr>
              <a:lnSpc>
                <a:spcPts val="3806"/>
              </a:lnSpc>
              <a:spcBef>
                <a:spcPct val="0"/>
              </a:spcBef>
            </a:pPr>
            <a:endParaRPr lang="en-US" sz="8000">
              <a:solidFill>
                <a:srgbClr val="996633"/>
              </a:solidFill>
              <a:latin typeface="League Gothic" panose="020B0604020202020204" charset="0"/>
            </a:endParaRPr>
          </a:p>
          <a:p>
            <a:pPr>
              <a:lnSpc>
                <a:spcPts val="3806"/>
              </a:lnSpc>
              <a:spcBef>
                <a:spcPct val="0"/>
              </a:spcBef>
            </a:pPr>
            <a:r>
              <a:rPr lang="en-US" sz="8000">
                <a:solidFill>
                  <a:srgbClr val="996633"/>
                </a:solidFill>
                <a:latin typeface="League Gothic" panose="020B0604020202020204" charset="0"/>
              </a:rPr>
              <a:t>Bar Charts</a:t>
            </a:r>
          </a:p>
        </p:txBody>
      </p:sp>
    </p:spTree>
    <p:extLst>
      <p:ext uri="{BB962C8B-B14F-4D97-AF65-F5344CB8AC3E}">
        <p14:creationId xmlns:p14="http://schemas.microsoft.com/office/powerpoint/2010/main" val="154718987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7EF"/>
        </a:solidFill>
        <a:effectLst/>
      </p:bgPr>
    </p:bg>
    <p:spTree>
      <p:nvGrpSpPr>
        <p:cNvPr id="1" name="">
          <a:extLst>
            <a:ext uri="{FF2B5EF4-FFF2-40B4-BE49-F238E27FC236}">
              <a16:creationId xmlns:a16="http://schemas.microsoft.com/office/drawing/2014/main" id="{2C5EC041-2A46-57E6-E9D7-CF5F2C4CA06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415F133-DDC6-1638-F24B-305D6CB5FF8F}"/>
              </a:ext>
            </a:extLst>
          </p:cNvPr>
          <p:cNvGrpSpPr/>
          <p:nvPr/>
        </p:nvGrpSpPr>
        <p:grpSpPr>
          <a:xfrm>
            <a:off x="-557510" y="9724377"/>
            <a:ext cx="19403020" cy="2466909"/>
            <a:chOff x="0" y="0"/>
            <a:chExt cx="5110260" cy="649721"/>
          </a:xfrm>
        </p:grpSpPr>
        <p:sp>
          <p:nvSpPr>
            <p:cNvPr id="3" name="Freeform 3">
              <a:extLst>
                <a:ext uri="{FF2B5EF4-FFF2-40B4-BE49-F238E27FC236}">
                  <a16:creationId xmlns:a16="http://schemas.microsoft.com/office/drawing/2014/main" id="{9B1C1CE4-9907-E4D0-180D-E9F7068F9D6B}"/>
                </a:ext>
              </a:extLst>
            </p:cNvPr>
            <p:cNvSpPr/>
            <p:nvPr/>
          </p:nvSpPr>
          <p:spPr>
            <a:xfrm>
              <a:off x="0" y="0"/>
              <a:ext cx="5110261" cy="649721"/>
            </a:xfrm>
            <a:custGeom>
              <a:avLst/>
              <a:gdLst/>
              <a:ahLst/>
              <a:cxnLst/>
              <a:rect l="l" t="t" r="r" b="b"/>
              <a:pathLst>
                <a:path w="5110261" h="649721">
                  <a:moveTo>
                    <a:pt x="0" y="0"/>
                  </a:moveTo>
                  <a:lnTo>
                    <a:pt x="5110261" y="0"/>
                  </a:lnTo>
                  <a:lnTo>
                    <a:pt x="5110261" y="649721"/>
                  </a:lnTo>
                  <a:lnTo>
                    <a:pt x="0" y="649721"/>
                  </a:lnTo>
                  <a:close/>
                </a:path>
              </a:pathLst>
            </a:custGeom>
            <a:solidFill>
              <a:srgbClr val="8DAFA8"/>
            </a:solidFill>
          </p:spPr>
        </p:sp>
        <p:sp>
          <p:nvSpPr>
            <p:cNvPr id="4" name="TextBox 4">
              <a:extLst>
                <a:ext uri="{FF2B5EF4-FFF2-40B4-BE49-F238E27FC236}">
                  <a16:creationId xmlns:a16="http://schemas.microsoft.com/office/drawing/2014/main" id="{6F807B8A-11C1-7297-65C2-8D91DEF2695F}"/>
                </a:ext>
              </a:extLst>
            </p:cNvPr>
            <p:cNvSpPr txBox="1"/>
            <p:nvPr/>
          </p:nvSpPr>
          <p:spPr>
            <a:xfrm>
              <a:off x="0" y="-47625"/>
              <a:ext cx="5110260" cy="697346"/>
            </a:xfrm>
            <a:prstGeom prst="rect">
              <a:avLst/>
            </a:prstGeom>
          </p:spPr>
          <p:txBody>
            <a:bodyPr lIns="50800" tIns="50800" rIns="50800" bIns="50800" rtlCol="0" anchor="ctr"/>
            <a:lstStyle/>
            <a:p>
              <a:pPr algn="ctr">
                <a:lnSpc>
                  <a:spcPts val="2659"/>
                </a:lnSpc>
              </a:pPr>
              <a:endParaRPr/>
            </a:p>
          </p:txBody>
        </p:sp>
      </p:grpSp>
      <p:sp>
        <p:nvSpPr>
          <p:cNvPr id="12" name="TextBox 11">
            <a:extLst>
              <a:ext uri="{FF2B5EF4-FFF2-40B4-BE49-F238E27FC236}">
                <a16:creationId xmlns:a16="http://schemas.microsoft.com/office/drawing/2014/main" id="{7913F968-9099-872C-3D25-E68E15830FFD}"/>
              </a:ext>
            </a:extLst>
          </p:cNvPr>
          <p:cNvSpPr txBox="1"/>
          <p:nvPr/>
        </p:nvSpPr>
        <p:spPr>
          <a:xfrm>
            <a:off x="2143626" y="548875"/>
            <a:ext cx="13335000" cy="1702133"/>
          </a:xfrm>
          <a:prstGeom prst="rect">
            <a:avLst/>
          </a:prstGeom>
          <a:noFill/>
        </p:spPr>
        <p:txBody>
          <a:bodyPr wrap="square">
            <a:spAutoFit/>
          </a:bodyPr>
          <a:lstStyle/>
          <a:p>
            <a:pPr>
              <a:lnSpc>
                <a:spcPct val="106000"/>
              </a:lnSpc>
              <a:spcAft>
                <a:spcPts val="800"/>
              </a:spcAft>
            </a:pPr>
            <a:r>
              <a:rPr lang="en-IN" sz="2400" b="1">
                <a:latin typeface="ITC Franklin Gothic LT" panose="020B0604020202020204" charset="0"/>
                <a:ea typeface="Calibri" panose="020F0502020204030204" pitchFamily="34" charset="0"/>
                <a:cs typeface="Times New Roman" panose="02020603050405020304" pitchFamily="18" charset="0"/>
              </a:rPr>
              <a:t>1</a:t>
            </a:r>
            <a:r>
              <a:rPr lang="en-IN" sz="2400" b="1">
                <a:effectLst/>
                <a:latin typeface="ITC Franklin Gothic LT" panose="020B0604020202020204" charset="0"/>
                <a:ea typeface="Calibri" panose="020F0502020204030204" pitchFamily="34" charset="0"/>
                <a:cs typeface="Times New Roman" panose="02020603050405020304" pitchFamily="18" charset="0"/>
              </a:rPr>
              <a:t>. OCCUPATIONAL SECTOR</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a:lnSpc>
                <a:spcPct val="106000"/>
              </a:lnSpc>
              <a:spcAft>
                <a:spcPts val="800"/>
              </a:spcAft>
            </a:pPr>
            <a:r>
              <a:rPr lang="en-IN" sz="2400">
                <a:effectLst/>
                <a:latin typeface="ITC Franklin Gothic LT" panose="020B0604020202020204" charset="0"/>
                <a:ea typeface="Calibri" panose="020F0502020204030204" pitchFamily="34" charset="0"/>
                <a:cs typeface="Times New Roman" panose="02020603050405020304" pitchFamily="18" charset="0"/>
              </a:rPr>
              <a:t>a) Government       b) Private      c) Business      d) Others</a:t>
            </a:r>
          </a:p>
          <a:p>
            <a:pPr>
              <a:lnSpc>
                <a:spcPct val="106000"/>
              </a:lnSpc>
              <a:spcAft>
                <a:spcPts val="800"/>
              </a:spcAft>
            </a:pPr>
            <a:endParaRPr lang="en-IN" sz="4000">
              <a:effectLst/>
              <a:latin typeface="ITC Franklin Gothic LT" panose="020B0604020202020204" charset="0"/>
              <a:ea typeface="Calibri" panose="020F0502020204030204" pitchFamily="34" charset="0"/>
              <a:cs typeface="Times New Roman" panose="02020603050405020304" pitchFamily="18" charset="0"/>
            </a:endParaRPr>
          </a:p>
        </p:txBody>
      </p:sp>
      <p:graphicFrame>
        <p:nvGraphicFramePr>
          <p:cNvPr id="5" name="Chart 4">
            <a:extLst>
              <a:ext uri="{FF2B5EF4-FFF2-40B4-BE49-F238E27FC236}">
                <a16:creationId xmlns:a16="http://schemas.microsoft.com/office/drawing/2014/main" id="{B2F5710A-C417-9419-2815-0EE396EE9127}"/>
              </a:ext>
            </a:extLst>
          </p:cNvPr>
          <p:cNvGraphicFramePr/>
          <p:nvPr>
            <p:extLst>
              <p:ext uri="{D42A27DB-BD31-4B8C-83A1-F6EECF244321}">
                <p14:modId xmlns:p14="http://schemas.microsoft.com/office/powerpoint/2010/main" val="502735535"/>
              </p:ext>
            </p:extLst>
          </p:nvPr>
        </p:nvGraphicFramePr>
        <p:xfrm>
          <a:off x="4864100" y="1840181"/>
          <a:ext cx="8559800" cy="5075305"/>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a:extLst>
              <a:ext uri="{FF2B5EF4-FFF2-40B4-BE49-F238E27FC236}">
                <a16:creationId xmlns:a16="http://schemas.microsoft.com/office/drawing/2014/main" id="{FFE5DA4E-BF6A-35C1-C9C0-908338055C24}"/>
              </a:ext>
            </a:extLst>
          </p:cNvPr>
          <p:cNvSpPr txBox="1"/>
          <p:nvPr/>
        </p:nvSpPr>
        <p:spPr>
          <a:xfrm>
            <a:off x="2286000" y="6915486"/>
            <a:ext cx="12725400" cy="2641813"/>
          </a:xfrm>
          <a:prstGeom prst="rect">
            <a:avLst/>
          </a:prstGeom>
          <a:noFill/>
        </p:spPr>
        <p:txBody>
          <a:bodyPr wrap="square" rtlCol="0">
            <a:spAutoFit/>
          </a:bodyPr>
          <a:lstStyle/>
          <a:p>
            <a:pPr>
              <a:lnSpc>
                <a:spcPct val="106000"/>
              </a:lnSpc>
              <a:spcAft>
                <a:spcPts val="800"/>
              </a:spcAft>
            </a:pPr>
            <a:r>
              <a:rPr lang="en-IN" sz="2400" b="1">
                <a:effectLst/>
                <a:latin typeface="ITC Franklin Gothic LT" panose="020B0604020202020204" charset="0"/>
                <a:ea typeface="Calibri" panose="020F0502020204030204" pitchFamily="34" charset="0"/>
                <a:cs typeface="Times New Roman" panose="02020603050405020304" pitchFamily="18" charset="0"/>
              </a:rPr>
              <a:t>CONCLUSION:</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a:lnSpc>
                <a:spcPct val="106000"/>
              </a:lnSpc>
              <a:spcAft>
                <a:spcPts val="800"/>
              </a:spcAft>
            </a:pPr>
            <a:r>
              <a:rPr lang="en-IN" sz="2400">
                <a:effectLst/>
                <a:latin typeface="ITC Franklin Gothic LT" panose="020B0604020202020204" charset="0"/>
                <a:ea typeface="Calibri" panose="020F0502020204030204" pitchFamily="34" charset="0"/>
                <a:cs typeface="Times New Roman" panose="02020603050405020304" pitchFamily="18" charset="0"/>
              </a:rPr>
              <a:t>According to the survey, among 150 respondents,</a:t>
            </a:r>
          </a:p>
          <a:p>
            <a:pPr marL="342900" lvl="0" indent="-342900">
              <a:lnSpc>
                <a:spcPct val="107000"/>
              </a:lnSpc>
              <a:buFont typeface="Wingdings" panose="05000000000000000000" pitchFamily="2" charset="2"/>
              <a:buChar char=""/>
            </a:pPr>
            <a:r>
              <a:rPr lang="en-IN" sz="2400">
                <a:effectLst/>
                <a:latin typeface="ITC Franklin Gothic LT" panose="020B0604020202020204" charset="0"/>
                <a:ea typeface="Calibri" panose="020F0502020204030204" pitchFamily="34" charset="0"/>
                <a:cs typeface="Times New Roman" panose="02020603050405020304" pitchFamily="18" charset="0"/>
              </a:rPr>
              <a:t>86 (</a:t>
            </a:r>
            <a:r>
              <a:rPr lang="en-IN" sz="2400">
                <a:effectLst/>
                <a:latin typeface="ITC Franklin Gothic LT" panose="020B0604020202020204" charset="0"/>
                <a:ea typeface="Times New Roman" panose="02020603050405020304" pitchFamily="18" charset="0"/>
                <a:cs typeface="Times New Roman" panose="02020603050405020304" pitchFamily="18" charset="0"/>
              </a:rPr>
              <a:t>57.3</a:t>
            </a:r>
            <a:r>
              <a:rPr lang="en-IN" sz="2400">
                <a:effectLst/>
                <a:latin typeface="ITC Franklin Gothic LT" panose="020B0604020202020204" charset="0"/>
                <a:ea typeface="Calibri" panose="020F0502020204030204" pitchFamily="34" charset="0"/>
                <a:cs typeface="Times New Roman" panose="02020603050405020304" pitchFamily="18" charset="0"/>
              </a:rPr>
              <a:t>%) respondents are private employees. </a:t>
            </a:r>
          </a:p>
          <a:p>
            <a:pPr marL="342900" lvl="0" indent="-342900">
              <a:lnSpc>
                <a:spcPct val="107000"/>
              </a:lnSpc>
              <a:buFont typeface="Wingdings" panose="05000000000000000000" pitchFamily="2" charset="2"/>
              <a:buChar char=""/>
            </a:pPr>
            <a:r>
              <a:rPr lang="en-IN" sz="2400">
                <a:effectLst/>
                <a:latin typeface="ITC Franklin Gothic LT" panose="020B0604020202020204" charset="0"/>
                <a:ea typeface="Calibri" panose="020F0502020204030204" pitchFamily="34" charset="0"/>
                <a:cs typeface="Times New Roman" panose="02020603050405020304" pitchFamily="18" charset="0"/>
              </a:rPr>
              <a:t>35 (23.3%) respondents are government employees. </a:t>
            </a:r>
          </a:p>
          <a:p>
            <a:pPr marL="342900" lvl="0" indent="-342900">
              <a:lnSpc>
                <a:spcPct val="107000"/>
              </a:lnSpc>
              <a:buFont typeface="Wingdings" panose="05000000000000000000" pitchFamily="2" charset="2"/>
              <a:buChar char=""/>
            </a:pPr>
            <a:r>
              <a:rPr lang="en-IN" sz="2400">
                <a:effectLst/>
                <a:latin typeface="ITC Franklin Gothic LT" panose="020B0604020202020204" charset="0"/>
                <a:ea typeface="Calibri" panose="020F0502020204030204" pitchFamily="34" charset="0"/>
                <a:cs typeface="Times New Roman" panose="02020603050405020304" pitchFamily="18" charset="0"/>
              </a:rPr>
              <a:t>17(11.3%) respondents are business professionals.</a:t>
            </a:r>
          </a:p>
          <a:p>
            <a:pPr marL="342900" lvl="0" indent="-342900">
              <a:lnSpc>
                <a:spcPct val="107000"/>
              </a:lnSpc>
              <a:spcAft>
                <a:spcPts val="800"/>
              </a:spcAft>
              <a:buFont typeface="Wingdings" panose="05000000000000000000" pitchFamily="2" charset="2"/>
              <a:buChar char=""/>
            </a:pPr>
            <a:r>
              <a:rPr lang="en-IN" sz="2400">
                <a:effectLst/>
                <a:latin typeface="ITC Franklin Gothic LT" panose="020B0604020202020204" charset="0"/>
                <a:ea typeface="Calibri" panose="020F0502020204030204" pitchFamily="34" charset="0"/>
                <a:cs typeface="Times New Roman" panose="02020603050405020304" pitchFamily="18" charset="0"/>
              </a:rPr>
              <a:t>12(8%) respondents are from other sectors.</a:t>
            </a:r>
          </a:p>
        </p:txBody>
      </p:sp>
    </p:spTree>
    <p:extLst>
      <p:ext uri="{BB962C8B-B14F-4D97-AF65-F5344CB8AC3E}">
        <p14:creationId xmlns:p14="http://schemas.microsoft.com/office/powerpoint/2010/main" val="416159549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7EF"/>
        </a:solidFill>
        <a:effectLst/>
      </p:bgPr>
    </p:bg>
    <p:spTree>
      <p:nvGrpSpPr>
        <p:cNvPr id="1" name="">
          <a:extLst>
            <a:ext uri="{FF2B5EF4-FFF2-40B4-BE49-F238E27FC236}">
              <a16:creationId xmlns:a16="http://schemas.microsoft.com/office/drawing/2014/main" id="{68B45045-024C-5604-13CF-6E000E9F7D6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A520662-5887-2D95-0B14-D53E59F94DA1}"/>
              </a:ext>
            </a:extLst>
          </p:cNvPr>
          <p:cNvGrpSpPr/>
          <p:nvPr/>
        </p:nvGrpSpPr>
        <p:grpSpPr>
          <a:xfrm>
            <a:off x="-457200" y="9763408"/>
            <a:ext cx="19403020" cy="2466909"/>
            <a:chOff x="0" y="0"/>
            <a:chExt cx="5110260" cy="649721"/>
          </a:xfrm>
        </p:grpSpPr>
        <p:sp>
          <p:nvSpPr>
            <p:cNvPr id="3" name="Freeform 3">
              <a:extLst>
                <a:ext uri="{FF2B5EF4-FFF2-40B4-BE49-F238E27FC236}">
                  <a16:creationId xmlns:a16="http://schemas.microsoft.com/office/drawing/2014/main" id="{5C0C1EAC-1F07-813B-CADA-D56D6C800F85}"/>
                </a:ext>
              </a:extLst>
            </p:cNvPr>
            <p:cNvSpPr/>
            <p:nvPr/>
          </p:nvSpPr>
          <p:spPr>
            <a:xfrm>
              <a:off x="0" y="0"/>
              <a:ext cx="5110261" cy="649721"/>
            </a:xfrm>
            <a:custGeom>
              <a:avLst/>
              <a:gdLst/>
              <a:ahLst/>
              <a:cxnLst/>
              <a:rect l="l" t="t" r="r" b="b"/>
              <a:pathLst>
                <a:path w="5110261" h="649721">
                  <a:moveTo>
                    <a:pt x="0" y="0"/>
                  </a:moveTo>
                  <a:lnTo>
                    <a:pt x="5110261" y="0"/>
                  </a:lnTo>
                  <a:lnTo>
                    <a:pt x="5110261" y="649721"/>
                  </a:lnTo>
                  <a:lnTo>
                    <a:pt x="0" y="649721"/>
                  </a:lnTo>
                  <a:close/>
                </a:path>
              </a:pathLst>
            </a:custGeom>
            <a:solidFill>
              <a:srgbClr val="8DAFA8"/>
            </a:solidFill>
          </p:spPr>
        </p:sp>
        <p:sp>
          <p:nvSpPr>
            <p:cNvPr id="4" name="TextBox 4">
              <a:extLst>
                <a:ext uri="{FF2B5EF4-FFF2-40B4-BE49-F238E27FC236}">
                  <a16:creationId xmlns:a16="http://schemas.microsoft.com/office/drawing/2014/main" id="{1C8F2C38-1DB3-0932-9E82-040A3D2DDDAC}"/>
                </a:ext>
              </a:extLst>
            </p:cNvPr>
            <p:cNvSpPr txBox="1"/>
            <p:nvPr/>
          </p:nvSpPr>
          <p:spPr>
            <a:xfrm>
              <a:off x="0" y="-47625"/>
              <a:ext cx="5110260" cy="697346"/>
            </a:xfrm>
            <a:prstGeom prst="rect">
              <a:avLst/>
            </a:prstGeom>
          </p:spPr>
          <p:txBody>
            <a:bodyPr lIns="50800" tIns="50800" rIns="50800" bIns="50800" rtlCol="0" anchor="ctr"/>
            <a:lstStyle/>
            <a:p>
              <a:pPr algn="ctr">
                <a:lnSpc>
                  <a:spcPts val="2659"/>
                </a:lnSpc>
              </a:pPr>
              <a:endParaRPr/>
            </a:p>
          </p:txBody>
        </p:sp>
      </p:grpSp>
      <p:sp>
        <p:nvSpPr>
          <p:cNvPr id="12" name="TextBox 11">
            <a:extLst>
              <a:ext uri="{FF2B5EF4-FFF2-40B4-BE49-F238E27FC236}">
                <a16:creationId xmlns:a16="http://schemas.microsoft.com/office/drawing/2014/main" id="{925AE3FB-16B2-C4F1-6D31-289B54EAAA20}"/>
              </a:ext>
            </a:extLst>
          </p:cNvPr>
          <p:cNvSpPr txBox="1"/>
          <p:nvPr/>
        </p:nvSpPr>
        <p:spPr>
          <a:xfrm>
            <a:off x="2008322" y="495300"/>
            <a:ext cx="13868400" cy="2196242"/>
          </a:xfrm>
          <a:prstGeom prst="rect">
            <a:avLst/>
          </a:prstGeom>
          <a:noFill/>
        </p:spPr>
        <p:txBody>
          <a:bodyPr wrap="square">
            <a:spAutoFit/>
          </a:bodyPr>
          <a:lstStyle/>
          <a:p>
            <a:pPr>
              <a:lnSpc>
                <a:spcPct val="106000"/>
              </a:lnSpc>
              <a:spcAft>
                <a:spcPts val="800"/>
              </a:spcAft>
            </a:pPr>
            <a:r>
              <a:rPr lang="en-IN" sz="2400" b="1">
                <a:latin typeface="ITC Franklin Gothic LT" panose="020B0604020202020204" charset="0"/>
                <a:ea typeface="Calibri" panose="020F0502020204030204" pitchFamily="34" charset="0"/>
                <a:cs typeface="Times New Roman" panose="02020603050405020304" pitchFamily="18" charset="0"/>
              </a:rPr>
              <a:t>2</a:t>
            </a:r>
            <a:r>
              <a:rPr lang="en-IN" sz="2400" b="1">
                <a:effectLst/>
                <a:latin typeface="ITC Franklin Gothic LT" panose="020B0604020202020204" charset="0"/>
                <a:ea typeface="Calibri" panose="020F0502020204030204" pitchFamily="34" charset="0"/>
                <a:cs typeface="Times New Roman" panose="02020603050405020304" pitchFamily="18" charset="0"/>
              </a:rPr>
              <a:t>. ANNUAL INCOME</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a:lnSpc>
                <a:spcPct val="106000"/>
              </a:lnSpc>
              <a:spcAft>
                <a:spcPts val="800"/>
              </a:spcAft>
            </a:pPr>
            <a:r>
              <a:rPr lang="en-IN" sz="2400">
                <a:effectLst/>
                <a:latin typeface="ITC Franklin Gothic LT" panose="020B0604020202020204" charset="0"/>
                <a:ea typeface="Calibri" panose="020F0502020204030204" pitchFamily="34" charset="0"/>
                <a:cs typeface="Times New Roman" panose="02020603050405020304" pitchFamily="18" charset="0"/>
              </a:rPr>
              <a:t>a) Less than Rs.3,00,000                            b) Rs.3,00,000 to Rs.5,00,000 </a:t>
            </a:r>
          </a:p>
          <a:p>
            <a:pPr>
              <a:lnSpc>
                <a:spcPct val="106000"/>
              </a:lnSpc>
              <a:spcAft>
                <a:spcPts val="800"/>
              </a:spcAft>
            </a:pPr>
            <a:r>
              <a:rPr lang="en-IN" sz="2400">
                <a:effectLst/>
                <a:latin typeface="ITC Franklin Gothic LT" panose="020B0604020202020204" charset="0"/>
                <a:ea typeface="Calibri" panose="020F0502020204030204" pitchFamily="34" charset="0"/>
                <a:cs typeface="Times New Roman" panose="02020603050405020304" pitchFamily="18" charset="0"/>
              </a:rPr>
              <a:t>c) Rs.5,00,000 to Rs.10,00,000                 d) Greater than Rs.10,00,000</a:t>
            </a:r>
          </a:p>
          <a:p>
            <a:pPr>
              <a:lnSpc>
                <a:spcPct val="106000"/>
              </a:lnSpc>
              <a:spcAft>
                <a:spcPts val="800"/>
              </a:spcAft>
            </a:pPr>
            <a:endParaRPr lang="en-IN" sz="4000">
              <a:effectLst/>
              <a:latin typeface="ITC Franklin Gothic LT" panose="020B0604020202020204" charset="0"/>
              <a:ea typeface="Calibri" panose="020F050202020403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9102A720-AB9C-3A2C-D497-324C04B99FD6}"/>
              </a:ext>
            </a:extLst>
          </p:cNvPr>
          <p:cNvSpPr txBox="1"/>
          <p:nvPr/>
        </p:nvSpPr>
        <p:spPr>
          <a:xfrm>
            <a:off x="2000301" y="7044903"/>
            <a:ext cx="15163800" cy="2628092"/>
          </a:xfrm>
          <a:prstGeom prst="rect">
            <a:avLst/>
          </a:prstGeom>
          <a:noFill/>
        </p:spPr>
        <p:txBody>
          <a:bodyPr wrap="square">
            <a:spAutoFit/>
          </a:bodyPr>
          <a:lstStyle/>
          <a:p>
            <a:pPr>
              <a:lnSpc>
                <a:spcPct val="106000"/>
              </a:lnSpc>
              <a:spcAft>
                <a:spcPts val="800"/>
              </a:spcAft>
            </a:pPr>
            <a:r>
              <a:rPr lang="en-IN" sz="2400" b="1">
                <a:effectLst/>
                <a:latin typeface="ITC Franklin Gothic LT" panose="020B0604020202020204" charset="0"/>
                <a:ea typeface="Calibri" panose="020F0502020204030204" pitchFamily="34" charset="0"/>
                <a:cs typeface="Times New Roman" panose="02020603050405020304" pitchFamily="18" charset="0"/>
              </a:rPr>
              <a:t>CONCLUSION:</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a:lnSpc>
                <a:spcPct val="106000"/>
              </a:lnSpc>
              <a:spcAft>
                <a:spcPts val="800"/>
              </a:spcAft>
            </a:pPr>
            <a:r>
              <a:rPr lang="en-IN" sz="2400">
                <a:effectLst/>
                <a:latin typeface="ITC Franklin Gothic LT" panose="020B0604020202020204" charset="0"/>
                <a:ea typeface="Calibri" panose="020F0502020204030204" pitchFamily="34" charset="0"/>
                <a:cs typeface="Times New Roman" panose="02020603050405020304" pitchFamily="18" charset="0"/>
              </a:rPr>
              <a:t>According to the survey, among 150 respondents,</a:t>
            </a:r>
          </a:p>
          <a:p>
            <a:pPr marL="342900" lvl="0" indent="-342900">
              <a:lnSpc>
                <a:spcPct val="106000"/>
              </a:lnSpc>
              <a:buFont typeface="Wingdings" panose="05000000000000000000" pitchFamily="2" charset="2"/>
              <a:buChar char=""/>
            </a:pPr>
            <a:r>
              <a:rPr lang="en-IN" sz="2400">
                <a:effectLst/>
                <a:latin typeface="ITC Franklin Gothic LT" panose="020B0604020202020204" charset="0"/>
                <a:ea typeface="Calibri" panose="020F0502020204030204" pitchFamily="34" charset="0"/>
                <a:cs typeface="Times New Roman" panose="02020603050405020304" pitchFamily="18" charset="0"/>
              </a:rPr>
              <a:t>48 (34%) respondents’ annual income is between </a:t>
            </a:r>
            <a:r>
              <a:rPr lang="en-IN" sz="2400" b="1">
                <a:effectLst/>
                <a:latin typeface="ITC Franklin Gothic LT" panose="020B0604020202020204" charset="0"/>
                <a:ea typeface="Times New Roman" panose="02020603050405020304" pitchFamily="18" charset="0"/>
                <a:cs typeface="Times New Roman" panose="02020603050405020304" pitchFamily="18" charset="0"/>
              </a:rPr>
              <a:t> </a:t>
            </a:r>
            <a:r>
              <a:rPr lang="en-IN" sz="2400">
                <a:effectLst/>
                <a:latin typeface="ITC Franklin Gothic LT" panose="020B0604020202020204" charset="0"/>
                <a:ea typeface="Times New Roman" panose="02020603050405020304" pitchFamily="18" charset="0"/>
                <a:cs typeface="Times New Roman" panose="02020603050405020304" pitchFamily="18" charset="0"/>
              </a:rPr>
              <a:t>Rs.5,</a:t>
            </a:r>
            <a:r>
              <a:rPr lang="en-IN" sz="2400">
                <a:effectLst/>
                <a:latin typeface="ITC Franklin Gothic LT" panose="020B0604020202020204" charset="0"/>
                <a:ea typeface="Calibri" panose="020F0502020204030204" pitchFamily="34" charset="0"/>
                <a:cs typeface="Times New Roman" panose="02020603050405020304" pitchFamily="18" charset="0"/>
              </a:rPr>
              <a:t>00,000</a:t>
            </a:r>
            <a:r>
              <a:rPr lang="en-IN" sz="2400">
                <a:effectLst/>
                <a:latin typeface="ITC Franklin Gothic LT" panose="020B0604020202020204" charset="0"/>
                <a:ea typeface="Times New Roman" panose="02020603050405020304" pitchFamily="18" charset="0"/>
                <a:cs typeface="Times New Roman" panose="02020603050405020304" pitchFamily="18" charset="0"/>
              </a:rPr>
              <a:t> to Rs. 1</a:t>
            </a:r>
            <a:r>
              <a:rPr lang="en-IN" sz="2400">
                <a:effectLst/>
                <a:latin typeface="ITC Franklin Gothic LT" panose="020B0604020202020204" charset="0"/>
                <a:ea typeface="Calibri" panose="020F0502020204030204" pitchFamily="34" charset="0"/>
                <a:cs typeface="Times New Roman" panose="02020603050405020304" pitchFamily="18" charset="0"/>
              </a:rPr>
              <a:t>0,00,000</a:t>
            </a:r>
            <a:r>
              <a:rPr lang="en-IN" sz="2400">
                <a:effectLst/>
                <a:latin typeface="ITC Franklin Gothic LT" panose="020B0604020202020204" charset="0"/>
                <a:ea typeface="Times New Roman" panose="02020603050405020304" pitchFamily="18" charset="0"/>
                <a:cs typeface="Times New Roman" panose="02020603050405020304" pitchFamily="18" charset="0"/>
              </a:rPr>
              <a:t>.</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342900" lvl="0" indent="-342900">
              <a:lnSpc>
                <a:spcPct val="106000"/>
              </a:lnSpc>
              <a:buFont typeface="Wingdings" panose="05000000000000000000" pitchFamily="2" charset="2"/>
              <a:buChar char=""/>
            </a:pPr>
            <a:r>
              <a:rPr lang="en-IN" sz="2400">
                <a:effectLst/>
                <a:latin typeface="ITC Franklin Gothic LT" panose="020B0604020202020204" charset="0"/>
                <a:ea typeface="Calibri" panose="020F0502020204030204" pitchFamily="34" charset="0"/>
                <a:cs typeface="Times New Roman" panose="02020603050405020304" pitchFamily="18" charset="0"/>
              </a:rPr>
              <a:t>41 (34%) respondents’ annual income is between </a:t>
            </a:r>
            <a:r>
              <a:rPr lang="en-IN" sz="2400" b="1">
                <a:effectLst/>
                <a:latin typeface="ITC Franklin Gothic LT" panose="020B0604020202020204" charset="0"/>
                <a:ea typeface="Times New Roman" panose="02020603050405020304" pitchFamily="18" charset="0"/>
                <a:cs typeface="Times New Roman" panose="02020603050405020304" pitchFamily="18" charset="0"/>
              </a:rPr>
              <a:t> </a:t>
            </a:r>
            <a:r>
              <a:rPr lang="en-IN" sz="2400">
                <a:effectLst/>
                <a:latin typeface="ITC Franklin Gothic LT" panose="020B0604020202020204" charset="0"/>
                <a:ea typeface="Times New Roman" panose="02020603050405020304" pitchFamily="18" charset="0"/>
                <a:cs typeface="Times New Roman" panose="02020603050405020304" pitchFamily="18" charset="0"/>
              </a:rPr>
              <a:t>Rs.3,</a:t>
            </a:r>
            <a:r>
              <a:rPr lang="en-IN" sz="2400">
                <a:effectLst/>
                <a:latin typeface="ITC Franklin Gothic LT" panose="020B0604020202020204" charset="0"/>
                <a:ea typeface="Calibri" panose="020F0502020204030204" pitchFamily="34" charset="0"/>
                <a:cs typeface="Times New Roman" panose="02020603050405020304" pitchFamily="18" charset="0"/>
              </a:rPr>
              <a:t>00,000</a:t>
            </a:r>
            <a:r>
              <a:rPr lang="en-IN" sz="2400">
                <a:effectLst/>
                <a:latin typeface="ITC Franklin Gothic LT" panose="020B0604020202020204" charset="0"/>
                <a:ea typeface="Times New Roman" panose="02020603050405020304" pitchFamily="18" charset="0"/>
                <a:cs typeface="Times New Roman" panose="02020603050405020304" pitchFamily="18" charset="0"/>
              </a:rPr>
              <a:t> to Rs. 5,</a:t>
            </a:r>
            <a:r>
              <a:rPr lang="en-IN" sz="2400">
                <a:effectLst/>
                <a:latin typeface="ITC Franklin Gothic LT" panose="020B0604020202020204" charset="0"/>
                <a:ea typeface="Calibri" panose="020F0502020204030204" pitchFamily="34" charset="0"/>
                <a:cs typeface="Times New Roman" panose="02020603050405020304" pitchFamily="18" charset="0"/>
              </a:rPr>
              <a:t>00,000</a:t>
            </a:r>
            <a:r>
              <a:rPr lang="en-IN" sz="2400">
                <a:effectLst/>
                <a:latin typeface="ITC Franklin Gothic LT" panose="020B0604020202020204" charset="0"/>
                <a:ea typeface="Times New Roman" panose="02020603050405020304" pitchFamily="18" charset="0"/>
                <a:cs typeface="Times New Roman" panose="02020603050405020304" pitchFamily="18" charset="0"/>
              </a:rPr>
              <a:t>.</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342900" lvl="0" indent="-342900">
              <a:lnSpc>
                <a:spcPct val="106000"/>
              </a:lnSpc>
              <a:buFont typeface="Wingdings" panose="05000000000000000000" pitchFamily="2" charset="2"/>
              <a:buChar char=""/>
            </a:pPr>
            <a:r>
              <a:rPr lang="en-IN" sz="2400">
                <a:effectLst/>
                <a:latin typeface="ITC Franklin Gothic LT" panose="020B0604020202020204" charset="0"/>
                <a:ea typeface="Calibri" panose="020F0502020204030204" pitchFamily="34" charset="0"/>
                <a:cs typeface="Times New Roman" panose="02020603050405020304" pitchFamily="18" charset="0"/>
              </a:rPr>
              <a:t>38 (34%) respondents' annual income is less than Rs.3,00,000.</a:t>
            </a:r>
          </a:p>
          <a:p>
            <a:pPr marL="342900" lvl="0" indent="-342900">
              <a:lnSpc>
                <a:spcPct val="106000"/>
              </a:lnSpc>
              <a:spcAft>
                <a:spcPts val="800"/>
              </a:spcAft>
              <a:buFont typeface="Wingdings" panose="05000000000000000000" pitchFamily="2" charset="2"/>
              <a:buChar char=""/>
            </a:pPr>
            <a:r>
              <a:rPr lang="en-IN" sz="2400">
                <a:effectLst/>
                <a:latin typeface="ITC Franklin Gothic LT" panose="020B0604020202020204" charset="0"/>
                <a:ea typeface="Calibri" panose="020F0502020204030204" pitchFamily="34" charset="0"/>
                <a:cs typeface="Times New Roman" panose="02020603050405020304" pitchFamily="18" charset="0"/>
              </a:rPr>
              <a:t>23 (34%) respondents' annual income is greater than Rs.10,00,000.</a:t>
            </a:r>
          </a:p>
        </p:txBody>
      </p:sp>
      <p:graphicFrame>
        <p:nvGraphicFramePr>
          <p:cNvPr id="9" name="Chart 8">
            <a:extLst>
              <a:ext uri="{FF2B5EF4-FFF2-40B4-BE49-F238E27FC236}">
                <a16:creationId xmlns:a16="http://schemas.microsoft.com/office/drawing/2014/main" id="{76D3C0BE-0098-48A4-B58D-895C3CB0FABC}"/>
              </a:ext>
            </a:extLst>
          </p:cNvPr>
          <p:cNvGraphicFramePr/>
          <p:nvPr>
            <p:extLst>
              <p:ext uri="{D42A27DB-BD31-4B8C-83A1-F6EECF244321}">
                <p14:modId xmlns:p14="http://schemas.microsoft.com/office/powerpoint/2010/main" val="641820175"/>
              </p:ext>
            </p:extLst>
          </p:nvPr>
        </p:nvGraphicFramePr>
        <p:xfrm>
          <a:off x="4038600" y="2395740"/>
          <a:ext cx="9701938" cy="464188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312583204"/>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7EF"/>
        </a:solidFill>
        <a:effectLst/>
      </p:bgPr>
    </p:bg>
    <p:spTree>
      <p:nvGrpSpPr>
        <p:cNvPr id="1" name="">
          <a:extLst>
            <a:ext uri="{FF2B5EF4-FFF2-40B4-BE49-F238E27FC236}">
              <a16:creationId xmlns:a16="http://schemas.microsoft.com/office/drawing/2014/main" id="{6ADC47BF-78DE-21AE-2DDF-BCA29A7D18A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74E60DC-130F-6C19-EFED-C47393F5D877}"/>
              </a:ext>
            </a:extLst>
          </p:cNvPr>
          <p:cNvGrpSpPr/>
          <p:nvPr/>
        </p:nvGrpSpPr>
        <p:grpSpPr>
          <a:xfrm>
            <a:off x="-557510" y="9297622"/>
            <a:ext cx="19403020" cy="2466909"/>
            <a:chOff x="0" y="0"/>
            <a:chExt cx="5110260" cy="649721"/>
          </a:xfrm>
        </p:grpSpPr>
        <p:sp>
          <p:nvSpPr>
            <p:cNvPr id="3" name="Freeform 3">
              <a:extLst>
                <a:ext uri="{FF2B5EF4-FFF2-40B4-BE49-F238E27FC236}">
                  <a16:creationId xmlns:a16="http://schemas.microsoft.com/office/drawing/2014/main" id="{8F2E1BFC-55F1-FC37-35F4-805DDC7790F6}"/>
                </a:ext>
              </a:extLst>
            </p:cNvPr>
            <p:cNvSpPr/>
            <p:nvPr/>
          </p:nvSpPr>
          <p:spPr>
            <a:xfrm>
              <a:off x="0" y="0"/>
              <a:ext cx="5110261" cy="649721"/>
            </a:xfrm>
            <a:custGeom>
              <a:avLst/>
              <a:gdLst/>
              <a:ahLst/>
              <a:cxnLst/>
              <a:rect l="l" t="t" r="r" b="b"/>
              <a:pathLst>
                <a:path w="5110261" h="649721">
                  <a:moveTo>
                    <a:pt x="0" y="0"/>
                  </a:moveTo>
                  <a:lnTo>
                    <a:pt x="5110261" y="0"/>
                  </a:lnTo>
                  <a:lnTo>
                    <a:pt x="5110261" y="649721"/>
                  </a:lnTo>
                  <a:lnTo>
                    <a:pt x="0" y="649721"/>
                  </a:lnTo>
                  <a:close/>
                </a:path>
              </a:pathLst>
            </a:custGeom>
            <a:solidFill>
              <a:srgbClr val="8DAFA8"/>
            </a:solidFill>
          </p:spPr>
        </p:sp>
        <p:sp>
          <p:nvSpPr>
            <p:cNvPr id="4" name="TextBox 4">
              <a:extLst>
                <a:ext uri="{FF2B5EF4-FFF2-40B4-BE49-F238E27FC236}">
                  <a16:creationId xmlns:a16="http://schemas.microsoft.com/office/drawing/2014/main" id="{AF03AC4E-3026-3EB7-347A-1E6027693751}"/>
                </a:ext>
              </a:extLst>
            </p:cNvPr>
            <p:cNvSpPr txBox="1"/>
            <p:nvPr/>
          </p:nvSpPr>
          <p:spPr>
            <a:xfrm>
              <a:off x="0" y="-47625"/>
              <a:ext cx="5110260" cy="697346"/>
            </a:xfrm>
            <a:prstGeom prst="rect">
              <a:avLst/>
            </a:prstGeom>
          </p:spPr>
          <p:txBody>
            <a:bodyPr lIns="50800" tIns="50800" rIns="50800" bIns="50800" rtlCol="0" anchor="ctr"/>
            <a:lstStyle/>
            <a:p>
              <a:pPr algn="ctr">
                <a:lnSpc>
                  <a:spcPts val="2659"/>
                </a:lnSpc>
              </a:pPr>
              <a:endParaRPr/>
            </a:p>
          </p:txBody>
        </p:sp>
      </p:grpSp>
      <p:sp>
        <p:nvSpPr>
          <p:cNvPr id="12" name="TextBox 11">
            <a:extLst>
              <a:ext uri="{FF2B5EF4-FFF2-40B4-BE49-F238E27FC236}">
                <a16:creationId xmlns:a16="http://schemas.microsoft.com/office/drawing/2014/main" id="{90698911-4CEB-BEF1-E39F-E1B42B38A885}"/>
              </a:ext>
            </a:extLst>
          </p:cNvPr>
          <p:cNvSpPr txBox="1"/>
          <p:nvPr/>
        </p:nvSpPr>
        <p:spPr>
          <a:xfrm>
            <a:off x="1981200" y="815938"/>
            <a:ext cx="13335000" cy="1702133"/>
          </a:xfrm>
          <a:prstGeom prst="rect">
            <a:avLst/>
          </a:prstGeom>
          <a:noFill/>
        </p:spPr>
        <p:txBody>
          <a:bodyPr wrap="square">
            <a:spAutoFit/>
          </a:bodyPr>
          <a:lstStyle/>
          <a:p>
            <a:pPr>
              <a:lnSpc>
                <a:spcPct val="106000"/>
              </a:lnSpc>
              <a:spcAft>
                <a:spcPts val="800"/>
              </a:spcAft>
            </a:pPr>
            <a:r>
              <a:rPr lang="en-IN" sz="2400" b="1">
                <a:latin typeface="ITC Franklin Gothic LT" panose="020B0604020202020204" charset="0"/>
                <a:ea typeface="Calibri" panose="020F0502020204030204" pitchFamily="34" charset="0"/>
                <a:cs typeface="Times New Roman" panose="02020603050405020304" pitchFamily="18" charset="0"/>
              </a:rPr>
              <a:t>3</a:t>
            </a:r>
            <a:r>
              <a:rPr lang="en-IN" sz="2400" b="1">
                <a:effectLst/>
                <a:latin typeface="ITC Franklin Gothic LT" panose="020B0604020202020204" charset="0"/>
                <a:ea typeface="Calibri" panose="020F0502020204030204" pitchFamily="34" charset="0"/>
                <a:cs typeface="Times New Roman" panose="02020603050405020304" pitchFamily="18" charset="0"/>
              </a:rPr>
              <a:t>. </a:t>
            </a:r>
            <a:r>
              <a:rPr lang="en-IN" sz="2400" b="1">
                <a:effectLst/>
                <a:latin typeface="ITC Franklin Gothic LT" panose="020B0604020202020204" charset="0"/>
                <a:ea typeface="Times New Roman" panose="02020603050405020304" pitchFamily="18" charset="0"/>
                <a:cs typeface="Times New Roman" panose="02020603050405020304" pitchFamily="18" charset="0"/>
              </a:rPr>
              <a:t>NUMBER OF WORKING HOURS</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a:lnSpc>
                <a:spcPct val="106000"/>
              </a:lnSpc>
              <a:spcAft>
                <a:spcPts val="800"/>
              </a:spcAft>
            </a:pPr>
            <a:r>
              <a:rPr lang="en-IN" sz="2400">
                <a:effectLst/>
                <a:latin typeface="ITC Franklin Gothic LT" panose="020B0604020202020204" charset="0"/>
                <a:ea typeface="Times New Roman" panose="02020603050405020304" pitchFamily="18" charset="0"/>
                <a:cs typeface="Times New Roman" panose="02020603050405020304" pitchFamily="18" charset="0"/>
              </a:rPr>
              <a:t> </a:t>
            </a:r>
            <a:r>
              <a:rPr lang="en-IN" sz="2400">
                <a:effectLst/>
                <a:latin typeface="ITC Franklin Gothic LT" panose="020B0604020202020204" charset="0"/>
                <a:ea typeface="Calibri" panose="020F0502020204030204" pitchFamily="34" charset="0"/>
                <a:cs typeface="Times New Roman" panose="02020603050405020304" pitchFamily="18" charset="0"/>
              </a:rPr>
              <a:t>a) Less than 6 hours                b) 6 to 10 hours              c) More than 10 hours</a:t>
            </a:r>
          </a:p>
          <a:p>
            <a:pPr>
              <a:lnSpc>
                <a:spcPct val="106000"/>
              </a:lnSpc>
              <a:spcAft>
                <a:spcPts val="800"/>
              </a:spcAft>
            </a:pPr>
            <a:endParaRPr lang="en-IN" sz="4000">
              <a:effectLst/>
              <a:latin typeface="ITC Franklin Gothic LT" panose="020B0604020202020204" charset="0"/>
              <a:ea typeface="Calibri" panose="020F050202020403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E4A59782-4508-0C37-658F-A24823C211C0}"/>
              </a:ext>
            </a:extLst>
          </p:cNvPr>
          <p:cNvSpPr txBox="1"/>
          <p:nvPr/>
        </p:nvSpPr>
        <p:spPr>
          <a:xfrm>
            <a:off x="1981200" y="6762617"/>
            <a:ext cx="12725400" cy="2730684"/>
          </a:xfrm>
          <a:prstGeom prst="rect">
            <a:avLst/>
          </a:prstGeom>
          <a:noFill/>
        </p:spPr>
        <p:txBody>
          <a:bodyPr wrap="square" rtlCol="0">
            <a:spAutoFit/>
          </a:bodyPr>
          <a:lstStyle/>
          <a:p>
            <a:pPr>
              <a:lnSpc>
                <a:spcPct val="106000"/>
              </a:lnSpc>
              <a:spcAft>
                <a:spcPts val="800"/>
              </a:spcAft>
            </a:pPr>
            <a:r>
              <a:rPr lang="en-IN" sz="2400" b="1">
                <a:effectLst/>
                <a:latin typeface="ITC Franklin Gothic LT" panose="020B0604020202020204" charset="0"/>
                <a:ea typeface="Calibri" panose="020F0502020204030204" pitchFamily="34" charset="0"/>
                <a:cs typeface="Times New Roman" panose="02020603050405020304" pitchFamily="18" charset="0"/>
              </a:rPr>
              <a:t>CONCLUSION:</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a:lnSpc>
                <a:spcPct val="106000"/>
              </a:lnSpc>
              <a:spcAft>
                <a:spcPts val="800"/>
              </a:spcAft>
            </a:pPr>
            <a:r>
              <a:rPr lang="en-IN" sz="2400">
                <a:effectLst/>
                <a:latin typeface="ITC Franklin Gothic LT" panose="020B0604020202020204" charset="0"/>
                <a:ea typeface="Calibri" panose="020F0502020204030204" pitchFamily="34" charset="0"/>
                <a:cs typeface="Times New Roman" panose="02020603050405020304" pitchFamily="18" charset="0"/>
              </a:rPr>
              <a:t>According to the survey, among 150 respondents,</a:t>
            </a:r>
          </a:p>
          <a:p>
            <a:pPr marL="342900" lvl="0" indent="-342900">
              <a:lnSpc>
                <a:spcPct val="106000"/>
              </a:lnSpc>
              <a:buFont typeface="Wingdings" panose="05000000000000000000" pitchFamily="2" charset="2"/>
              <a:buChar char=""/>
            </a:pPr>
            <a:r>
              <a:rPr lang="en-IN" sz="2400">
                <a:effectLst/>
                <a:latin typeface="ITC Franklin Gothic LT" panose="020B0604020202020204" charset="0"/>
                <a:ea typeface="Calibri" panose="020F0502020204030204" pitchFamily="34" charset="0"/>
                <a:cs typeface="Times New Roman" panose="02020603050405020304" pitchFamily="18" charset="0"/>
              </a:rPr>
              <a:t>104 (69.3%) respondents working hours are between 6 to 10 hours</a:t>
            </a:r>
            <a:r>
              <a:rPr lang="en-IN" sz="2400">
                <a:effectLst/>
                <a:latin typeface="ITC Franklin Gothic LT" panose="020B0604020202020204" charset="0"/>
                <a:ea typeface="Times New Roman" panose="02020603050405020304" pitchFamily="18" charset="0"/>
                <a:cs typeface="Times New Roman" panose="02020603050405020304" pitchFamily="18" charset="0"/>
              </a:rPr>
              <a:t>.</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342900" lvl="0" indent="-342900">
              <a:lnSpc>
                <a:spcPct val="106000"/>
              </a:lnSpc>
              <a:buFont typeface="Wingdings" panose="05000000000000000000" pitchFamily="2" charset="2"/>
              <a:buChar char=""/>
            </a:pPr>
            <a:r>
              <a:rPr lang="en-IN" sz="2400">
                <a:effectLst/>
                <a:latin typeface="ITC Franklin Gothic LT" panose="020B0604020202020204" charset="0"/>
                <a:ea typeface="Times New Roman" panose="02020603050405020304" pitchFamily="18" charset="0"/>
                <a:cs typeface="Times New Roman" panose="02020603050405020304" pitchFamily="18" charset="0"/>
              </a:rPr>
              <a:t>20(13.3%) respondents working hours are less than 6 hours.</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342900" lvl="0" indent="-342900">
              <a:lnSpc>
                <a:spcPct val="106000"/>
              </a:lnSpc>
              <a:spcAft>
                <a:spcPts val="800"/>
              </a:spcAft>
              <a:buFont typeface="Wingdings" panose="05000000000000000000" pitchFamily="2" charset="2"/>
              <a:buChar char=""/>
            </a:pPr>
            <a:r>
              <a:rPr lang="en-IN" sz="2400">
                <a:effectLst/>
                <a:latin typeface="ITC Franklin Gothic LT" panose="020B0604020202020204" charset="0"/>
                <a:ea typeface="Times New Roman" panose="02020603050405020304" pitchFamily="18" charset="0"/>
                <a:cs typeface="Times New Roman" panose="02020603050405020304" pitchFamily="18" charset="0"/>
              </a:rPr>
              <a:t>26(17.3%) respondents working hours are more than 10 hours.</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a:lnSpc>
                <a:spcPct val="106000"/>
              </a:lnSpc>
              <a:spcAft>
                <a:spcPts val="800"/>
              </a:spcAft>
            </a:pPr>
            <a:endParaRPr lang="en-IN" sz="2400">
              <a:effectLst/>
              <a:latin typeface="ITC Franklin Gothic LT" panose="020B0604020202020204" charset="0"/>
              <a:ea typeface="Calibri" panose="020F0502020204030204" pitchFamily="34" charset="0"/>
              <a:cs typeface="Times New Roman" panose="02020603050405020304" pitchFamily="18" charset="0"/>
            </a:endParaRPr>
          </a:p>
        </p:txBody>
      </p:sp>
      <p:graphicFrame>
        <p:nvGraphicFramePr>
          <p:cNvPr id="7" name="Chart 6">
            <a:extLst>
              <a:ext uri="{FF2B5EF4-FFF2-40B4-BE49-F238E27FC236}">
                <a16:creationId xmlns:a16="http://schemas.microsoft.com/office/drawing/2014/main" id="{89E9B52C-848F-4C77-8B68-2120DBA5BF5E}"/>
              </a:ext>
            </a:extLst>
          </p:cNvPr>
          <p:cNvGraphicFramePr/>
          <p:nvPr>
            <p:extLst>
              <p:ext uri="{D42A27DB-BD31-4B8C-83A1-F6EECF244321}">
                <p14:modId xmlns:p14="http://schemas.microsoft.com/office/powerpoint/2010/main" val="161449612"/>
              </p:ext>
            </p:extLst>
          </p:nvPr>
        </p:nvGraphicFramePr>
        <p:xfrm>
          <a:off x="4800600" y="2181280"/>
          <a:ext cx="7315200" cy="440051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631443433"/>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7EF"/>
        </a:solidFill>
        <a:effectLst/>
      </p:bgPr>
    </p:bg>
    <p:spTree>
      <p:nvGrpSpPr>
        <p:cNvPr id="1" name="">
          <a:extLst>
            <a:ext uri="{FF2B5EF4-FFF2-40B4-BE49-F238E27FC236}">
              <a16:creationId xmlns:a16="http://schemas.microsoft.com/office/drawing/2014/main" id="{48961163-D90F-C40C-1BFC-3DC5338AA81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9B0507A-3FFD-CE3E-1EFD-941F89296DC4}"/>
              </a:ext>
            </a:extLst>
          </p:cNvPr>
          <p:cNvGrpSpPr/>
          <p:nvPr/>
        </p:nvGrpSpPr>
        <p:grpSpPr>
          <a:xfrm>
            <a:off x="-557510" y="9297622"/>
            <a:ext cx="19403020" cy="2466909"/>
            <a:chOff x="0" y="0"/>
            <a:chExt cx="5110260" cy="649721"/>
          </a:xfrm>
        </p:grpSpPr>
        <p:sp>
          <p:nvSpPr>
            <p:cNvPr id="3" name="Freeform 3">
              <a:extLst>
                <a:ext uri="{FF2B5EF4-FFF2-40B4-BE49-F238E27FC236}">
                  <a16:creationId xmlns:a16="http://schemas.microsoft.com/office/drawing/2014/main" id="{EAF7E3E3-721F-64D9-7B85-55CAD2331712}"/>
                </a:ext>
              </a:extLst>
            </p:cNvPr>
            <p:cNvSpPr/>
            <p:nvPr/>
          </p:nvSpPr>
          <p:spPr>
            <a:xfrm>
              <a:off x="0" y="0"/>
              <a:ext cx="5110261" cy="649721"/>
            </a:xfrm>
            <a:custGeom>
              <a:avLst/>
              <a:gdLst/>
              <a:ahLst/>
              <a:cxnLst/>
              <a:rect l="l" t="t" r="r" b="b"/>
              <a:pathLst>
                <a:path w="5110261" h="649721">
                  <a:moveTo>
                    <a:pt x="0" y="0"/>
                  </a:moveTo>
                  <a:lnTo>
                    <a:pt x="5110261" y="0"/>
                  </a:lnTo>
                  <a:lnTo>
                    <a:pt x="5110261" y="649721"/>
                  </a:lnTo>
                  <a:lnTo>
                    <a:pt x="0" y="649721"/>
                  </a:lnTo>
                  <a:close/>
                </a:path>
              </a:pathLst>
            </a:custGeom>
            <a:solidFill>
              <a:srgbClr val="8DAFA8"/>
            </a:solidFill>
          </p:spPr>
        </p:sp>
        <p:sp>
          <p:nvSpPr>
            <p:cNvPr id="4" name="TextBox 4">
              <a:extLst>
                <a:ext uri="{FF2B5EF4-FFF2-40B4-BE49-F238E27FC236}">
                  <a16:creationId xmlns:a16="http://schemas.microsoft.com/office/drawing/2014/main" id="{1FD3699B-2423-AADE-6557-19EC5232D917}"/>
                </a:ext>
              </a:extLst>
            </p:cNvPr>
            <p:cNvSpPr txBox="1"/>
            <p:nvPr/>
          </p:nvSpPr>
          <p:spPr>
            <a:xfrm>
              <a:off x="0" y="-47625"/>
              <a:ext cx="5110260" cy="697346"/>
            </a:xfrm>
            <a:prstGeom prst="rect">
              <a:avLst/>
            </a:prstGeom>
          </p:spPr>
          <p:txBody>
            <a:bodyPr lIns="50800" tIns="50800" rIns="50800" bIns="50800" rtlCol="0" anchor="ctr"/>
            <a:lstStyle/>
            <a:p>
              <a:pPr algn="ctr">
                <a:lnSpc>
                  <a:spcPts val="2659"/>
                </a:lnSpc>
              </a:pPr>
              <a:endParaRPr/>
            </a:p>
          </p:txBody>
        </p:sp>
      </p:grpSp>
      <p:sp>
        <p:nvSpPr>
          <p:cNvPr id="12" name="TextBox 11">
            <a:extLst>
              <a:ext uri="{FF2B5EF4-FFF2-40B4-BE49-F238E27FC236}">
                <a16:creationId xmlns:a16="http://schemas.microsoft.com/office/drawing/2014/main" id="{BD50A6CB-0490-CC3E-9FA7-64221E62E41F}"/>
              </a:ext>
            </a:extLst>
          </p:cNvPr>
          <p:cNvSpPr txBox="1"/>
          <p:nvPr/>
        </p:nvSpPr>
        <p:spPr>
          <a:xfrm>
            <a:off x="2057400" y="723900"/>
            <a:ext cx="13335000" cy="2196242"/>
          </a:xfrm>
          <a:prstGeom prst="rect">
            <a:avLst/>
          </a:prstGeom>
          <a:noFill/>
        </p:spPr>
        <p:txBody>
          <a:bodyPr wrap="square">
            <a:spAutoFit/>
          </a:bodyPr>
          <a:lstStyle/>
          <a:p>
            <a:pPr>
              <a:lnSpc>
                <a:spcPct val="106000"/>
              </a:lnSpc>
              <a:spcAft>
                <a:spcPts val="800"/>
              </a:spcAft>
            </a:pPr>
            <a:r>
              <a:rPr lang="en-IN" sz="2400" b="1" kern="100">
                <a:latin typeface="ITC Franklin Gothic LT" panose="020B0604020202020204" charset="0"/>
                <a:ea typeface="Calibri" panose="020F0502020204030204" pitchFamily="34" charset="0"/>
                <a:cs typeface="Times New Roman" panose="02020603050405020304" pitchFamily="18" charset="0"/>
              </a:rPr>
              <a:t>4</a:t>
            </a:r>
            <a:r>
              <a:rPr lang="en-IN" sz="2400" b="1" kern="100">
                <a:effectLst/>
                <a:latin typeface="ITC Franklin Gothic LT" panose="020B0604020202020204" charset="0"/>
                <a:ea typeface="Calibri" panose="020F0502020204030204" pitchFamily="34" charset="0"/>
                <a:cs typeface="Times New Roman" panose="02020603050405020304" pitchFamily="18" charset="0"/>
              </a:rPr>
              <a:t>.  WHAT ARE THE COMMON CAUSES OF WORK STRESS IN YOUR LIFE? </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a:lnSpc>
                <a:spcPct val="106000"/>
              </a:lnSpc>
              <a:spcAft>
                <a:spcPts val="800"/>
              </a:spcAft>
            </a:pPr>
            <a:r>
              <a:rPr lang="en-IN" sz="2400" b="1" kern="100">
                <a:effectLst/>
                <a:latin typeface="ITC Franklin Gothic LT" panose="020B0604020202020204" charset="0"/>
                <a:ea typeface="Calibri" panose="020F0502020204030204" pitchFamily="34" charset="0"/>
                <a:cs typeface="Times New Roman" panose="02020603050405020304" pitchFamily="18" charset="0"/>
              </a:rPr>
              <a:t>(Choose more than one option)</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a:lnSpc>
                <a:spcPct val="106000"/>
              </a:lnSpc>
              <a:spcAft>
                <a:spcPts val="775"/>
              </a:spcAft>
            </a:pPr>
            <a:r>
              <a:rPr lang="en-IN" sz="2400" kern="100">
                <a:effectLst/>
                <a:latin typeface="ITC Franklin Gothic LT" panose="020B0604020202020204" charset="0"/>
                <a:ea typeface="Calibri" panose="020F0502020204030204" pitchFamily="34" charset="0"/>
                <a:cs typeface="Times New Roman" panose="02020603050405020304" pitchFamily="18" charset="0"/>
              </a:rPr>
              <a:t>a) Working overtime      b) Workload       c) Daily commute       d) Lack of sleep</a:t>
            </a:r>
            <a:r>
              <a:rPr lang="en-IN" sz="2400" kern="100">
                <a:solidFill>
                  <a:srgbClr val="C00000"/>
                </a:solidFill>
                <a:effectLst/>
                <a:latin typeface="ITC Franklin Gothic LT" panose="020B0604020202020204" charset="0"/>
                <a:ea typeface="Calibri" panose="020F0502020204030204" pitchFamily="34" charset="0"/>
                <a:cs typeface="Times New Roman" panose="02020603050405020304" pitchFamily="18" charset="0"/>
              </a:rPr>
              <a:t> </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a:lnSpc>
                <a:spcPct val="106000"/>
              </a:lnSpc>
              <a:spcAft>
                <a:spcPts val="800"/>
              </a:spcAft>
            </a:pPr>
            <a:endParaRPr lang="en-IN" sz="4000">
              <a:effectLst/>
              <a:latin typeface="ITC Franklin Gothic LT" panose="020B0604020202020204" charset="0"/>
              <a:ea typeface="Calibri" panose="020F0502020204030204" pitchFamily="34" charset="0"/>
              <a:cs typeface="Times New Roman" panose="02020603050405020304" pitchFamily="18" charset="0"/>
            </a:endParaRPr>
          </a:p>
        </p:txBody>
      </p:sp>
      <p:pic>
        <p:nvPicPr>
          <p:cNvPr id="13" name="Picture 12">
            <a:extLst>
              <a:ext uri="{FF2B5EF4-FFF2-40B4-BE49-F238E27FC236}">
                <a16:creationId xmlns:a16="http://schemas.microsoft.com/office/drawing/2014/main" id="{12487C5D-4E4E-90C4-516D-80CFAA61804B}"/>
              </a:ext>
            </a:extLst>
          </p:cNvPr>
          <p:cNvPicPr>
            <a:picLocks noChangeAspect="1"/>
          </p:cNvPicPr>
          <p:nvPr/>
        </p:nvPicPr>
        <p:blipFill>
          <a:blip r:embed="rId2"/>
          <a:stretch>
            <a:fillRect/>
          </a:stretch>
        </p:blipFill>
        <p:spPr>
          <a:xfrm>
            <a:off x="3728569" y="2630266"/>
            <a:ext cx="7628934" cy="3427634"/>
          </a:xfrm>
          <a:prstGeom prst="rect">
            <a:avLst/>
          </a:prstGeom>
        </p:spPr>
      </p:pic>
      <p:sp>
        <p:nvSpPr>
          <p:cNvPr id="15" name="TextBox 14">
            <a:extLst>
              <a:ext uri="{FF2B5EF4-FFF2-40B4-BE49-F238E27FC236}">
                <a16:creationId xmlns:a16="http://schemas.microsoft.com/office/drawing/2014/main" id="{5BB2662E-866B-4A8A-FFB8-67773928EA3E}"/>
              </a:ext>
            </a:extLst>
          </p:cNvPr>
          <p:cNvSpPr txBox="1"/>
          <p:nvPr/>
        </p:nvSpPr>
        <p:spPr>
          <a:xfrm>
            <a:off x="2080647" y="7118580"/>
            <a:ext cx="14302354" cy="1569660"/>
          </a:xfrm>
          <a:prstGeom prst="rect">
            <a:avLst/>
          </a:prstGeom>
          <a:noFill/>
        </p:spPr>
        <p:txBody>
          <a:bodyPr wrap="square">
            <a:spAutoFit/>
          </a:bodyPr>
          <a:lstStyle/>
          <a:p>
            <a:r>
              <a:rPr lang="en-IN" sz="2400" b="1">
                <a:latin typeface="ITC Franklin Gothic LT" panose="020B0604020202020204" charset="0"/>
              </a:rPr>
              <a:t>CONCLUSION:</a:t>
            </a:r>
          </a:p>
          <a:p>
            <a:r>
              <a:rPr lang="en-IN" sz="2400">
                <a:latin typeface="ITC Franklin Gothic LT" panose="020B0604020202020204" charset="0"/>
              </a:rPr>
              <a:t>According to the survey, 53.3% of the population identified workload as the primary cause of work stress. The daily commute was chosen by 47.3% of respondents while 40.7% cited working overtime as a cause of stress. Additionally, 38.7% identified lack of sleep as a common cause of work stress.</a:t>
            </a:r>
          </a:p>
        </p:txBody>
      </p:sp>
    </p:spTree>
    <p:extLst>
      <p:ext uri="{BB962C8B-B14F-4D97-AF65-F5344CB8AC3E}">
        <p14:creationId xmlns:p14="http://schemas.microsoft.com/office/powerpoint/2010/main" val="1144845619"/>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7EF"/>
        </a:solidFill>
        <a:effectLst/>
      </p:bgPr>
    </p:bg>
    <p:spTree>
      <p:nvGrpSpPr>
        <p:cNvPr id="1" name="">
          <a:extLst>
            <a:ext uri="{FF2B5EF4-FFF2-40B4-BE49-F238E27FC236}">
              <a16:creationId xmlns:a16="http://schemas.microsoft.com/office/drawing/2014/main" id="{9659E1B8-266D-C5FA-A5F2-CEE8762D7D1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0E6092C-A69C-7C05-FAA3-3F90DCB515B2}"/>
              </a:ext>
            </a:extLst>
          </p:cNvPr>
          <p:cNvGrpSpPr/>
          <p:nvPr/>
        </p:nvGrpSpPr>
        <p:grpSpPr>
          <a:xfrm>
            <a:off x="-557510" y="9297622"/>
            <a:ext cx="19403020" cy="2466909"/>
            <a:chOff x="0" y="0"/>
            <a:chExt cx="5110260" cy="649721"/>
          </a:xfrm>
        </p:grpSpPr>
        <p:sp>
          <p:nvSpPr>
            <p:cNvPr id="3" name="Freeform 3">
              <a:extLst>
                <a:ext uri="{FF2B5EF4-FFF2-40B4-BE49-F238E27FC236}">
                  <a16:creationId xmlns:a16="http://schemas.microsoft.com/office/drawing/2014/main" id="{AF9C7B64-B68A-6BE8-1D6E-F25C05FDFAA7}"/>
                </a:ext>
              </a:extLst>
            </p:cNvPr>
            <p:cNvSpPr/>
            <p:nvPr/>
          </p:nvSpPr>
          <p:spPr>
            <a:xfrm>
              <a:off x="0" y="0"/>
              <a:ext cx="5110261" cy="649721"/>
            </a:xfrm>
            <a:custGeom>
              <a:avLst/>
              <a:gdLst/>
              <a:ahLst/>
              <a:cxnLst/>
              <a:rect l="l" t="t" r="r" b="b"/>
              <a:pathLst>
                <a:path w="5110261" h="649721">
                  <a:moveTo>
                    <a:pt x="0" y="0"/>
                  </a:moveTo>
                  <a:lnTo>
                    <a:pt x="5110261" y="0"/>
                  </a:lnTo>
                  <a:lnTo>
                    <a:pt x="5110261" y="649721"/>
                  </a:lnTo>
                  <a:lnTo>
                    <a:pt x="0" y="649721"/>
                  </a:lnTo>
                  <a:close/>
                </a:path>
              </a:pathLst>
            </a:custGeom>
            <a:solidFill>
              <a:srgbClr val="8DAFA8"/>
            </a:solidFill>
          </p:spPr>
        </p:sp>
        <p:sp>
          <p:nvSpPr>
            <p:cNvPr id="4" name="TextBox 4">
              <a:extLst>
                <a:ext uri="{FF2B5EF4-FFF2-40B4-BE49-F238E27FC236}">
                  <a16:creationId xmlns:a16="http://schemas.microsoft.com/office/drawing/2014/main" id="{0CB2961D-E2E5-C992-4A86-8557C1A0B6E1}"/>
                </a:ext>
              </a:extLst>
            </p:cNvPr>
            <p:cNvSpPr txBox="1"/>
            <p:nvPr/>
          </p:nvSpPr>
          <p:spPr>
            <a:xfrm>
              <a:off x="0" y="-47625"/>
              <a:ext cx="5110260" cy="697346"/>
            </a:xfrm>
            <a:prstGeom prst="rect">
              <a:avLst/>
            </a:prstGeom>
          </p:spPr>
          <p:txBody>
            <a:bodyPr lIns="50800" tIns="50800" rIns="50800" bIns="50800" rtlCol="0" anchor="ctr"/>
            <a:lstStyle/>
            <a:p>
              <a:pPr algn="ctr">
                <a:lnSpc>
                  <a:spcPts val="2659"/>
                </a:lnSpc>
              </a:pPr>
              <a:endParaRPr/>
            </a:p>
          </p:txBody>
        </p:sp>
      </p:grpSp>
      <p:sp>
        <p:nvSpPr>
          <p:cNvPr id="12" name="TextBox 11">
            <a:extLst>
              <a:ext uri="{FF2B5EF4-FFF2-40B4-BE49-F238E27FC236}">
                <a16:creationId xmlns:a16="http://schemas.microsoft.com/office/drawing/2014/main" id="{8CF4E493-2D2A-92A6-210A-D7BC211CFB1F}"/>
              </a:ext>
            </a:extLst>
          </p:cNvPr>
          <p:cNvSpPr txBox="1"/>
          <p:nvPr/>
        </p:nvSpPr>
        <p:spPr>
          <a:xfrm>
            <a:off x="2133600" y="800100"/>
            <a:ext cx="13335000" cy="2196242"/>
          </a:xfrm>
          <a:prstGeom prst="rect">
            <a:avLst/>
          </a:prstGeom>
          <a:noFill/>
        </p:spPr>
        <p:txBody>
          <a:bodyPr wrap="square">
            <a:spAutoFit/>
          </a:bodyPr>
          <a:lstStyle/>
          <a:p>
            <a:pPr>
              <a:lnSpc>
                <a:spcPct val="106000"/>
              </a:lnSpc>
              <a:spcAft>
                <a:spcPts val="1065"/>
              </a:spcAft>
            </a:pPr>
            <a:r>
              <a:rPr lang="en-IN" sz="2400" b="1" kern="100">
                <a:latin typeface="ITC Franklin Gothic LT" panose="020B0604020202020204" charset="0"/>
                <a:ea typeface="Calibri" panose="020F0502020204030204" pitchFamily="34" charset="0"/>
                <a:cs typeface="Times New Roman" panose="02020603050405020304" pitchFamily="18" charset="0"/>
              </a:rPr>
              <a:t>5</a:t>
            </a:r>
            <a:r>
              <a:rPr lang="en-IN" sz="2400" b="1" kern="100">
                <a:effectLst/>
                <a:latin typeface="ITC Franklin Gothic LT" panose="020B0604020202020204" charset="0"/>
                <a:ea typeface="Calibri" panose="020F0502020204030204" pitchFamily="34" charset="0"/>
                <a:cs typeface="Times New Roman" panose="02020603050405020304" pitchFamily="18" charset="0"/>
              </a:rPr>
              <a:t>. WHICH FACTOR MOTIVATES YOU THE MOST IN YOUR ORGANIZATION? </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a:lnSpc>
                <a:spcPct val="106000"/>
              </a:lnSpc>
              <a:spcAft>
                <a:spcPts val="1065"/>
              </a:spcAft>
            </a:pPr>
            <a:r>
              <a:rPr lang="en-IN" sz="2400" b="1" kern="100">
                <a:effectLst/>
                <a:latin typeface="ITC Franklin Gothic LT" panose="020B0604020202020204" charset="0"/>
                <a:ea typeface="Calibri" panose="020F0502020204030204" pitchFamily="34" charset="0"/>
                <a:cs typeface="Times New Roman" panose="02020603050405020304" pitchFamily="18" charset="0"/>
              </a:rPr>
              <a:t>(Choose more than one option) </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a:lnSpc>
                <a:spcPct val="106000"/>
              </a:lnSpc>
              <a:spcAft>
                <a:spcPts val="180"/>
              </a:spcAft>
            </a:pPr>
            <a:r>
              <a:rPr lang="en-IN" sz="2400" kern="100">
                <a:effectLst/>
                <a:latin typeface="ITC Franklin Gothic LT" panose="020B0604020202020204" charset="0"/>
                <a:ea typeface="Calibri" panose="020F0502020204030204" pitchFamily="34" charset="0"/>
                <a:cs typeface="Times New Roman" panose="02020603050405020304" pitchFamily="18" charset="0"/>
              </a:rPr>
              <a:t>a) Salary increase     b) Promotion     c) Motivational talk        d) Recognition  </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a:lnSpc>
                <a:spcPct val="106000"/>
              </a:lnSpc>
              <a:spcAft>
                <a:spcPts val="800"/>
              </a:spcAft>
            </a:pPr>
            <a:endParaRPr lang="en-IN" sz="4000">
              <a:effectLst/>
              <a:latin typeface="ITC Franklin Gothic LT" panose="020B0604020202020204" charset="0"/>
              <a:ea typeface="Calibri" panose="020F0502020204030204" pitchFamily="34" charset="0"/>
              <a:cs typeface="Times New Roman" panose="02020603050405020304" pitchFamily="18" charset="0"/>
            </a:endParaRPr>
          </a:p>
        </p:txBody>
      </p:sp>
      <p:pic>
        <p:nvPicPr>
          <p:cNvPr id="6" name="Picture 5">
            <a:extLst>
              <a:ext uri="{FF2B5EF4-FFF2-40B4-BE49-F238E27FC236}">
                <a16:creationId xmlns:a16="http://schemas.microsoft.com/office/drawing/2014/main" id="{108B6717-150A-221B-6EF2-08EFDECE131E}"/>
              </a:ext>
            </a:extLst>
          </p:cNvPr>
          <p:cNvPicPr>
            <a:picLocks noChangeAspect="1"/>
          </p:cNvPicPr>
          <p:nvPr/>
        </p:nvPicPr>
        <p:blipFill>
          <a:blip r:embed="rId2"/>
          <a:stretch>
            <a:fillRect/>
          </a:stretch>
        </p:blipFill>
        <p:spPr>
          <a:xfrm>
            <a:off x="4343400" y="2705099"/>
            <a:ext cx="9569278" cy="3898995"/>
          </a:xfrm>
          <a:prstGeom prst="rect">
            <a:avLst/>
          </a:prstGeom>
        </p:spPr>
      </p:pic>
      <p:sp>
        <p:nvSpPr>
          <p:cNvPr id="8" name="TextBox 7">
            <a:extLst>
              <a:ext uri="{FF2B5EF4-FFF2-40B4-BE49-F238E27FC236}">
                <a16:creationId xmlns:a16="http://schemas.microsoft.com/office/drawing/2014/main" id="{2EC7D3E1-27ED-5059-A013-B2579B916311}"/>
              </a:ext>
            </a:extLst>
          </p:cNvPr>
          <p:cNvSpPr txBox="1"/>
          <p:nvPr/>
        </p:nvSpPr>
        <p:spPr>
          <a:xfrm>
            <a:off x="2209800" y="6989213"/>
            <a:ext cx="13944600" cy="1742465"/>
          </a:xfrm>
          <a:prstGeom prst="rect">
            <a:avLst/>
          </a:prstGeom>
          <a:noFill/>
        </p:spPr>
        <p:txBody>
          <a:bodyPr wrap="square">
            <a:spAutoFit/>
          </a:bodyPr>
          <a:lstStyle/>
          <a:p>
            <a:pPr>
              <a:lnSpc>
                <a:spcPct val="106000"/>
              </a:lnSpc>
              <a:spcAft>
                <a:spcPts val="800"/>
              </a:spcAft>
            </a:pPr>
            <a:r>
              <a:rPr lang="en-IN" sz="2400" b="1" kern="100">
                <a:effectLst/>
                <a:latin typeface="ITC Franklin Gothic LT" panose="020B0604020202020204" charset="0"/>
                <a:ea typeface="Calibri" panose="020F0502020204030204" pitchFamily="34" charset="0"/>
                <a:cs typeface="Times New Roman" panose="02020603050405020304" pitchFamily="18" charset="0"/>
              </a:rPr>
              <a:t>CONCLUSION:</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a:lnSpc>
                <a:spcPct val="106000"/>
              </a:lnSpc>
              <a:spcAft>
                <a:spcPts val="800"/>
              </a:spcAft>
            </a:pPr>
            <a:r>
              <a:rPr lang="en-IN" sz="2400" kern="100">
                <a:effectLst/>
                <a:latin typeface="ITC Franklin Gothic LT" panose="020B0604020202020204" charset="0"/>
                <a:ea typeface="Calibri" panose="020F0502020204030204" pitchFamily="34" charset="0"/>
                <a:cs typeface="Times New Roman" panose="02020603050405020304" pitchFamily="18" charset="0"/>
              </a:rPr>
              <a:t>According to the survey, 50% of the population selected salary increase as the most motivating factor in their organization, 44.7% chose recognition, 43.3% opted for promotion, and 42.7% chose motivational.</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380623755"/>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7EF"/>
        </a:solidFill>
        <a:effectLst/>
      </p:bgPr>
    </p:bg>
    <p:spTree>
      <p:nvGrpSpPr>
        <p:cNvPr id="1" name="">
          <a:extLst>
            <a:ext uri="{FF2B5EF4-FFF2-40B4-BE49-F238E27FC236}">
              <a16:creationId xmlns:a16="http://schemas.microsoft.com/office/drawing/2014/main" id="{E134C449-DC8B-00FF-F86E-79DE7A019C5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81714E4-DE62-1AA1-8617-9C250CB8B190}"/>
              </a:ext>
            </a:extLst>
          </p:cNvPr>
          <p:cNvGrpSpPr/>
          <p:nvPr/>
        </p:nvGrpSpPr>
        <p:grpSpPr>
          <a:xfrm>
            <a:off x="-557510" y="9297622"/>
            <a:ext cx="19403020" cy="2466909"/>
            <a:chOff x="0" y="0"/>
            <a:chExt cx="5110260" cy="649721"/>
          </a:xfrm>
        </p:grpSpPr>
        <p:sp>
          <p:nvSpPr>
            <p:cNvPr id="3" name="Freeform 3">
              <a:extLst>
                <a:ext uri="{FF2B5EF4-FFF2-40B4-BE49-F238E27FC236}">
                  <a16:creationId xmlns:a16="http://schemas.microsoft.com/office/drawing/2014/main" id="{8BAC0941-7B76-B911-F33A-0181D0C2F504}"/>
                </a:ext>
              </a:extLst>
            </p:cNvPr>
            <p:cNvSpPr/>
            <p:nvPr/>
          </p:nvSpPr>
          <p:spPr>
            <a:xfrm>
              <a:off x="0" y="0"/>
              <a:ext cx="5110261" cy="649721"/>
            </a:xfrm>
            <a:custGeom>
              <a:avLst/>
              <a:gdLst/>
              <a:ahLst/>
              <a:cxnLst/>
              <a:rect l="l" t="t" r="r" b="b"/>
              <a:pathLst>
                <a:path w="5110261" h="649721">
                  <a:moveTo>
                    <a:pt x="0" y="0"/>
                  </a:moveTo>
                  <a:lnTo>
                    <a:pt x="5110261" y="0"/>
                  </a:lnTo>
                  <a:lnTo>
                    <a:pt x="5110261" y="649721"/>
                  </a:lnTo>
                  <a:lnTo>
                    <a:pt x="0" y="649721"/>
                  </a:lnTo>
                  <a:close/>
                </a:path>
              </a:pathLst>
            </a:custGeom>
            <a:solidFill>
              <a:srgbClr val="8DAFA8"/>
            </a:solidFill>
          </p:spPr>
        </p:sp>
        <p:sp>
          <p:nvSpPr>
            <p:cNvPr id="4" name="TextBox 4">
              <a:extLst>
                <a:ext uri="{FF2B5EF4-FFF2-40B4-BE49-F238E27FC236}">
                  <a16:creationId xmlns:a16="http://schemas.microsoft.com/office/drawing/2014/main" id="{65B0CD43-F8FB-5CF5-EA8C-EB451C81895B}"/>
                </a:ext>
              </a:extLst>
            </p:cNvPr>
            <p:cNvSpPr txBox="1"/>
            <p:nvPr/>
          </p:nvSpPr>
          <p:spPr>
            <a:xfrm>
              <a:off x="0" y="-47625"/>
              <a:ext cx="5110260" cy="697346"/>
            </a:xfrm>
            <a:prstGeom prst="rect">
              <a:avLst/>
            </a:prstGeom>
          </p:spPr>
          <p:txBody>
            <a:bodyPr lIns="50800" tIns="50800" rIns="50800" bIns="50800" rtlCol="0" anchor="ctr"/>
            <a:lstStyle/>
            <a:p>
              <a:pPr algn="ctr">
                <a:lnSpc>
                  <a:spcPts val="2659"/>
                </a:lnSpc>
              </a:pPr>
              <a:endParaRPr/>
            </a:p>
          </p:txBody>
        </p:sp>
      </p:grpSp>
      <p:sp>
        <p:nvSpPr>
          <p:cNvPr id="12" name="TextBox 11">
            <a:extLst>
              <a:ext uri="{FF2B5EF4-FFF2-40B4-BE49-F238E27FC236}">
                <a16:creationId xmlns:a16="http://schemas.microsoft.com/office/drawing/2014/main" id="{DEAE9311-32A3-839B-F6F3-8F0D8A0CF473}"/>
              </a:ext>
            </a:extLst>
          </p:cNvPr>
          <p:cNvSpPr txBox="1"/>
          <p:nvPr/>
        </p:nvSpPr>
        <p:spPr>
          <a:xfrm>
            <a:off x="2133600" y="800100"/>
            <a:ext cx="13335000" cy="2690352"/>
          </a:xfrm>
          <a:prstGeom prst="rect">
            <a:avLst/>
          </a:prstGeom>
          <a:noFill/>
        </p:spPr>
        <p:txBody>
          <a:bodyPr wrap="square">
            <a:spAutoFit/>
          </a:bodyPr>
          <a:lstStyle/>
          <a:p>
            <a:pPr>
              <a:lnSpc>
                <a:spcPct val="106000"/>
              </a:lnSpc>
              <a:spcAft>
                <a:spcPts val="800"/>
              </a:spcAft>
            </a:pPr>
            <a:r>
              <a:rPr lang="en-IN" sz="2400" b="1" kern="100">
                <a:latin typeface="ITC Franklin Gothic LT" panose="020B0604020202020204" charset="0"/>
                <a:ea typeface="Calibri" panose="020F0502020204030204" pitchFamily="34" charset="0"/>
                <a:cs typeface="Times New Roman" panose="02020603050405020304" pitchFamily="18" charset="0"/>
              </a:rPr>
              <a:t>6</a:t>
            </a:r>
            <a:r>
              <a:rPr lang="en-IN" sz="2400" b="1" kern="100">
                <a:effectLst/>
                <a:latin typeface="ITC Franklin Gothic LT" panose="020B0604020202020204" charset="0"/>
                <a:ea typeface="Calibri" panose="020F0502020204030204" pitchFamily="34" charset="0"/>
                <a:cs typeface="Times New Roman" panose="02020603050405020304" pitchFamily="18" charset="0"/>
              </a:rPr>
              <a:t>. HOW CAN EMPLOYEES MANAGE THEIR WORKLOAD EFFECTIVELY?</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a:lnSpc>
                <a:spcPct val="106000"/>
              </a:lnSpc>
              <a:spcAft>
                <a:spcPts val="800"/>
              </a:spcAft>
            </a:pPr>
            <a:r>
              <a:rPr lang="en-IN" sz="2400" kern="100">
                <a:effectLst/>
                <a:latin typeface="ITC Franklin Gothic LT" panose="020B0604020202020204" charset="0"/>
                <a:ea typeface="Calibri" panose="020F0502020204030204" pitchFamily="34" charset="0"/>
                <a:cs typeface="Times New Roman" panose="02020603050405020304" pitchFamily="18" charset="0"/>
              </a:rPr>
              <a:t>(Choose more than one option) </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a:lnSpc>
                <a:spcPct val="106000"/>
              </a:lnSpc>
              <a:spcAft>
                <a:spcPts val="800"/>
              </a:spcAft>
            </a:pPr>
            <a:r>
              <a:rPr lang="en-IN" sz="2400" kern="100">
                <a:effectLst/>
                <a:latin typeface="ITC Franklin Gothic LT" panose="020B0604020202020204" charset="0"/>
                <a:ea typeface="Calibri" panose="020F0502020204030204" pitchFamily="34" charset="0"/>
                <a:cs typeface="Times New Roman" panose="02020603050405020304" pitchFamily="18" charset="0"/>
              </a:rPr>
              <a:t>a) Prioritize tasks                                          b) Allocate tasks smartly and fairly </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a:lnSpc>
                <a:spcPct val="106000"/>
              </a:lnSpc>
              <a:spcAft>
                <a:spcPts val="775"/>
              </a:spcAft>
            </a:pPr>
            <a:r>
              <a:rPr lang="en-IN" sz="2400" kern="100">
                <a:effectLst/>
                <a:latin typeface="ITC Franklin Gothic LT" panose="020B0604020202020204" charset="0"/>
                <a:ea typeface="Calibri" panose="020F0502020204030204" pitchFamily="34" charset="0"/>
                <a:cs typeface="Times New Roman" panose="02020603050405020304" pitchFamily="18" charset="0"/>
              </a:rPr>
              <a:t>c) Build a timeline                                         d) Avoid multitasking </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a:lnSpc>
                <a:spcPct val="106000"/>
              </a:lnSpc>
              <a:spcAft>
                <a:spcPts val="800"/>
              </a:spcAft>
            </a:pPr>
            <a:endParaRPr lang="en-IN" sz="4000">
              <a:effectLst/>
              <a:latin typeface="ITC Franklin Gothic LT" panose="020B0604020202020204" charset="0"/>
              <a:ea typeface="Calibri" panose="020F050202020403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18726559-7CBD-2971-A934-87D681F004BA}"/>
              </a:ext>
            </a:extLst>
          </p:cNvPr>
          <p:cNvSpPr txBox="1"/>
          <p:nvPr/>
        </p:nvSpPr>
        <p:spPr>
          <a:xfrm>
            <a:off x="2209800" y="6989213"/>
            <a:ext cx="13944600" cy="2360839"/>
          </a:xfrm>
          <a:prstGeom prst="rect">
            <a:avLst/>
          </a:prstGeom>
          <a:noFill/>
        </p:spPr>
        <p:txBody>
          <a:bodyPr wrap="square">
            <a:spAutoFit/>
          </a:bodyPr>
          <a:lstStyle/>
          <a:p>
            <a:pPr>
              <a:lnSpc>
                <a:spcPct val="106000"/>
              </a:lnSpc>
              <a:spcAft>
                <a:spcPts val="800"/>
              </a:spcAft>
            </a:pPr>
            <a:r>
              <a:rPr lang="en-IN" sz="2400" b="1" kern="100">
                <a:effectLst/>
                <a:latin typeface="ITC Franklin Gothic LT" panose="020B0604020202020204" charset="0"/>
                <a:ea typeface="Calibri" panose="020F0502020204030204" pitchFamily="34" charset="0"/>
                <a:cs typeface="Times New Roman" panose="02020603050405020304" pitchFamily="18" charset="0"/>
              </a:rPr>
              <a:t>CONCLUSION:</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a:lnSpc>
                <a:spcPct val="106000"/>
              </a:lnSpc>
              <a:spcAft>
                <a:spcPts val="800"/>
              </a:spcAft>
            </a:pPr>
            <a:r>
              <a:rPr lang="en-IN" sz="2400" kern="100">
                <a:effectLst/>
                <a:latin typeface="ITC Franklin Gothic LT" panose="020B0604020202020204" charset="0"/>
                <a:ea typeface="Calibri" panose="020F0502020204030204" pitchFamily="34" charset="0"/>
                <a:cs typeface="Times New Roman" panose="02020603050405020304" pitchFamily="18" charset="0"/>
              </a:rPr>
              <a:t>According to the survey, 52.7% of the population chose prioritizing tasks as the reason to manage their workload effectively, 50.7% selected allocating tasks smartly and fairly, 41.3% opted for building a timeline, and 29.3% chose avoiding multitasking.</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a:lnSpc>
                <a:spcPct val="106000"/>
              </a:lnSpc>
              <a:spcAft>
                <a:spcPts val="800"/>
              </a:spcAft>
            </a:pPr>
            <a:endParaRPr lang="en-IN" sz="3200">
              <a:effectLst/>
              <a:latin typeface="ITC Franklin Gothic LT" panose="020B0604020202020204" charset="0"/>
              <a:ea typeface="Calibri" panose="020F0502020204030204" pitchFamily="34" charset="0"/>
              <a:cs typeface="Times New Roman" panose="02020603050405020304" pitchFamily="18" charset="0"/>
            </a:endParaRPr>
          </a:p>
        </p:txBody>
      </p:sp>
      <p:pic>
        <p:nvPicPr>
          <p:cNvPr id="7" name="Picture 6">
            <a:extLst>
              <a:ext uri="{FF2B5EF4-FFF2-40B4-BE49-F238E27FC236}">
                <a16:creationId xmlns:a16="http://schemas.microsoft.com/office/drawing/2014/main" id="{28B43304-CB1F-B47C-1894-4CB6235C9DA5}"/>
              </a:ext>
            </a:extLst>
          </p:cNvPr>
          <p:cNvPicPr>
            <a:picLocks noChangeAspect="1"/>
          </p:cNvPicPr>
          <p:nvPr/>
        </p:nvPicPr>
        <p:blipFill>
          <a:blip r:embed="rId2"/>
          <a:stretch>
            <a:fillRect/>
          </a:stretch>
        </p:blipFill>
        <p:spPr>
          <a:xfrm>
            <a:off x="4770367" y="3086100"/>
            <a:ext cx="8747265" cy="3452065"/>
          </a:xfrm>
          <a:prstGeom prst="rect">
            <a:avLst/>
          </a:prstGeom>
        </p:spPr>
      </p:pic>
    </p:spTree>
    <p:extLst>
      <p:ext uri="{BB962C8B-B14F-4D97-AF65-F5344CB8AC3E}">
        <p14:creationId xmlns:p14="http://schemas.microsoft.com/office/powerpoint/2010/main" val="2205205226"/>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7EF"/>
        </a:solidFill>
        <a:effectLst/>
      </p:bgPr>
    </p:bg>
    <p:spTree>
      <p:nvGrpSpPr>
        <p:cNvPr id="1" name="">
          <a:extLst>
            <a:ext uri="{FF2B5EF4-FFF2-40B4-BE49-F238E27FC236}">
              <a16:creationId xmlns:a16="http://schemas.microsoft.com/office/drawing/2014/main" id="{DA4EFAB9-B1B6-39A0-FA54-249DCCD17B3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7B2B9AE-CD4D-B06F-28A8-CF95100B1CEE}"/>
              </a:ext>
            </a:extLst>
          </p:cNvPr>
          <p:cNvGrpSpPr/>
          <p:nvPr/>
        </p:nvGrpSpPr>
        <p:grpSpPr>
          <a:xfrm>
            <a:off x="-557510" y="9297622"/>
            <a:ext cx="19403020" cy="2466909"/>
            <a:chOff x="0" y="0"/>
            <a:chExt cx="5110260" cy="649721"/>
          </a:xfrm>
        </p:grpSpPr>
        <p:sp>
          <p:nvSpPr>
            <p:cNvPr id="3" name="Freeform 3">
              <a:extLst>
                <a:ext uri="{FF2B5EF4-FFF2-40B4-BE49-F238E27FC236}">
                  <a16:creationId xmlns:a16="http://schemas.microsoft.com/office/drawing/2014/main" id="{709C05B7-27C0-7C12-5B1A-41AA96FD3F04}"/>
                </a:ext>
              </a:extLst>
            </p:cNvPr>
            <p:cNvSpPr/>
            <p:nvPr/>
          </p:nvSpPr>
          <p:spPr>
            <a:xfrm>
              <a:off x="0" y="0"/>
              <a:ext cx="5110261" cy="649721"/>
            </a:xfrm>
            <a:custGeom>
              <a:avLst/>
              <a:gdLst/>
              <a:ahLst/>
              <a:cxnLst/>
              <a:rect l="l" t="t" r="r" b="b"/>
              <a:pathLst>
                <a:path w="5110261" h="649721">
                  <a:moveTo>
                    <a:pt x="0" y="0"/>
                  </a:moveTo>
                  <a:lnTo>
                    <a:pt x="5110261" y="0"/>
                  </a:lnTo>
                  <a:lnTo>
                    <a:pt x="5110261" y="649721"/>
                  </a:lnTo>
                  <a:lnTo>
                    <a:pt x="0" y="649721"/>
                  </a:lnTo>
                  <a:close/>
                </a:path>
              </a:pathLst>
            </a:custGeom>
            <a:solidFill>
              <a:srgbClr val="8DAFA8"/>
            </a:solidFill>
          </p:spPr>
        </p:sp>
        <p:sp>
          <p:nvSpPr>
            <p:cNvPr id="4" name="TextBox 4">
              <a:extLst>
                <a:ext uri="{FF2B5EF4-FFF2-40B4-BE49-F238E27FC236}">
                  <a16:creationId xmlns:a16="http://schemas.microsoft.com/office/drawing/2014/main" id="{8CF4BBE4-36CA-6F24-B59F-BEE54AB7D49D}"/>
                </a:ext>
              </a:extLst>
            </p:cNvPr>
            <p:cNvSpPr txBox="1"/>
            <p:nvPr/>
          </p:nvSpPr>
          <p:spPr>
            <a:xfrm>
              <a:off x="0" y="-47625"/>
              <a:ext cx="5110260" cy="697346"/>
            </a:xfrm>
            <a:prstGeom prst="rect">
              <a:avLst/>
            </a:prstGeom>
          </p:spPr>
          <p:txBody>
            <a:bodyPr lIns="50800" tIns="50800" rIns="50800" bIns="50800" rtlCol="0" anchor="ctr"/>
            <a:lstStyle/>
            <a:p>
              <a:pPr algn="ctr">
                <a:lnSpc>
                  <a:spcPts val="2659"/>
                </a:lnSpc>
              </a:pPr>
              <a:endParaRPr/>
            </a:p>
          </p:txBody>
        </p:sp>
      </p:grpSp>
      <p:sp>
        <p:nvSpPr>
          <p:cNvPr id="12" name="TextBox 11">
            <a:extLst>
              <a:ext uri="{FF2B5EF4-FFF2-40B4-BE49-F238E27FC236}">
                <a16:creationId xmlns:a16="http://schemas.microsoft.com/office/drawing/2014/main" id="{4662F877-4080-9487-99C2-5E55A79DDCDF}"/>
              </a:ext>
            </a:extLst>
          </p:cNvPr>
          <p:cNvSpPr txBox="1"/>
          <p:nvPr/>
        </p:nvSpPr>
        <p:spPr>
          <a:xfrm>
            <a:off x="2133600" y="800100"/>
            <a:ext cx="13335000" cy="985078"/>
          </a:xfrm>
          <a:prstGeom prst="rect">
            <a:avLst/>
          </a:prstGeom>
          <a:noFill/>
        </p:spPr>
        <p:txBody>
          <a:bodyPr wrap="square">
            <a:spAutoFit/>
          </a:bodyPr>
          <a:lstStyle/>
          <a:p>
            <a:pPr lvl="0" fontAlgn="base">
              <a:lnSpc>
                <a:spcPct val="107000"/>
              </a:lnSpc>
              <a:spcAft>
                <a:spcPts val="965"/>
              </a:spcAft>
              <a:buClr>
                <a:srgbClr val="000000"/>
              </a:buClr>
              <a:buSzPts val="1100"/>
            </a:pPr>
            <a:r>
              <a:rPr lang="en-IN" sz="2400" b="1" u="none" strike="noStrike">
                <a:effectLst/>
                <a:uFill>
                  <a:solidFill>
                    <a:srgbClr val="000000"/>
                  </a:solidFill>
                </a:uFill>
                <a:latin typeface="ITC Franklin Gothic LT" panose="020B0604020202020204" charset="0"/>
                <a:ea typeface="Arial" panose="020B0604020202020204" pitchFamily="34" charset="0"/>
                <a:cs typeface="Arial" panose="020B0604020202020204" pitchFamily="34" charset="0"/>
              </a:rPr>
              <a:t>7. HOW WOULD YOU RANK THE FOLLOWING ON A SCALE OF 1-5? </a:t>
            </a:r>
            <a:endParaRPr lang="en-IN" sz="2400" u="none" strike="noStrike">
              <a:effectLst/>
              <a:uFill>
                <a:solidFill>
                  <a:srgbClr val="000000"/>
                </a:solidFill>
              </a:uFill>
              <a:latin typeface="ITC Franklin Gothic LT" panose="020B0604020202020204" charset="0"/>
              <a:ea typeface="Arial" panose="020B0604020202020204" pitchFamily="34" charset="0"/>
              <a:cs typeface="Arial" panose="020B0604020202020204" pitchFamily="34" charset="0"/>
            </a:endParaRPr>
          </a:p>
          <a:p>
            <a:r>
              <a:rPr lang="en-IN" sz="2400">
                <a:effectLst/>
                <a:latin typeface="ITC Franklin Gothic LT" panose="020B0604020202020204" charset="0"/>
                <a:ea typeface="Calibri" panose="020F0502020204030204" pitchFamily="34" charset="0"/>
              </a:rPr>
              <a:t>(1- poor         2 - fair            3 - good          4 -Very Good          5 - excellent )</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2720499F-E86A-8C5B-AE06-15DD03F72224}"/>
              </a:ext>
            </a:extLst>
          </p:cNvPr>
          <p:cNvSpPr txBox="1"/>
          <p:nvPr/>
        </p:nvSpPr>
        <p:spPr>
          <a:xfrm>
            <a:off x="1981200" y="5753100"/>
            <a:ext cx="13944600" cy="4047775"/>
          </a:xfrm>
          <a:prstGeom prst="rect">
            <a:avLst/>
          </a:prstGeom>
          <a:noFill/>
        </p:spPr>
        <p:txBody>
          <a:bodyPr wrap="square">
            <a:spAutoFit/>
          </a:bodyPr>
          <a:lstStyle/>
          <a:p>
            <a:pPr>
              <a:lnSpc>
                <a:spcPct val="106000"/>
              </a:lnSpc>
              <a:spcAft>
                <a:spcPts val="800"/>
              </a:spcAft>
            </a:pPr>
            <a:r>
              <a:rPr lang="en-IN" sz="2400" b="1">
                <a:effectLst/>
                <a:latin typeface="ITC Franklin Gothic LT" panose="020B0604020202020204" charset="0"/>
                <a:ea typeface="Calibri" panose="020F0502020204030204" pitchFamily="34" charset="0"/>
                <a:cs typeface="Times New Roman" panose="02020603050405020304" pitchFamily="18" charset="0"/>
              </a:rPr>
              <a:t>CONCLUSION: </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a:lnSpc>
                <a:spcPct val="106000"/>
              </a:lnSpc>
              <a:spcAft>
                <a:spcPts val="800"/>
              </a:spcAft>
            </a:pPr>
            <a:r>
              <a:rPr lang="en-IN" sz="2400">
                <a:effectLst/>
                <a:latin typeface="ITC Franklin Gothic LT" panose="020B0604020202020204" charset="0"/>
                <a:ea typeface="Calibri" panose="020F0502020204030204" pitchFamily="34" charset="0"/>
                <a:cs typeface="Times New Roman" panose="02020603050405020304" pitchFamily="18" charset="0"/>
              </a:rPr>
              <a:t>The total highest score indicates the first preference ranking. The results indicate the following rank ordering:</a:t>
            </a:r>
          </a:p>
          <a:p>
            <a:pPr marL="342900" lvl="0" indent="-342900">
              <a:lnSpc>
                <a:spcPct val="107000"/>
              </a:lnSpc>
              <a:buFont typeface="+mj-lt"/>
              <a:buAutoNum type="arabicPeriod"/>
            </a:pPr>
            <a:r>
              <a:rPr lang="en-IN" sz="2400">
                <a:solidFill>
                  <a:srgbClr val="000000"/>
                </a:solidFill>
                <a:effectLst/>
                <a:latin typeface="ITC Franklin Gothic LT" panose="020B0604020202020204" charset="0"/>
                <a:ea typeface="Times New Roman" panose="02020603050405020304" pitchFamily="18" charset="0"/>
                <a:cs typeface="Times New Roman" panose="02020603050405020304" pitchFamily="18" charset="0"/>
              </a:rPr>
              <a:t>I work a manageable number of hours </a:t>
            </a:r>
            <a:r>
              <a:rPr lang="en-IN" sz="2400" b="1">
                <a:solidFill>
                  <a:srgbClr val="000000"/>
                </a:solidFill>
                <a:effectLst/>
                <a:latin typeface="ITC Franklin Gothic LT" panose="020B0604020202020204" charset="0"/>
                <a:ea typeface="Times New Roman" panose="02020603050405020304" pitchFamily="18" charset="0"/>
                <a:cs typeface="Times New Roman" panose="02020603050405020304" pitchFamily="18" charset="0"/>
              </a:rPr>
              <a:t>(E)</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342900" lvl="0" indent="-342900">
              <a:lnSpc>
                <a:spcPct val="107000"/>
              </a:lnSpc>
              <a:buFont typeface="+mj-lt"/>
              <a:buAutoNum type="arabicPeriod"/>
            </a:pPr>
            <a:r>
              <a:rPr lang="en-IN" sz="2400">
                <a:solidFill>
                  <a:srgbClr val="000000"/>
                </a:solidFill>
                <a:effectLst/>
                <a:latin typeface="ITC Franklin Gothic LT" panose="020B0604020202020204" charset="0"/>
                <a:ea typeface="Times New Roman" panose="02020603050405020304" pitchFamily="18" charset="0"/>
                <a:cs typeface="Times New Roman" panose="02020603050405020304" pitchFamily="18" charset="0"/>
              </a:rPr>
              <a:t>The training opportunities have helped in improving the quality of work </a:t>
            </a:r>
            <a:r>
              <a:rPr lang="en-IN" sz="2400" b="1">
                <a:solidFill>
                  <a:srgbClr val="000000"/>
                </a:solidFill>
                <a:effectLst/>
                <a:latin typeface="ITC Franklin Gothic LT" panose="020B0604020202020204" charset="0"/>
                <a:ea typeface="Times New Roman" panose="02020603050405020304" pitchFamily="18" charset="0"/>
                <a:cs typeface="Times New Roman" panose="02020603050405020304" pitchFamily="18" charset="0"/>
              </a:rPr>
              <a:t>(D)</a:t>
            </a:r>
            <a:r>
              <a:rPr lang="en-IN" sz="2400">
                <a:solidFill>
                  <a:srgbClr val="000000"/>
                </a:solidFill>
                <a:effectLst/>
                <a:latin typeface="ITC Franklin Gothic LT" panose="020B0604020202020204" charset="0"/>
                <a:ea typeface="Times New Roman" panose="02020603050405020304" pitchFamily="18" charset="0"/>
                <a:cs typeface="Times New Roman" panose="02020603050405020304" pitchFamily="18" charset="0"/>
              </a:rPr>
              <a:t> </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342900" lvl="0" indent="-342900">
              <a:lnSpc>
                <a:spcPct val="107000"/>
              </a:lnSpc>
              <a:buFont typeface="+mj-lt"/>
              <a:buAutoNum type="arabicPeriod"/>
            </a:pPr>
            <a:r>
              <a:rPr lang="en-IN" sz="2400">
                <a:solidFill>
                  <a:srgbClr val="000000"/>
                </a:solidFill>
                <a:effectLst/>
                <a:latin typeface="ITC Franklin Gothic LT" panose="020B0604020202020204" charset="0"/>
                <a:ea typeface="Times New Roman" panose="02020603050405020304" pitchFamily="18" charset="0"/>
                <a:cs typeface="Times New Roman" panose="02020603050405020304" pitchFamily="18" charset="0"/>
              </a:rPr>
              <a:t>Your work environment is positive and supportive </a:t>
            </a:r>
            <a:r>
              <a:rPr lang="en-IN" sz="2400" b="1">
                <a:solidFill>
                  <a:srgbClr val="000000"/>
                </a:solidFill>
                <a:effectLst/>
                <a:latin typeface="ITC Franklin Gothic LT" panose="020B0604020202020204" charset="0"/>
                <a:ea typeface="Times New Roman" panose="02020603050405020304" pitchFamily="18" charset="0"/>
                <a:cs typeface="Times New Roman" panose="02020603050405020304" pitchFamily="18" charset="0"/>
              </a:rPr>
              <a:t>(A)</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342900" lvl="0" indent="-342900">
              <a:lnSpc>
                <a:spcPct val="107000"/>
              </a:lnSpc>
              <a:buFont typeface="+mj-lt"/>
              <a:buAutoNum type="arabicPeriod"/>
            </a:pPr>
            <a:r>
              <a:rPr lang="en-IN" sz="2400">
                <a:solidFill>
                  <a:srgbClr val="000000"/>
                </a:solidFill>
                <a:effectLst/>
                <a:latin typeface="ITC Franklin Gothic LT" panose="020B0604020202020204" charset="0"/>
                <a:ea typeface="Times New Roman" panose="02020603050405020304" pitchFamily="18" charset="0"/>
                <a:cs typeface="Times New Roman" panose="02020603050405020304" pitchFamily="18" charset="0"/>
              </a:rPr>
              <a:t>Job suit my educational qualification </a:t>
            </a:r>
            <a:r>
              <a:rPr lang="en-IN" sz="2400" b="1">
                <a:solidFill>
                  <a:srgbClr val="000000"/>
                </a:solidFill>
                <a:effectLst/>
                <a:latin typeface="ITC Franklin Gothic LT" panose="020B0604020202020204" charset="0"/>
                <a:ea typeface="Times New Roman" panose="02020603050405020304" pitchFamily="18" charset="0"/>
                <a:cs typeface="Times New Roman" panose="02020603050405020304" pitchFamily="18" charset="0"/>
              </a:rPr>
              <a:t>(B)</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pPr>
            <a:r>
              <a:rPr lang="en-IN" sz="2400">
                <a:solidFill>
                  <a:srgbClr val="000000"/>
                </a:solidFill>
                <a:effectLst/>
                <a:latin typeface="ITC Franklin Gothic LT" panose="020B0604020202020204" charset="0"/>
                <a:ea typeface="Times New Roman" panose="02020603050405020304" pitchFamily="18" charset="0"/>
                <a:cs typeface="Times New Roman" panose="02020603050405020304" pitchFamily="18" charset="0"/>
              </a:rPr>
              <a:t>You have access to stress management programs at your current workplace </a:t>
            </a:r>
            <a:r>
              <a:rPr lang="en-IN" sz="2400" b="1">
                <a:solidFill>
                  <a:srgbClr val="000000"/>
                </a:solidFill>
                <a:effectLst/>
                <a:latin typeface="ITC Franklin Gothic LT" panose="020B0604020202020204" charset="0"/>
                <a:ea typeface="Times New Roman" panose="02020603050405020304" pitchFamily="18" charset="0"/>
                <a:cs typeface="Times New Roman" panose="02020603050405020304" pitchFamily="18" charset="0"/>
              </a:rPr>
              <a:t>(C)</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a:lnSpc>
                <a:spcPct val="106000"/>
              </a:lnSpc>
              <a:spcAft>
                <a:spcPts val="800"/>
              </a:spcAft>
            </a:pPr>
            <a:endParaRPr lang="en-IN" sz="3200">
              <a:effectLst/>
              <a:latin typeface="ITC Franklin Gothic LT" panose="020B0604020202020204" charset="0"/>
              <a:ea typeface="Calibri" panose="020F0502020204030204" pitchFamily="34" charset="0"/>
              <a:cs typeface="Times New Roman" panose="02020603050405020304" pitchFamily="18" charset="0"/>
            </a:endParaRPr>
          </a:p>
        </p:txBody>
      </p:sp>
      <p:pic>
        <p:nvPicPr>
          <p:cNvPr id="6" name="Picture 5">
            <a:extLst>
              <a:ext uri="{FF2B5EF4-FFF2-40B4-BE49-F238E27FC236}">
                <a16:creationId xmlns:a16="http://schemas.microsoft.com/office/drawing/2014/main" id="{53603473-322A-0309-1793-F44F7BDA4C47}"/>
              </a:ext>
            </a:extLst>
          </p:cNvPr>
          <p:cNvPicPr>
            <a:picLocks noChangeAspect="1"/>
          </p:cNvPicPr>
          <p:nvPr/>
        </p:nvPicPr>
        <p:blipFill>
          <a:blip r:embed="rId2"/>
          <a:stretch>
            <a:fillRect/>
          </a:stretch>
        </p:blipFill>
        <p:spPr>
          <a:xfrm>
            <a:off x="1273493" y="2353535"/>
            <a:ext cx="7298213" cy="3180857"/>
          </a:xfrm>
          <a:prstGeom prst="rect">
            <a:avLst/>
          </a:prstGeom>
        </p:spPr>
      </p:pic>
      <p:pic>
        <p:nvPicPr>
          <p:cNvPr id="9" name="Picture 8">
            <a:extLst>
              <a:ext uri="{FF2B5EF4-FFF2-40B4-BE49-F238E27FC236}">
                <a16:creationId xmlns:a16="http://schemas.microsoft.com/office/drawing/2014/main" id="{22A59B56-FD84-385D-B454-B5A7EF4B31EB}"/>
              </a:ext>
            </a:extLst>
          </p:cNvPr>
          <p:cNvPicPr>
            <a:picLocks noChangeAspect="1"/>
          </p:cNvPicPr>
          <p:nvPr/>
        </p:nvPicPr>
        <p:blipFill>
          <a:blip r:embed="rId3"/>
          <a:stretch>
            <a:fillRect/>
          </a:stretch>
        </p:blipFill>
        <p:spPr>
          <a:xfrm>
            <a:off x="8839200" y="2376891"/>
            <a:ext cx="8996228" cy="3157501"/>
          </a:xfrm>
          <a:prstGeom prst="rect">
            <a:avLst/>
          </a:prstGeom>
        </p:spPr>
      </p:pic>
    </p:spTree>
    <p:extLst>
      <p:ext uri="{BB962C8B-B14F-4D97-AF65-F5344CB8AC3E}">
        <p14:creationId xmlns:p14="http://schemas.microsoft.com/office/powerpoint/2010/main" val="109746885"/>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7EF"/>
        </a:solidFill>
        <a:effectLst/>
      </p:bgPr>
    </p:bg>
    <p:spTree>
      <p:nvGrpSpPr>
        <p:cNvPr id="1" name="">
          <a:extLst>
            <a:ext uri="{FF2B5EF4-FFF2-40B4-BE49-F238E27FC236}">
              <a16:creationId xmlns:a16="http://schemas.microsoft.com/office/drawing/2014/main" id="{E16CAF85-EA61-6A61-42C4-DBD388C9E37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0E44F18-3590-EBB0-2ADB-B1EEE09C6759}"/>
              </a:ext>
            </a:extLst>
          </p:cNvPr>
          <p:cNvGrpSpPr/>
          <p:nvPr/>
        </p:nvGrpSpPr>
        <p:grpSpPr>
          <a:xfrm>
            <a:off x="-557510" y="9297622"/>
            <a:ext cx="19403020" cy="2466909"/>
            <a:chOff x="0" y="0"/>
            <a:chExt cx="5110260" cy="649721"/>
          </a:xfrm>
        </p:grpSpPr>
        <p:sp>
          <p:nvSpPr>
            <p:cNvPr id="3" name="Freeform 3">
              <a:extLst>
                <a:ext uri="{FF2B5EF4-FFF2-40B4-BE49-F238E27FC236}">
                  <a16:creationId xmlns:a16="http://schemas.microsoft.com/office/drawing/2014/main" id="{FC26ED81-E712-E051-602D-E223F2582D81}"/>
                </a:ext>
              </a:extLst>
            </p:cNvPr>
            <p:cNvSpPr/>
            <p:nvPr/>
          </p:nvSpPr>
          <p:spPr>
            <a:xfrm>
              <a:off x="0" y="0"/>
              <a:ext cx="5110261" cy="649721"/>
            </a:xfrm>
            <a:custGeom>
              <a:avLst/>
              <a:gdLst/>
              <a:ahLst/>
              <a:cxnLst/>
              <a:rect l="l" t="t" r="r" b="b"/>
              <a:pathLst>
                <a:path w="5110261" h="649721">
                  <a:moveTo>
                    <a:pt x="0" y="0"/>
                  </a:moveTo>
                  <a:lnTo>
                    <a:pt x="5110261" y="0"/>
                  </a:lnTo>
                  <a:lnTo>
                    <a:pt x="5110261" y="649721"/>
                  </a:lnTo>
                  <a:lnTo>
                    <a:pt x="0" y="649721"/>
                  </a:lnTo>
                  <a:close/>
                </a:path>
              </a:pathLst>
            </a:custGeom>
            <a:solidFill>
              <a:srgbClr val="8DAFA8"/>
            </a:solidFill>
          </p:spPr>
        </p:sp>
        <p:sp>
          <p:nvSpPr>
            <p:cNvPr id="4" name="TextBox 4">
              <a:extLst>
                <a:ext uri="{FF2B5EF4-FFF2-40B4-BE49-F238E27FC236}">
                  <a16:creationId xmlns:a16="http://schemas.microsoft.com/office/drawing/2014/main" id="{84465BC5-44EA-FE35-B0CF-37D58AFCD7C5}"/>
                </a:ext>
              </a:extLst>
            </p:cNvPr>
            <p:cNvSpPr txBox="1"/>
            <p:nvPr/>
          </p:nvSpPr>
          <p:spPr>
            <a:xfrm>
              <a:off x="0" y="-47625"/>
              <a:ext cx="5110260" cy="697346"/>
            </a:xfrm>
            <a:prstGeom prst="rect">
              <a:avLst/>
            </a:prstGeom>
          </p:spPr>
          <p:txBody>
            <a:bodyPr lIns="50800" tIns="50800" rIns="50800" bIns="50800" rtlCol="0" anchor="ctr"/>
            <a:lstStyle/>
            <a:p>
              <a:pPr algn="ctr">
                <a:lnSpc>
                  <a:spcPts val="2659"/>
                </a:lnSpc>
              </a:pPr>
              <a:endParaRPr/>
            </a:p>
          </p:txBody>
        </p:sp>
      </p:grpSp>
      <p:sp>
        <p:nvSpPr>
          <p:cNvPr id="12" name="TextBox 11">
            <a:extLst>
              <a:ext uri="{FF2B5EF4-FFF2-40B4-BE49-F238E27FC236}">
                <a16:creationId xmlns:a16="http://schemas.microsoft.com/office/drawing/2014/main" id="{15CE51EE-032B-3D93-4DC9-CC2ACE4B319C}"/>
              </a:ext>
            </a:extLst>
          </p:cNvPr>
          <p:cNvSpPr txBox="1"/>
          <p:nvPr/>
        </p:nvSpPr>
        <p:spPr>
          <a:xfrm>
            <a:off x="2133600" y="800100"/>
            <a:ext cx="13335000" cy="1950406"/>
          </a:xfrm>
          <a:prstGeom prst="rect">
            <a:avLst/>
          </a:prstGeom>
          <a:noFill/>
        </p:spPr>
        <p:txBody>
          <a:bodyPr wrap="square">
            <a:spAutoFit/>
          </a:bodyPr>
          <a:lstStyle/>
          <a:p>
            <a:pPr>
              <a:lnSpc>
                <a:spcPct val="106000"/>
              </a:lnSpc>
              <a:spcAft>
                <a:spcPts val="800"/>
              </a:spcAft>
            </a:pPr>
            <a:r>
              <a:rPr lang="en-IN" sz="2400" b="1" kern="100">
                <a:effectLst/>
                <a:latin typeface="ITC Franklin Gothic LT" panose="020B0604020202020204" charset="0"/>
                <a:ea typeface="Calibri" panose="020F0502020204030204" pitchFamily="34" charset="0"/>
                <a:cs typeface="Times New Roman" panose="02020603050405020304" pitchFamily="18" charset="0"/>
              </a:rPr>
              <a:t>8. HOW SATISFIED WOULD YOU SAY YOU ARE WITH YOUR JOB?</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a:lnSpc>
                <a:spcPct val="106000"/>
              </a:lnSpc>
              <a:spcAft>
                <a:spcPts val="800"/>
              </a:spcAft>
            </a:pPr>
            <a:r>
              <a:rPr lang="en-IN" sz="2400" kern="100">
                <a:effectLst/>
                <a:latin typeface="ITC Franklin Gothic LT" panose="020B0604020202020204" charset="0"/>
                <a:ea typeface="Calibri" panose="020F0502020204030204" pitchFamily="34" charset="0"/>
                <a:cs typeface="Times New Roman" panose="02020603050405020304" pitchFamily="18" charset="0"/>
              </a:rPr>
              <a:t>a) Very satisfied                       b) Somewhat satisfied  </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a:lnSpc>
                <a:spcPct val="106000"/>
              </a:lnSpc>
              <a:spcAft>
                <a:spcPts val="775"/>
              </a:spcAft>
            </a:pPr>
            <a:r>
              <a:rPr lang="en-IN" sz="2400" kern="100">
                <a:effectLst/>
                <a:latin typeface="ITC Franklin Gothic LT" panose="020B0604020202020204" charset="0"/>
                <a:ea typeface="Calibri" panose="020F0502020204030204" pitchFamily="34" charset="0"/>
                <a:cs typeface="Times New Roman" panose="02020603050405020304" pitchFamily="18" charset="0"/>
              </a:rPr>
              <a:t> c) Not too satisfied                 d) Not at all satisfied </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lvl="0" fontAlgn="base">
              <a:lnSpc>
                <a:spcPct val="107000"/>
              </a:lnSpc>
              <a:spcAft>
                <a:spcPts val="965"/>
              </a:spcAft>
              <a:buClr>
                <a:srgbClr val="000000"/>
              </a:buClr>
              <a:buSzPts val="1100"/>
            </a:pPr>
            <a:endParaRPr lang="en-IN" sz="2400">
              <a:effectLst/>
              <a:latin typeface="ITC Franklin Gothic LT" panose="020B0604020202020204" charset="0"/>
              <a:ea typeface="Calibri" panose="020F0502020204030204" pitchFamily="34" charset="0"/>
              <a:cs typeface="Times New Roman" panose="02020603050405020304" pitchFamily="18" charset="0"/>
            </a:endParaRPr>
          </a:p>
        </p:txBody>
      </p:sp>
      <p:graphicFrame>
        <p:nvGraphicFramePr>
          <p:cNvPr id="5" name="Chart 4">
            <a:extLst>
              <a:ext uri="{FF2B5EF4-FFF2-40B4-BE49-F238E27FC236}">
                <a16:creationId xmlns:a16="http://schemas.microsoft.com/office/drawing/2014/main" id="{CCDD9E40-9D6F-545E-9C7A-97A331052546}"/>
              </a:ext>
            </a:extLst>
          </p:cNvPr>
          <p:cNvGraphicFramePr/>
          <p:nvPr>
            <p:extLst>
              <p:ext uri="{D42A27DB-BD31-4B8C-83A1-F6EECF244321}">
                <p14:modId xmlns:p14="http://schemas.microsoft.com/office/powerpoint/2010/main" val="2039383661"/>
              </p:ext>
            </p:extLst>
          </p:nvPr>
        </p:nvGraphicFramePr>
        <p:xfrm>
          <a:off x="5105400" y="2332059"/>
          <a:ext cx="7620000" cy="4399114"/>
        </p:xfrm>
        <a:graphic>
          <a:graphicData uri="http://schemas.openxmlformats.org/drawingml/2006/chart">
            <c:chart xmlns:c="http://schemas.openxmlformats.org/drawingml/2006/chart" xmlns:r="http://schemas.openxmlformats.org/officeDocument/2006/relationships" r:id="rId2"/>
          </a:graphicData>
        </a:graphic>
      </p:graphicFrame>
      <p:sp>
        <p:nvSpPr>
          <p:cNvPr id="9" name="TextBox 8">
            <a:extLst>
              <a:ext uri="{FF2B5EF4-FFF2-40B4-BE49-F238E27FC236}">
                <a16:creationId xmlns:a16="http://schemas.microsoft.com/office/drawing/2014/main" id="{7CB74899-5F53-AF7F-E1E6-3DB888E17958}"/>
              </a:ext>
            </a:extLst>
          </p:cNvPr>
          <p:cNvSpPr txBox="1"/>
          <p:nvPr/>
        </p:nvSpPr>
        <p:spPr>
          <a:xfrm>
            <a:off x="2133600" y="6731173"/>
            <a:ext cx="10591800" cy="2641813"/>
          </a:xfrm>
          <a:prstGeom prst="rect">
            <a:avLst/>
          </a:prstGeom>
          <a:noFill/>
        </p:spPr>
        <p:txBody>
          <a:bodyPr wrap="square">
            <a:spAutoFit/>
          </a:bodyPr>
          <a:lstStyle/>
          <a:p>
            <a:pPr>
              <a:lnSpc>
                <a:spcPct val="106000"/>
              </a:lnSpc>
              <a:spcAft>
                <a:spcPts val="800"/>
              </a:spcAft>
            </a:pPr>
            <a:r>
              <a:rPr lang="en-IN" sz="2400" b="1" kern="100">
                <a:effectLst/>
                <a:latin typeface="ITC Franklin Gothic LT" panose="020B0604020202020204" charset="0"/>
                <a:ea typeface="Calibri" panose="020F0502020204030204" pitchFamily="34" charset="0"/>
                <a:cs typeface="Times New Roman" panose="02020603050405020304" pitchFamily="18" charset="0"/>
              </a:rPr>
              <a:t>CONCLUSION:</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a:lnSpc>
                <a:spcPct val="106000"/>
              </a:lnSpc>
              <a:spcAft>
                <a:spcPts val="800"/>
              </a:spcAft>
            </a:pPr>
            <a:r>
              <a:rPr lang="en-IN" sz="2400" kern="100">
                <a:effectLst/>
                <a:latin typeface="ITC Franklin Gothic LT" panose="020B0604020202020204" charset="0"/>
                <a:ea typeface="Calibri" panose="020F0502020204030204" pitchFamily="34" charset="0"/>
                <a:cs typeface="Times New Roman" panose="02020603050405020304" pitchFamily="18" charset="0"/>
              </a:rPr>
              <a:t>According to the survey, among 150 respondents,</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342900" lvl="0" indent="-342900">
              <a:lnSpc>
                <a:spcPct val="107000"/>
              </a:lnSpc>
              <a:buFont typeface="Wingdings" panose="05000000000000000000" pitchFamily="2" charset="2"/>
              <a:buChar char=""/>
            </a:pPr>
            <a:r>
              <a:rPr lang="en-IN" sz="2400" kern="100">
                <a:effectLst/>
                <a:latin typeface="ITC Franklin Gothic LT" panose="020B0604020202020204" charset="0"/>
                <a:ea typeface="Calibri" panose="020F0502020204030204" pitchFamily="34" charset="0"/>
                <a:cs typeface="Times New Roman" panose="02020603050405020304" pitchFamily="18" charset="0"/>
              </a:rPr>
              <a:t>82(54.7%) of the respondents are somewhat satisfied with their job.</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342900" lvl="0" indent="-342900">
              <a:lnSpc>
                <a:spcPct val="107000"/>
              </a:lnSpc>
              <a:buFont typeface="Wingdings" panose="05000000000000000000" pitchFamily="2" charset="2"/>
              <a:buChar char=""/>
            </a:pPr>
            <a:r>
              <a:rPr lang="en-IN" sz="2400" kern="100">
                <a:effectLst/>
                <a:latin typeface="ITC Franklin Gothic LT" panose="020B0604020202020204" charset="0"/>
                <a:ea typeface="Calibri" panose="020F0502020204030204" pitchFamily="34" charset="0"/>
                <a:cs typeface="Times New Roman" panose="02020603050405020304" pitchFamily="18" charset="0"/>
              </a:rPr>
              <a:t>37(24.7%) of the respondents are very satisfied with their job.</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342900" lvl="0" indent="-342900">
              <a:lnSpc>
                <a:spcPct val="107000"/>
              </a:lnSpc>
              <a:buFont typeface="Wingdings" panose="05000000000000000000" pitchFamily="2" charset="2"/>
              <a:buChar char=""/>
            </a:pPr>
            <a:r>
              <a:rPr lang="en-IN" sz="2400" kern="100">
                <a:effectLst/>
                <a:latin typeface="ITC Franklin Gothic LT" panose="020B0604020202020204" charset="0"/>
                <a:ea typeface="Calibri" panose="020F0502020204030204" pitchFamily="34" charset="0"/>
                <a:cs typeface="Times New Roman" panose="02020603050405020304" pitchFamily="18" charset="0"/>
              </a:rPr>
              <a:t>25(16.7%) of the respondents are not too satisfied with their job.</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Wingdings" panose="05000000000000000000" pitchFamily="2" charset="2"/>
              <a:buChar char=""/>
            </a:pPr>
            <a:r>
              <a:rPr lang="en-IN" sz="2400" kern="100">
                <a:effectLst/>
                <a:latin typeface="ITC Franklin Gothic LT" panose="020B0604020202020204" charset="0"/>
                <a:ea typeface="Calibri" panose="020F0502020204030204" pitchFamily="34" charset="0"/>
                <a:cs typeface="Times New Roman" panose="02020603050405020304" pitchFamily="18" charset="0"/>
              </a:rPr>
              <a:t>6(4%) of the respondents are not at all satisfied with their job.</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57025291"/>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7EF"/>
        </a:solidFill>
        <a:effectLst/>
      </p:bgPr>
    </p:bg>
    <p:spTree>
      <p:nvGrpSpPr>
        <p:cNvPr id="1" name="">
          <a:extLst>
            <a:ext uri="{FF2B5EF4-FFF2-40B4-BE49-F238E27FC236}">
              <a16:creationId xmlns:a16="http://schemas.microsoft.com/office/drawing/2014/main" id="{0F31A3AD-CBB5-B314-03AD-07E9FC0DD33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B9691C2-F681-90E0-79A1-A4B655B600CD}"/>
              </a:ext>
            </a:extLst>
          </p:cNvPr>
          <p:cNvGrpSpPr/>
          <p:nvPr/>
        </p:nvGrpSpPr>
        <p:grpSpPr>
          <a:xfrm>
            <a:off x="-557510" y="9297622"/>
            <a:ext cx="19403020" cy="2466909"/>
            <a:chOff x="0" y="0"/>
            <a:chExt cx="5110260" cy="649721"/>
          </a:xfrm>
        </p:grpSpPr>
        <p:sp>
          <p:nvSpPr>
            <p:cNvPr id="3" name="Freeform 3">
              <a:extLst>
                <a:ext uri="{FF2B5EF4-FFF2-40B4-BE49-F238E27FC236}">
                  <a16:creationId xmlns:a16="http://schemas.microsoft.com/office/drawing/2014/main" id="{C0C62ECB-F858-8789-F64F-0B8818E2DC1D}"/>
                </a:ext>
              </a:extLst>
            </p:cNvPr>
            <p:cNvSpPr/>
            <p:nvPr/>
          </p:nvSpPr>
          <p:spPr>
            <a:xfrm>
              <a:off x="0" y="0"/>
              <a:ext cx="5110261" cy="649721"/>
            </a:xfrm>
            <a:custGeom>
              <a:avLst/>
              <a:gdLst/>
              <a:ahLst/>
              <a:cxnLst/>
              <a:rect l="l" t="t" r="r" b="b"/>
              <a:pathLst>
                <a:path w="5110261" h="649721">
                  <a:moveTo>
                    <a:pt x="0" y="0"/>
                  </a:moveTo>
                  <a:lnTo>
                    <a:pt x="5110261" y="0"/>
                  </a:lnTo>
                  <a:lnTo>
                    <a:pt x="5110261" y="649721"/>
                  </a:lnTo>
                  <a:lnTo>
                    <a:pt x="0" y="649721"/>
                  </a:lnTo>
                  <a:close/>
                </a:path>
              </a:pathLst>
            </a:custGeom>
            <a:solidFill>
              <a:srgbClr val="8DAFA8"/>
            </a:solidFill>
          </p:spPr>
        </p:sp>
        <p:sp>
          <p:nvSpPr>
            <p:cNvPr id="4" name="TextBox 4">
              <a:extLst>
                <a:ext uri="{FF2B5EF4-FFF2-40B4-BE49-F238E27FC236}">
                  <a16:creationId xmlns:a16="http://schemas.microsoft.com/office/drawing/2014/main" id="{6B531202-D6C6-05CE-DD1C-DC27A820091A}"/>
                </a:ext>
              </a:extLst>
            </p:cNvPr>
            <p:cNvSpPr txBox="1"/>
            <p:nvPr/>
          </p:nvSpPr>
          <p:spPr>
            <a:xfrm>
              <a:off x="0" y="-47625"/>
              <a:ext cx="5110260" cy="697346"/>
            </a:xfrm>
            <a:prstGeom prst="rect">
              <a:avLst/>
            </a:prstGeom>
          </p:spPr>
          <p:txBody>
            <a:bodyPr lIns="50800" tIns="50800" rIns="50800" bIns="50800" rtlCol="0" anchor="ctr"/>
            <a:lstStyle/>
            <a:p>
              <a:pPr algn="ctr">
                <a:lnSpc>
                  <a:spcPts val="2659"/>
                </a:lnSpc>
              </a:pPr>
              <a:endParaRPr/>
            </a:p>
          </p:txBody>
        </p:sp>
      </p:grpSp>
      <p:sp>
        <p:nvSpPr>
          <p:cNvPr id="12" name="TextBox 11">
            <a:extLst>
              <a:ext uri="{FF2B5EF4-FFF2-40B4-BE49-F238E27FC236}">
                <a16:creationId xmlns:a16="http://schemas.microsoft.com/office/drawing/2014/main" id="{82997B96-2E12-A021-0B12-0DDBDC852C86}"/>
              </a:ext>
            </a:extLst>
          </p:cNvPr>
          <p:cNvSpPr txBox="1"/>
          <p:nvPr/>
        </p:nvSpPr>
        <p:spPr>
          <a:xfrm>
            <a:off x="2133600" y="800100"/>
            <a:ext cx="13335000" cy="1386662"/>
          </a:xfrm>
          <a:prstGeom prst="rect">
            <a:avLst/>
          </a:prstGeom>
          <a:noFill/>
        </p:spPr>
        <p:txBody>
          <a:bodyPr wrap="square">
            <a:spAutoFit/>
          </a:bodyPr>
          <a:lstStyle/>
          <a:p>
            <a:pPr fontAlgn="base">
              <a:lnSpc>
                <a:spcPct val="107000"/>
              </a:lnSpc>
              <a:spcAft>
                <a:spcPts val="965"/>
              </a:spcAft>
              <a:buClr>
                <a:srgbClr val="000000"/>
              </a:buClr>
              <a:buSzPts val="1100"/>
            </a:pPr>
            <a:r>
              <a:rPr lang="en-IN" sz="2400" b="1">
                <a:effectLst/>
                <a:latin typeface="ITC Franklin Gothic LT" panose="020B0604020202020204" charset="0"/>
                <a:ea typeface="Calibri" panose="020F0502020204030204" pitchFamily="34" charset="0"/>
                <a:cs typeface="Times New Roman" panose="02020603050405020304" pitchFamily="18" charset="0"/>
              </a:rPr>
              <a:t>9. PLEASE INDICATE HOW MUCH YOU AGREE OR DISAGREE WITH THE FOLLOWING STATEMENTS. </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lvl="0" fontAlgn="base">
              <a:lnSpc>
                <a:spcPct val="107000"/>
              </a:lnSpc>
              <a:spcAft>
                <a:spcPts val="965"/>
              </a:spcAft>
              <a:buClr>
                <a:srgbClr val="000000"/>
              </a:buClr>
              <a:buSzPts val="1100"/>
            </a:pPr>
            <a:endParaRPr lang="en-IN" sz="2400">
              <a:effectLst/>
              <a:latin typeface="ITC Franklin Gothic LT" panose="020B0604020202020204" charset="0"/>
              <a:ea typeface="Calibri" panose="020F0502020204030204" pitchFamily="34" charset="0"/>
              <a:cs typeface="Times New Roman" panose="02020603050405020304" pitchFamily="18" charset="0"/>
            </a:endParaRPr>
          </a:p>
        </p:txBody>
      </p:sp>
      <p:pic>
        <p:nvPicPr>
          <p:cNvPr id="7" name="Picture 6">
            <a:extLst>
              <a:ext uri="{FF2B5EF4-FFF2-40B4-BE49-F238E27FC236}">
                <a16:creationId xmlns:a16="http://schemas.microsoft.com/office/drawing/2014/main" id="{C63E49B6-85AC-49E7-5ED3-E1E7F8867D85}"/>
              </a:ext>
            </a:extLst>
          </p:cNvPr>
          <p:cNvPicPr>
            <a:picLocks noChangeAspect="1"/>
          </p:cNvPicPr>
          <p:nvPr/>
        </p:nvPicPr>
        <p:blipFill>
          <a:blip r:embed="rId2"/>
          <a:stretch>
            <a:fillRect/>
          </a:stretch>
        </p:blipFill>
        <p:spPr>
          <a:xfrm>
            <a:off x="3657600" y="1760513"/>
            <a:ext cx="10363200" cy="7454012"/>
          </a:xfrm>
          <a:prstGeom prst="rect">
            <a:avLst/>
          </a:prstGeom>
        </p:spPr>
      </p:pic>
    </p:spTree>
    <p:extLst>
      <p:ext uri="{BB962C8B-B14F-4D97-AF65-F5344CB8AC3E}">
        <p14:creationId xmlns:p14="http://schemas.microsoft.com/office/powerpoint/2010/main" val="3338481984"/>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7EF"/>
        </a:solidFill>
        <a:effectLst/>
      </p:bgPr>
    </p:bg>
    <p:spTree>
      <p:nvGrpSpPr>
        <p:cNvPr id="1" name="">
          <a:extLst>
            <a:ext uri="{FF2B5EF4-FFF2-40B4-BE49-F238E27FC236}">
              <a16:creationId xmlns:a16="http://schemas.microsoft.com/office/drawing/2014/main" id="{5366EC3B-9D67-2331-DE02-8010FA81E07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5A9065B-E108-4EC4-0C1C-7E0174523955}"/>
              </a:ext>
            </a:extLst>
          </p:cNvPr>
          <p:cNvGrpSpPr/>
          <p:nvPr/>
        </p:nvGrpSpPr>
        <p:grpSpPr>
          <a:xfrm>
            <a:off x="-557510" y="9297622"/>
            <a:ext cx="19403020" cy="2466909"/>
            <a:chOff x="0" y="0"/>
            <a:chExt cx="5110260" cy="649721"/>
          </a:xfrm>
        </p:grpSpPr>
        <p:sp>
          <p:nvSpPr>
            <p:cNvPr id="3" name="Freeform 3">
              <a:extLst>
                <a:ext uri="{FF2B5EF4-FFF2-40B4-BE49-F238E27FC236}">
                  <a16:creationId xmlns:a16="http://schemas.microsoft.com/office/drawing/2014/main" id="{55A2BEC1-9616-4089-AB06-BFB61C2A8661}"/>
                </a:ext>
              </a:extLst>
            </p:cNvPr>
            <p:cNvSpPr/>
            <p:nvPr/>
          </p:nvSpPr>
          <p:spPr>
            <a:xfrm>
              <a:off x="0" y="0"/>
              <a:ext cx="5110261" cy="649721"/>
            </a:xfrm>
            <a:custGeom>
              <a:avLst/>
              <a:gdLst/>
              <a:ahLst/>
              <a:cxnLst/>
              <a:rect l="l" t="t" r="r" b="b"/>
              <a:pathLst>
                <a:path w="5110261" h="649721">
                  <a:moveTo>
                    <a:pt x="0" y="0"/>
                  </a:moveTo>
                  <a:lnTo>
                    <a:pt x="5110261" y="0"/>
                  </a:lnTo>
                  <a:lnTo>
                    <a:pt x="5110261" y="649721"/>
                  </a:lnTo>
                  <a:lnTo>
                    <a:pt x="0" y="649721"/>
                  </a:lnTo>
                  <a:close/>
                </a:path>
              </a:pathLst>
            </a:custGeom>
            <a:solidFill>
              <a:srgbClr val="8DAFA8"/>
            </a:solidFill>
          </p:spPr>
        </p:sp>
        <p:sp>
          <p:nvSpPr>
            <p:cNvPr id="4" name="TextBox 4">
              <a:extLst>
                <a:ext uri="{FF2B5EF4-FFF2-40B4-BE49-F238E27FC236}">
                  <a16:creationId xmlns:a16="http://schemas.microsoft.com/office/drawing/2014/main" id="{A13B6A7C-36C1-6E5D-BE56-0F4FF5A02EC4}"/>
                </a:ext>
              </a:extLst>
            </p:cNvPr>
            <p:cNvSpPr txBox="1"/>
            <p:nvPr/>
          </p:nvSpPr>
          <p:spPr>
            <a:xfrm>
              <a:off x="0" y="-47625"/>
              <a:ext cx="5110260" cy="697346"/>
            </a:xfrm>
            <a:prstGeom prst="rect">
              <a:avLst/>
            </a:prstGeom>
          </p:spPr>
          <p:txBody>
            <a:bodyPr lIns="50800" tIns="50800" rIns="50800" bIns="50800" rtlCol="0" anchor="ctr"/>
            <a:lstStyle/>
            <a:p>
              <a:pPr algn="ctr">
                <a:lnSpc>
                  <a:spcPts val="2659"/>
                </a:lnSpc>
              </a:pPr>
              <a:endParaRPr/>
            </a:p>
          </p:txBody>
        </p:sp>
      </p:grpSp>
      <p:sp>
        <p:nvSpPr>
          <p:cNvPr id="9" name="TextBox 8">
            <a:extLst>
              <a:ext uri="{FF2B5EF4-FFF2-40B4-BE49-F238E27FC236}">
                <a16:creationId xmlns:a16="http://schemas.microsoft.com/office/drawing/2014/main" id="{3563E26C-77A9-955D-FE54-6BA9C47AE20F}"/>
              </a:ext>
            </a:extLst>
          </p:cNvPr>
          <p:cNvSpPr txBox="1"/>
          <p:nvPr/>
        </p:nvSpPr>
        <p:spPr>
          <a:xfrm>
            <a:off x="2133600" y="1714500"/>
            <a:ext cx="12649200" cy="6302431"/>
          </a:xfrm>
          <a:prstGeom prst="rect">
            <a:avLst/>
          </a:prstGeom>
          <a:noFill/>
        </p:spPr>
        <p:txBody>
          <a:bodyPr wrap="square">
            <a:spAutoFit/>
          </a:bodyPr>
          <a:lstStyle/>
          <a:p>
            <a:pPr>
              <a:lnSpc>
                <a:spcPct val="106000"/>
              </a:lnSpc>
              <a:spcAft>
                <a:spcPts val="800"/>
              </a:spcAft>
            </a:pPr>
            <a:r>
              <a:rPr lang="en-IN" sz="2400" b="1" kern="100">
                <a:effectLst/>
                <a:latin typeface="ITC Franklin Gothic LT" panose="020B0604020202020204" charset="0"/>
                <a:ea typeface="Calibri" panose="020F0502020204030204" pitchFamily="34" charset="0"/>
                <a:cs typeface="Times New Roman" panose="02020603050405020304" pitchFamily="18" charset="0"/>
              </a:rPr>
              <a:t>CONCLUSION:</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a:lnSpc>
                <a:spcPct val="106000"/>
              </a:lnSpc>
              <a:spcAft>
                <a:spcPts val="800"/>
              </a:spcAft>
            </a:pPr>
            <a:r>
              <a:rPr lang="en-IN" sz="2400">
                <a:effectLst/>
                <a:latin typeface="ITC Franklin Gothic LT" panose="020B0604020202020204" charset="0"/>
                <a:ea typeface="Calibri" panose="020F0502020204030204" pitchFamily="34" charset="0"/>
                <a:cs typeface="Times New Roman" panose="02020603050405020304" pitchFamily="18" charset="0"/>
              </a:rPr>
              <a:t>From the above table, it is observed that</a:t>
            </a:r>
          </a:p>
          <a:p>
            <a:pPr>
              <a:lnSpc>
                <a:spcPct val="106000"/>
              </a:lnSpc>
              <a:spcAft>
                <a:spcPts val="800"/>
              </a:spcAft>
            </a:pPr>
            <a:r>
              <a:rPr lang="en-IN" sz="2400" b="1">
                <a:effectLst/>
                <a:latin typeface="ITC Franklin Gothic LT" panose="020B0604020202020204" charset="0"/>
                <a:ea typeface="Calibri" panose="020F0502020204030204" pitchFamily="34" charset="0"/>
                <a:cs typeface="Times New Roman" panose="02020603050405020304" pitchFamily="18" charset="0"/>
              </a:rPr>
              <a:t> • Most of the respondents agreed that:</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342900" lvl="0" indent="-342900">
              <a:lnSpc>
                <a:spcPct val="107000"/>
              </a:lnSpc>
              <a:buFont typeface="+mj-lt"/>
              <a:buAutoNum type="arabicPeriod"/>
            </a:pPr>
            <a:r>
              <a:rPr lang="en-IN" sz="2400">
                <a:solidFill>
                  <a:srgbClr val="000000"/>
                </a:solidFill>
                <a:effectLst/>
                <a:latin typeface="ITC Franklin Gothic LT" panose="020B0604020202020204" charset="0"/>
                <a:ea typeface="Times New Roman" panose="02020603050405020304" pitchFamily="18" charset="0"/>
                <a:cs typeface="Times New Roman" panose="02020603050405020304" pitchFamily="18" charset="0"/>
              </a:rPr>
              <a:t>My job requires that I keep learning new things. (mean =3.76)</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342900" lvl="0" indent="-342900">
              <a:lnSpc>
                <a:spcPct val="107000"/>
              </a:lnSpc>
              <a:buFont typeface="+mj-lt"/>
              <a:buAutoNum type="arabicPeriod"/>
            </a:pPr>
            <a:r>
              <a:rPr lang="en-IN" sz="2400">
                <a:solidFill>
                  <a:srgbClr val="000000"/>
                </a:solidFill>
                <a:effectLst/>
                <a:latin typeface="ITC Franklin Gothic LT" panose="020B0604020202020204" charset="0"/>
                <a:ea typeface="Times New Roman" panose="02020603050405020304" pitchFamily="18" charset="0"/>
                <a:cs typeface="Times New Roman" panose="02020603050405020304" pitchFamily="18" charset="0"/>
              </a:rPr>
              <a:t>The safety and health conditions where I work are good. (mean =3.63)</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342900" lvl="0" indent="-342900">
              <a:lnSpc>
                <a:spcPct val="107000"/>
              </a:lnSpc>
              <a:buFont typeface="+mj-lt"/>
              <a:buAutoNum type="arabicPeriod"/>
            </a:pPr>
            <a:r>
              <a:rPr lang="en-IN" sz="2400">
                <a:solidFill>
                  <a:srgbClr val="000000"/>
                </a:solidFill>
                <a:effectLst/>
                <a:latin typeface="ITC Franklin Gothic LT" panose="020B0604020202020204" charset="0"/>
                <a:ea typeface="Times New Roman" panose="02020603050405020304" pitchFamily="18" charset="0"/>
                <a:cs typeface="Times New Roman" panose="02020603050405020304" pitchFamily="18" charset="0"/>
              </a:rPr>
              <a:t>My job lets me use my skills and abilities. (mean =3.51)</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342900" lvl="0" indent="-342900">
              <a:lnSpc>
                <a:spcPct val="107000"/>
              </a:lnSpc>
              <a:buFont typeface="+mj-lt"/>
              <a:buAutoNum type="arabicPeriod"/>
            </a:pPr>
            <a:r>
              <a:rPr lang="en-IN" sz="2400">
                <a:solidFill>
                  <a:srgbClr val="000000"/>
                </a:solidFill>
                <a:effectLst/>
                <a:latin typeface="ITC Franklin Gothic LT" panose="020B0604020202020204" charset="0"/>
                <a:ea typeface="Times New Roman" panose="02020603050405020304" pitchFamily="18" charset="0"/>
                <a:cs typeface="Times New Roman" panose="02020603050405020304" pitchFamily="18" charset="0"/>
              </a:rPr>
              <a:t>My supervisor treats me fairly. (mean =3.39)</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342900" lvl="0" indent="-342900">
              <a:lnSpc>
                <a:spcPct val="107000"/>
              </a:lnSpc>
              <a:buFont typeface="+mj-lt"/>
              <a:buAutoNum type="arabicPeriod"/>
            </a:pPr>
            <a:r>
              <a:rPr lang="en-IN" sz="2400">
                <a:solidFill>
                  <a:srgbClr val="000000"/>
                </a:solidFill>
                <a:effectLst/>
                <a:latin typeface="ITC Franklin Gothic LT" panose="020B0604020202020204" charset="0"/>
                <a:ea typeface="Times New Roman" panose="02020603050405020304" pitchFamily="18" charset="0"/>
                <a:cs typeface="Times New Roman" panose="02020603050405020304" pitchFamily="18" charset="0"/>
              </a:rPr>
              <a:t>Promotions are handled fairly. (mean =3.37)</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pPr>
            <a:r>
              <a:rPr lang="en-IN" sz="2400">
                <a:solidFill>
                  <a:srgbClr val="000000"/>
                </a:solidFill>
                <a:effectLst/>
                <a:latin typeface="ITC Franklin Gothic LT" panose="020B0604020202020204" charset="0"/>
                <a:ea typeface="Times New Roman" panose="02020603050405020304" pitchFamily="18" charset="0"/>
                <a:cs typeface="Times New Roman" panose="02020603050405020304" pitchFamily="18" charset="0"/>
              </a:rPr>
              <a:t>My employer provides adequate facilities and flexibility for me to fit work around my family life. (mean =3.31)</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a:lnSpc>
                <a:spcPct val="106000"/>
              </a:lnSpc>
              <a:spcAft>
                <a:spcPts val="800"/>
              </a:spcAft>
            </a:pPr>
            <a:r>
              <a:rPr lang="en-IN" sz="2400" b="1">
                <a:effectLst/>
                <a:latin typeface="ITC Franklin Gothic LT" panose="020B0604020202020204" charset="0"/>
                <a:ea typeface="Calibri" panose="020F0502020204030204" pitchFamily="34" charset="0"/>
                <a:cs typeface="Times New Roman" panose="02020603050405020304" pitchFamily="18" charset="0"/>
              </a:rPr>
              <a:t> </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a:lnSpc>
                <a:spcPct val="106000"/>
              </a:lnSpc>
              <a:spcAft>
                <a:spcPts val="800"/>
              </a:spcAft>
            </a:pPr>
            <a:r>
              <a:rPr lang="en-IN" sz="2400" b="1">
                <a:effectLst/>
                <a:latin typeface="ITC Franklin Gothic LT" panose="020B0604020202020204" charset="0"/>
                <a:ea typeface="Calibri" panose="020F0502020204030204" pitchFamily="34" charset="0"/>
                <a:cs typeface="Times New Roman" panose="02020603050405020304" pitchFamily="18" charset="0"/>
              </a:rPr>
              <a:t>  • Most of the respondents disagreed that:</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pPr>
            <a:r>
              <a:rPr lang="en-IN" sz="2400">
                <a:solidFill>
                  <a:srgbClr val="000000"/>
                </a:solidFill>
                <a:effectLst/>
                <a:latin typeface="ITC Franklin Gothic LT" panose="020B0604020202020204" charset="0"/>
                <a:ea typeface="Times New Roman" panose="02020603050405020304" pitchFamily="18" charset="0"/>
                <a:cs typeface="Times New Roman" panose="02020603050405020304" pitchFamily="18" charset="0"/>
              </a:rPr>
              <a:t>Work Load is less as compared to other companies. (mean =3.25)</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a:lnSpc>
                <a:spcPct val="106000"/>
              </a:lnSpc>
              <a:spcAft>
                <a:spcPts val="800"/>
              </a:spcAft>
            </a:pPr>
            <a:endParaRPr lang="en-IN" sz="2400">
              <a:effectLst/>
              <a:latin typeface="ITC Franklin Gothic LT" panose="020B060402020202020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47208169"/>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7EF"/>
        </a:solidFill>
        <a:effectLst/>
      </p:bgPr>
    </p:bg>
    <p:spTree>
      <p:nvGrpSpPr>
        <p:cNvPr id="1" name="">
          <a:extLst>
            <a:ext uri="{FF2B5EF4-FFF2-40B4-BE49-F238E27FC236}">
              <a16:creationId xmlns:a16="http://schemas.microsoft.com/office/drawing/2014/main" id="{C5236B2E-9708-9ED6-B4D7-081C179CAFB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9895076-A133-4405-EE1A-848C9F93B0BB}"/>
              </a:ext>
            </a:extLst>
          </p:cNvPr>
          <p:cNvGrpSpPr/>
          <p:nvPr/>
        </p:nvGrpSpPr>
        <p:grpSpPr>
          <a:xfrm>
            <a:off x="4917956" y="5085847"/>
            <a:ext cx="3827651" cy="3827651"/>
            <a:chOff x="0" y="0"/>
            <a:chExt cx="812800" cy="812800"/>
          </a:xfrm>
        </p:grpSpPr>
        <p:sp>
          <p:nvSpPr>
            <p:cNvPr id="3" name="Freeform 3">
              <a:extLst>
                <a:ext uri="{FF2B5EF4-FFF2-40B4-BE49-F238E27FC236}">
                  <a16:creationId xmlns:a16="http://schemas.microsoft.com/office/drawing/2014/main" id="{F4F2E7F1-BA11-574C-F5E5-8346A5BD19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DAFA8">
                <a:alpha val="40000"/>
              </a:srgbClr>
            </a:solidFill>
          </p:spPr>
        </p:sp>
        <p:sp>
          <p:nvSpPr>
            <p:cNvPr id="4" name="TextBox 4">
              <a:extLst>
                <a:ext uri="{FF2B5EF4-FFF2-40B4-BE49-F238E27FC236}">
                  <a16:creationId xmlns:a16="http://schemas.microsoft.com/office/drawing/2014/main" id="{F99804DF-319D-495D-D27C-76B0DAE1959A}"/>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 name="Group 5">
            <a:extLst>
              <a:ext uri="{FF2B5EF4-FFF2-40B4-BE49-F238E27FC236}">
                <a16:creationId xmlns:a16="http://schemas.microsoft.com/office/drawing/2014/main" id="{24D9191C-3552-D1C6-DFEA-585CD5FA4022}"/>
              </a:ext>
            </a:extLst>
          </p:cNvPr>
          <p:cNvGrpSpPr/>
          <p:nvPr/>
        </p:nvGrpSpPr>
        <p:grpSpPr>
          <a:xfrm>
            <a:off x="714039" y="1672355"/>
            <a:ext cx="3389171" cy="3389171"/>
            <a:chOff x="0" y="0"/>
            <a:chExt cx="812800" cy="812800"/>
          </a:xfrm>
        </p:grpSpPr>
        <p:sp>
          <p:nvSpPr>
            <p:cNvPr id="6" name="Freeform 6">
              <a:extLst>
                <a:ext uri="{FF2B5EF4-FFF2-40B4-BE49-F238E27FC236}">
                  <a16:creationId xmlns:a16="http://schemas.microsoft.com/office/drawing/2014/main" id="{1912B7AF-B206-0DF9-BEF2-371B72483B6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DAFA8">
                <a:alpha val="40000"/>
              </a:srgbClr>
            </a:solidFill>
          </p:spPr>
        </p:sp>
        <p:sp>
          <p:nvSpPr>
            <p:cNvPr id="7" name="TextBox 7">
              <a:extLst>
                <a:ext uri="{FF2B5EF4-FFF2-40B4-BE49-F238E27FC236}">
                  <a16:creationId xmlns:a16="http://schemas.microsoft.com/office/drawing/2014/main" id="{48092207-9F24-B7C7-D18F-73FEEE273806}"/>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8" name="Group 8">
            <a:extLst>
              <a:ext uri="{FF2B5EF4-FFF2-40B4-BE49-F238E27FC236}">
                <a16:creationId xmlns:a16="http://schemas.microsoft.com/office/drawing/2014/main" id="{B7F37162-A830-CBFE-6724-16AF53070643}"/>
              </a:ext>
            </a:extLst>
          </p:cNvPr>
          <p:cNvGrpSpPr/>
          <p:nvPr/>
        </p:nvGrpSpPr>
        <p:grpSpPr>
          <a:xfrm>
            <a:off x="1004805" y="4038431"/>
            <a:ext cx="2094831" cy="2094831"/>
            <a:chOff x="0" y="0"/>
            <a:chExt cx="812800" cy="812800"/>
          </a:xfrm>
        </p:grpSpPr>
        <p:sp>
          <p:nvSpPr>
            <p:cNvPr id="9" name="Freeform 9">
              <a:extLst>
                <a:ext uri="{FF2B5EF4-FFF2-40B4-BE49-F238E27FC236}">
                  <a16:creationId xmlns:a16="http://schemas.microsoft.com/office/drawing/2014/main" id="{4562650C-6E60-F253-9FBA-251E486266F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6A160">
                <a:alpha val="40000"/>
              </a:srgbClr>
            </a:solidFill>
          </p:spPr>
        </p:sp>
        <p:sp>
          <p:nvSpPr>
            <p:cNvPr id="10" name="TextBox 10">
              <a:extLst>
                <a:ext uri="{FF2B5EF4-FFF2-40B4-BE49-F238E27FC236}">
                  <a16:creationId xmlns:a16="http://schemas.microsoft.com/office/drawing/2014/main" id="{8EF4FE6A-BAE8-2E29-3EB9-806A82534BCA}"/>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11" name="Group 11">
            <a:extLst>
              <a:ext uri="{FF2B5EF4-FFF2-40B4-BE49-F238E27FC236}">
                <a16:creationId xmlns:a16="http://schemas.microsoft.com/office/drawing/2014/main" id="{F8B1BAB5-F354-3018-3CBD-5004C026F644}"/>
              </a:ext>
            </a:extLst>
          </p:cNvPr>
          <p:cNvGrpSpPr/>
          <p:nvPr/>
        </p:nvGrpSpPr>
        <p:grpSpPr>
          <a:xfrm>
            <a:off x="5784365" y="2991016"/>
            <a:ext cx="2094831" cy="2094831"/>
            <a:chOff x="0" y="0"/>
            <a:chExt cx="812800" cy="812800"/>
          </a:xfrm>
        </p:grpSpPr>
        <p:sp>
          <p:nvSpPr>
            <p:cNvPr id="12" name="Freeform 12">
              <a:extLst>
                <a:ext uri="{FF2B5EF4-FFF2-40B4-BE49-F238E27FC236}">
                  <a16:creationId xmlns:a16="http://schemas.microsoft.com/office/drawing/2014/main" id="{9FCDD05B-38DC-81FF-2E72-029240D30D9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6A160">
                <a:alpha val="40000"/>
              </a:srgbClr>
            </a:solidFill>
          </p:spPr>
        </p:sp>
        <p:sp>
          <p:nvSpPr>
            <p:cNvPr id="13" name="TextBox 13">
              <a:extLst>
                <a:ext uri="{FF2B5EF4-FFF2-40B4-BE49-F238E27FC236}">
                  <a16:creationId xmlns:a16="http://schemas.microsoft.com/office/drawing/2014/main" id="{E0D0506C-6F5C-FEF4-9F3C-AA3C1FA3860B}"/>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15" name="Group 15">
            <a:extLst>
              <a:ext uri="{FF2B5EF4-FFF2-40B4-BE49-F238E27FC236}">
                <a16:creationId xmlns:a16="http://schemas.microsoft.com/office/drawing/2014/main" id="{9C1BEF40-D265-6DF4-1C53-DE1F62B95878}"/>
              </a:ext>
            </a:extLst>
          </p:cNvPr>
          <p:cNvGrpSpPr/>
          <p:nvPr/>
        </p:nvGrpSpPr>
        <p:grpSpPr>
          <a:xfrm>
            <a:off x="-557510" y="-889891"/>
            <a:ext cx="19403020" cy="1779782"/>
            <a:chOff x="0" y="0"/>
            <a:chExt cx="5110260" cy="468749"/>
          </a:xfrm>
        </p:grpSpPr>
        <p:sp>
          <p:nvSpPr>
            <p:cNvPr id="16" name="Freeform 16">
              <a:extLst>
                <a:ext uri="{FF2B5EF4-FFF2-40B4-BE49-F238E27FC236}">
                  <a16:creationId xmlns:a16="http://schemas.microsoft.com/office/drawing/2014/main" id="{EC4A6268-1939-08E6-C8E0-F9B4D4D02F48}"/>
                </a:ext>
              </a:extLst>
            </p:cNvPr>
            <p:cNvSpPr/>
            <p:nvPr/>
          </p:nvSpPr>
          <p:spPr>
            <a:xfrm>
              <a:off x="0" y="0"/>
              <a:ext cx="5110261" cy="468749"/>
            </a:xfrm>
            <a:custGeom>
              <a:avLst/>
              <a:gdLst/>
              <a:ahLst/>
              <a:cxnLst/>
              <a:rect l="l" t="t" r="r" b="b"/>
              <a:pathLst>
                <a:path w="5110261" h="468749">
                  <a:moveTo>
                    <a:pt x="0" y="0"/>
                  </a:moveTo>
                  <a:lnTo>
                    <a:pt x="5110261" y="0"/>
                  </a:lnTo>
                  <a:lnTo>
                    <a:pt x="5110261" y="468749"/>
                  </a:lnTo>
                  <a:lnTo>
                    <a:pt x="0" y="468749"/>
                  </a:lnTo>
                  <a:close/>
                </a:path>
              </a:pathLst>
            </a:custGeom>
            <a:solidFill>
              <a:srgbClr val="8DAFA8"/>
            </a:solidFill>
          </p:spPr>
        </p:sp>
        <p:sp>
          <p:nvSpPr>
            <p:cNvPr id="17" name="TextBox 17">
              <a:extLst>
                <a:ext uri="{FF2B5EF4-FFF2-40B4-BE49-F238E27FC236}">
                  <a16:creationId xmlns:a16="http://schemas.microsoft.com/office/drawing/2014/main" id="{24557287-2295-AB21-72C1-46143F7AD572}"/>
                </a:ext>
              </a:extLst>
            </p:cNvPr>
            <p:cNvSpPr txBox="1"/>
            <p:nvPr/>
          </p:nvSpPr>
          <p:spPr>
            <a:xfrm>
              <a:off x="0" y="-47625"/>
              <a:ext cx="5110260" cy="516374"/>
            </a:xfrm>
            <a:prstGeom prst="rect">
              <a:avLst/>
            </a:prstGeom>
          </p:spPr>
          <p:txBody>
            <a:bodyPr lIns="50800" tIns="50800" rIns="50800" bIns="50800" rtlCol="0" anchor="ctr"/>
            <a:lstStyle/>
            <a:p>
              <a:pPr algn="ctr">
                <a:lnSpc>
                  <a:spcPts val="2659"/>
                </a:lnSpc>
              </a:pPr>
              <a:endParaRPr/>
            </a:p>
          </p:txBody>
        </p:sp>
      </p:grpSp>
      <p:grpSp>
        <p:nvGrpSpPr>
          <p:cNvPr id="18" name="Group 18">
            <a:extLst>
              <a:ext uri="{FF2B5EF4-FFF2-40B4-BE49-F238E27FC236}">
                <a16:creationId xmlns:a16="http://schemas.microsoft.com/office/drawing/2014/main" id="{6E22D97B-13C1-8D32-B33C-EC7734A5F886}"/>
              </a:ext>
            </a:extLst>
          </p:cNvPr>
          <p:cNvGrpSpPr/>
          <p:nvPr/>
        </p:nvGrpSpPr>
        <p:grpSpPr>
          <a:xfrm>
            <a:off x="-557510" y="9397109"/>
            <a:ext cx="19403020" cy="1779782"/>
            <a:chOff x="0" y="0"/>
            <a:chExt cx="5110260" cy="468749"/>
          </a:xfrm>
        </p:grpSpPr>
        <p:sp>
          <p:nvSpPr>
            <p:cNvPr id="19" name="Freeform 19">
              <a:extLst>
                <a:ext uri="{FF2B5EF4-FFF2-40B4-BE49-F238E27FC236}">
                  <a16:creationId xmlns:a16="http://schemas.microsoft.com/office/drawing/2014/main" id="{BF368DF8-47AD-8408-923F-AD7F345D07F0}"/>
                </a:ext>
              </a:extLst>
            </p:cNvPr>
            <p:cNvSpPr/>
            <p:nvPr/>
          </p:nvSpPr>
          <p:spPr>
            <a:xfrm>
              <a:off x="0" y="0"/>
              <a:ext cx="5110261" cy="468749"/>
            </a:xfrm>
            <a:custGeom>
              <a:avLst/>
              <a:gdLst/>
              <a:ahLst/>
              <a:cxnLst/>
              <a:rect l="l" t="t" r="r" b="b"/>
              <a:pathLst>
                <a:path w="5110261" h="468749">
                  <a:moveTo>
                    <a:pt x="0" y="0"/>
                  </a:moveTo>
                  <a:lnTo>
                    <a:pt x="5110261" y="0"/>
                  </a:lnTo>
                  <a:lnTo>
                    <a:pt x="5110261" y="468749"/>
                  </a:lnTo>
                  <a:lnTo>
                    <a:pt x="0" y="468749"/>
                  </a:lnTo>
                  <a:close/>
                </a:path>
              </a:pathLst>
            </a:custGeom>
            <a:solidFill>
              <a:srgbClr val="8DAFA8"/>
            </a:solidFill>
          </p:spPr>
        </p:sp>
        <p:sp>
          <p:nvSpPr>
            <p:cNvPr id="20" name="TextBox 20">
              <a:extLst>
                <a:ext uri="{FF2B5EF4-FFF2-40B4-BE49-F238E27FC236}">
                  <a16:creationId xmlns:a16="http://schemas.microsoft.com/office/drawing/2014/main" id="{748CC04A-8DE4-AF71-1E10-BA0C4064468B}"/>
                </a:ext>
              </a:extLst>
            </p:cNvPr>
            <p:cNvSpPr txBox="1"/>
            <p:nvPr/>
          </p:nvSpPr>
          <p:spPr>
            <a:xfrm>
              <a:off x="0" y="-47625"/>
              <a:ext cx="5110260" cy="516374"/>
            </a:xfrm>
            <a:prstGeom prst="rect">
              <a:avLst/>
            </a:prstGeom>
          </p:spPr>
          <p:txBody>
            <a:bodyPr lIns="50800" tIns="50800" rIns="50800" bIns="50800" rtlCol="0" anchor="ctr"/>
            <a:lstStyle/>
            <a:p>
              <a:pPr algn="ctr">
                <a:lnSpc>
                  <a:spcPts val="2659"/>
                </a:lnSpc>
              </a:pPr>
              <a:endParaRPr/>
            </a:p>
          </p:txBody>
        </p:sp>
      </p:grpSp>
      <p:sp>
        <p:nvSpPr>
          <p:cNvPr id="23" name="TextBox 23">
            <a:extLst>
              <a:ext uri="{FF2B5EF4-FFF2-40B4-BE49-F238E27FC236}">
                <a16:creationId xmlns:a16="http://schemas.microsoft.com/office/drawing/2014/main" id="{EBBACE36-5E50-2D80-C429-237F227D3563}"/>
              </a:ext>
            </a:extLst>
          </p:cNvPr>
          <p:cNvSpPr txBox="1"/>
          <p:nvPr/>
        </p:nvSpPr>
        <p:spPr>
          <a:xfrm>
            <a:off x="11827243" y="1505984"/>
            <a:ext cx="5253409" cy="912089"/>
          </a:xfrm>
          <a:prstGeom prst="rect">
            <a:avLst/>
          </a:prstGeom>
        </p:spPr>
        <p:txBody>
          <a:bodyPr lIns="50800" tIns="50800" rIns="50800" bIns="50800" rtlCol="0" anchor="ctr"/>
          <a:lstStyle/>
          <a:p>
            <a:pPr algn="r">
              <a:lnSpc>
                <a:spcPts val="2659"/>
              </a:lnSpc>
            </a:pPr>
            <a:endParaRPr/>
          </a:p>
        </p:txBody>
      </p:sp>
      <p:sp>
        <p:nvSpPr>
          <p:cNvPr id="24" name="Freeform 24">
            <a:extLst>
              <a:ext uri="{FF2B5EF4-FFF2-40B4-BE49-F238E27FC236}">
                <a16:creationId xmlns:a16="http://schemas.microsoft.com/office/drawing/2014/main" id="{F8D73ACA-81FC-E682-4477-88AB63AF176A}"/>
              </a:ext>
            </a:extLst>
          </p:cNvPr>
          <p:cNvSpPr/>
          <p:nvPr/>
        </p:nvSpPr>
        <p:spPr>
          <a:xfrm rot="1627902">
            <a:off x="6335051" y="2326537"/>
            <a:ext cx="2254244" cy="971374"/>
          </a:xfrm>
          <a:custGeom>
            <a:avLst/>
            <a:gdLst/>
            <a:ahLst/>
            <a:cxnLst/>
            <a:rect l="l" t="t" r="r" b="b"/>
            <a:pathLst>
              <a:path w="2254244" h="971374">
                <a:moveTo>
                  <a:pt x="0" y="0"/>
                </a:moveTo>
                <a:lnTo>
                  <a:pt x="2254244" y="0"/>
                </a:lnTo>
                <a:lnTo>
                  <a:pt x="2254244" y="971375"/>
                </a:lnTo>
                <a:lnTo>
                  <a:pt x="0" y="9713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5" name="Freeform 25">
            <a:extLst>
              <a:ext uri="{FF2B5EF4-FFF2-40B4-BE49-F238E27FC236}">
                <a16:creationId xmlns:a16="http://schemas.microsoft.com/office/drawing/2014/main" id="{1E6DD85C-6C0B-E226-DFCE-E451113DD4E0}"/>
              </a:ext>
            </a:extLst>
          </p:cNvPr>
          <p:cNvSpPr/>
          <p:nvPr/>
        </p:nvSpPr>
        <p:spPr>
          <a:xfrm rot="1627902" flipV="1">
            <a:off x="747928" y="7642829"/>
            <a:ext cx="2254244" cy="971374"/>
          </a:xfrm>
          <a:custGeom>
            <a:avLst/>
            <a:gdLst/>
            <a:ahLst/>
            <a:cxnLst/>
            <a:rect l="l" t="t" r="r" b="b"/>
            <a:pathLst>
              <a:path w="2254244" h="971374">
                <a:moveTo>
                  <a:pt x="0" y="971374"/>
                </a:moveTo>
                <a:lnTo>
                  <a:pt x="2254244" y="971374"/>
                </a:lnTo>
                <a:lnTo>
                  <a:pt x="2254244" y="0"/>
                </a:lnTo>
                <a:lnTo>
                  <a:pt x="0" y="0"/>
                </a:lnTo>
                <a:lnTo>
                  <a:pt x="0" y="971374"/>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6" name="Freeform 26">
            <a:extLst>
              <a:ext uri="{FF2B5EF4-FFF2-40B4-BE49-F238E27FC236}">
                <a16:creationId xmlns:a16="http://schemas.microsoft.com/office/drawing/2014/main" id="{0F4212B0-F134-509A-1123-F335D4F1E6BE}"/>
              </a:ext>
            </a:extLst>
          </p:cNvPr>
          <p:cNvSpPr/>
          <p:nvPr/>
        </p:nvSpPr>
        <p:spPr>
          <a:xfrm>
            <a:off x="824566" y="6133262"/>
            <a:ext cx="632667" cy="675664"/>
          </a:xfrm>
          <a:custGeom>
            <a:avLst/>
            <a:gdLst/>
            <a:ahLst/>
            <a:cxnLst/>
            <a:rect l="l" t="t" r="r" b="b"/>
            <a:pathLst>
              <a:path w="632667" h="675664">
                <a:moveTo>
                  <a:pt x="0" y="0"/>
                </a:moveTo>
                <a:lnTo>
                  <a:pt x="632667" y="0"/>
                </a:lnTo>
                <a:lnTo>
                  <a:pt x="632667" y="675664"/>
                </a:lnTo>
                <a:lnTo>
                  <a:pt x="0" y="67566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7" name="Freeform 24">
            <a:extLst>
              <a:ext uri="{FF2B5EF4-FFF2-40B4-BE49-F238E27FC236}">
                <a16:creationId xmlns:a16="http://schemas.microsoft.com/office/drawing/2014/main" id="{1B41AAFA-B699-CBA3-74BF-76B6C5267178}"/>
              </a:ext>
            </a:extLst>
          </p:cNvPr>
          <p:cNvSpPr/>
          <p:nvPr/>
        </p:nvSpPr>
        <p:spPr>
          <a:xfrm>
            <a:off x="1443627" y="2860851"/>
            <a:ext cx="6120306" cy="4965962"/>
          </a:xfrm>
          <a:custGeom>
            <a:avLst/>
            <a:gdLst/>
            <a:ahLst/>
            <a:cxnLst/>
            <a:rect l="l" t="t" r="r" b="b"/>
            <a:pathLst>
              <a:path w="5550107" h="4763001">
                <a:moveTo>
                  <a:pt x="0" y="0"/>
                </a:moveTo>
                <a:lnTo>
                  <a:pt x="5550106" y="0"/>
                </a:lnTo>
                <a:lnTo>
                  <a:pt x="5550106" y="4763001"/>
                </a:lnTo>
                <a:lnTo>
                  <a:pt x="0" y="476300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9" name="TextBox 28">
            <a:extLst>
              <a:ext uri="{FF2B5EF4-FFF2-40B4-BE49-F238E27FC236}">
                <a16:creationId xmlns:a16="http://schemas.microsoft.com/office/drawing/2014/main" id="{99340568-C37B-9FA0-4D64-C58DBB7AE87D}"/>
              </a:ext>
            </a:extLst>
          </p:cNvPr>
          <p:cNvSpPr txBox="1"/>
          <p:nvPr/>
        </p:nvSpPr>
        <p:spPr>
          <a:xfrm>
            <a:off x="9802975" y="3555619"/>
            <a:ext cx="9705529" cy="3166251"/>
          </a:xfrm>
          <a:prstGeom prst="rect">
            <a:avLst/>
          </a:prstGeom>
          <a:noFill/>
        </p:spPr>
        <p:txBody>
          <a:bodyPr wrap="square">
            <a:spAutoFit/>
          </a:bodyPr>
          <a:lstStyle/>
          <a:p>
            <a:pPr>
              <a:lnSpc>
                <a:spcPts val="3806"/>
              </a:lnSpc>
              <a:spcBef>
                <a:spcPct val="0"/>
              </a:spcBef>
            </a:pPr>
            <a:r>
              <a:rPr lang="en-US" sz="8000">
                <a:solidFill>
                  <a:srgbClr val="996633"/>
                </a:solidFill>
                <a:latin typeface="League Gothic" panose="020B0604020202020204" charset="0"/>
              </a:rPr>
              <a:t>Statistical Analysis Part 2: </a:t>
            </a:r>
          </a:p>
          <a:p>
            <a:pPr>
              <a:lnSpc>
                <a:spcPts val="3806"/>
              </a:lnSpc>
              <a:spcBef>
                <a:spcPct val="0"/>
              </a:spcBef>
            </a:pPr>
            <a:endParaRPr lang="en-US" sz="8000">
              <a:solidFill>
                <a:srgbClr val="996633"/>
              </a:solidFill>
              <a:latin typeface="League Gothic" panose="020B0604020202020204" charset="0"/>
            </a:endParaRPr>
          </a:p>
          <a:p>
            <a:pPr>
              <a:lnSpc>
                <a:spcPts val="3806"/>
              </a:lnSpc>
              <a:spcBef>
                <a:spcPct val="0"/>
              </a:spcBef>
            </a:pPr>
            <a:endParaRPr lang="en-US" sz="8000">
              <a:solidFill>
                <a:srgbClr val="996633"/>
              </a:solidFill>
              <a:latin typeface="League Gothic" panose="020B0604020202020204" charset="0"/>
            </a:endParaRPr>
          </a:p>
          <a:p>
            <a:pPr>
              <a:lnSpc>
                <a:spcPts val="3806"/>
              </a:lnSpc>
              <a:spcBef>
                <a:spcPct val="0"/>
              </a:spcBef>
            </a:pPr>
            <a:r>
              <a:rPr lang="en-US" sz="8000">
                <a:solidFill>
                  <a:srgbClr val="996633"/>
                </a:solidFill>
                <a:latin typeface="League Gothic" panose="020B0604020202020204" charset="0"/>
              </a:rPr>
              <a:t>Cross Tabulations,</a:t>
            </a:r>
          </a:p>
          <a:p>
            <a:pPr>
              <a:lnSpc>
                <a:spcPts val="3806"/>
              </a:lnSpc>
              <a:spcBef>
                <a:spcPct val="0"/>
              </a:spcBef>
            </a:pPr>
            <a:r>
              <a:rPr lang="en-US" sz="8000">
                <a:solidFill>
                  <a:srgbClr val="996633"/>
                </a:solidFill>
                <a:latin typeface="League Gothic" panose="020B0604020202020204" charset="0"/>
              </a:rPr>
              <a:t> </a:t>
            </a:r>
          </a:p>
          <a:p>
            <a:pPr>
              <a:lnSpc>
                <a:spcPts val="3806"/>
              </a:lnSpc>
              <a:spcBef>
                <a:spcPct val="0"/>
              </a:spcBef>
            </a:pPr>
            <a:r>
              <a:rPr lang="en-US" sz="8000">
                <a:solidFill>
                  <a:srgbClr val="996633"/>
                </a:solidFill>
                <a:latin typeface="League Gothic" panose="020B0604020202020204" charset="0"/>
              </a:rPr>
              <a:t>Chi-square Tests</a:t>
            </a:r>
          </a:p>
        </p:txBody>
      </p:sp>
    </p:spTree>
    <p:extLst>
      <p:ext uri="{BB962C8B-B14F-4D97-AF65-F5344CB8AC3E}">
        <p14:creationId xmlns:p14="http://schemas.microsoft.com/office/powerpoint/2010/main" val="149929858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7EF"/>
        </a:solidFill>
        <a:effectLst/>
      </p:bgPr>
    </p:bg>
    <p:spTree>
      <p:nvGrpSpPr>
        <p:cNvPr id="1" name="">
          <a:extLst>
            <a:ext uri="{FF2B5EF4-FFF2-40B4-BE49-F238E27FC236}">
              <a16:creationId xmlns:a16="http://schemas.microsoft.com/office/drawing/2014/main" id="{9D3356C0-D823-651B-8923-60061F1D81B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D1E8344-AEF8-5353-CE7F-EA7506CCC674}"/>
              </a:ext>
            </a:extLst>
          </p:cNvPr>
          <p:cNvGrpSpPr/>
          <p:nvPr/>
        </p:nvGrpSpPr>
        <p:grpSpPr>
          <a:xfrm>
            <a:off x="-557510" y="9297622"/>
            <a:ext cx="19403020" cy="2466909"/>
            <a:chOff x="0" y="0"/>
            <a:chExt cx="5110260" cy="649721"/>
          </a:xfrm>
        </p:grpSpPr>
        <p:sp>
          <p:nvSpPr>
            <p:cNvPr id="3" name="Freeform 3">
              <a:extLst>
                <a:ext uri="{FF2B5EF4-FFF2-40B4-BE49-F238E27FC236}">
                  <a16:creationId xmlns:a16="http://schemas.microsoft.com/office/drawing/2014/main" id="{9B707F8C-9BF3-52FA-21C1-093040605291}"/>
                </a:ext>
              </a:extLst>
            </p:cNvPr>
            <p:cNvSpPr/>
            <p:nvPr/>
          </p:nvSpPr>
          <p:spPr>
            <a:xfrm>
              <a:off x="0" y="0"/>
              <a:ext cx="5110261" cy="649721"/>
            </a:xfrm>
            <a:custGeom>
              <a:avLst/>
              <a:gdLst/>
              <a:ahLst/>
              <a:cxnLst/>
              <a:rect l="l" t="t" r="r" b="b"/>
              <a:pathLst>
                <a:path w="5110261" h="649721">
                  <a:moveTo>
                    <a:pt x="0" y="0"/>
                  </a:moveTo>
                  <a:lnTo>
                    <a:pt x="5110261" y="0"/>
                  </a:lnTo>
                  <a:lnTo>
                    <a:pt x="5110261" y="649721"/>
                  </a:lnTo>
                  <a:lnTo>
                    <a:pt x="0" y="649721"/>
                  </a:lnTo>
                  <a:close/>
                </a:path>
              </a:pathLst>
            </a:custGeom>
            <a:solidFill>
              <a:srgbClr val="8DAFA8"/>
            </a:solidFill>
          </p:spPr>
        </p:sp>
        <p:sp>
          <p:nvSpPr>
            <p:cNvPr id="4" name="TextBox 4">
              <a:extLst>
                <a:ext uri="{FF2B5EF4-FFF2-40B4-BE49-F238E27FC236}">
                  <a16:creationId xmlns:a16="http://schemas.microsoft.com/office/drawing/2014/main" id="{33780A2B-3F22-803F-0FDB-117897A50D3C}"/>
                </a:ext>
              </a:extLst>
            </p:cNvPr>
            <p:cNvSpPr txBox="1"/>
            <p:nvPr/>
          </p:nvSpPr>
          <p:spPr>
            <a:xfrm>
              <a:off x="0" y="-47625"/>
              <a:ext cx="5110260" cy="697346"/>
            </a:xfrm>
            <a:prstGeom prst="rect">
              <a:avLst/>
            </a:prstGeom>
          </p:spPr>
          <p:txBody>
            <a:bodyPr lIns="50800" tIns="50800" rIns="50800" bIns="50800" rtlCol="0" anchor="ctr"/>
            <a:lstStyle/>
            <a:p>
              <a:pPr algn="ctr">
                <a:lnSpc>
                  <a:spcPts val="2659"/>
                </a:lnSpc>
              </a:pPr>
              <a:endParaRPr/>
            </a:p>
          </p:txBody>
        </p:sp>
      </p:grpSp>
      <p:sp>
        <p:nvSpPr>
          <p:cNvPr id="12" name="TextBox 11">
            <a:extLst>
              <a:ext uri="{FF2B5EF4-FFF2-40B4-BE49-F238E27FC236}">
                <a16:creationId xmlns:a16="http://schemas.microsoft.com/office/drawing/2014/main" id="{82D3AEBA-18AE-5FEF-4E0B-7B76E027FF7E}"/>
              </a:ext>
            </a:extLst>
          </p:cNvPr>
          <p:cNvSpPr txBox="1"/>
          <p:nvPr/>
        </p:nvSpPr>
        <p:spPr>
          <a:xfrm>
            <a:off x="228600" y="461468"/>
            <a:ext cx="19403020" cy="1947649"/>
          </a:xfrm>
          <a:prstGeom prst="rect">
            <a:avLst/>
          </a:prstGeom>
          <a:noFill/>
        </p:spPr>
        <p:txBody>
          <a:bodyPr wrap="square">
            <a:spAutoFit/>
          </a:bodyPr>
          <a:lstStyle/>
          <a:p>
            <a:pPr>
              <a:lnSpc>
                <a:spcPct val="106000"/>
              </a:lnSpc>
              <a:spcAft>
                <a:spcPts val="800"/>
              </a:spcAft>
            </a:pPr>
            <a:r>
              <a:rPr lang="en-US" sz="2400" b="1">
                <a:effectLst/>
                <a:latin typeface="ITC Franklin Gothic LT" panose="020B0604020202020204" charset="0"/>
                <a:ea typeface="Calibri" panose="020F0502020204030204" pitchFamily="34" charset="0"/>
                <a:cs typeface="Times New Roman" panose="02020603050405020304" pitchFamily="18" charset="0"/>
              </a:rPr>
              <a:t>1) </a:t>
            </a:r>
            <a:r>
              <a:rPr lang="en-IN" sz="2400" b="1">
                <a:effectLst/>
                <a:latin typeface="ITC Franklin Gothic LT" panose="020B0604020202020204" charset="0"/>
                <a:ea typeface="Times New Roman" panose="02020603050405020304" pitchFamily="18" charset="0"/>
                <a:cs typeface="Times New Roman" panose="02020603050405020304" pitchFamily="18" charset="0"/>
              </a:rPr>
              <a:t>OCCUPATIONAL SECTOR * MY ORGANIZATION PROVIDES ME WITH HEALTH BENEFITS.  </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a:lnSpc>
                <a:spcPct val="106000"/>
              </a:lnSpc>
              <a:spcAft>
                <a:spcPts val="800"/>
              </a:spcAft>
            </a:pPr>
            <a:r>
              <a:rPr lang="en-US" sz="2400" b="1">
                <a:effectLst/>
                <a:latin typeface="ITC Franklin Gothic LT" panose="020B0604020202020204" charset="0"/>
                <a:ea typeface="Calibri" panose="020F0502020204030204" pitchFamily="34" charset="0"/>
                <a:cs typeface="Times New Roman" panose="02020603050405020304" pitchFamily="18" charset="0"/>
              </a:rPr>
              <a:t>Null Hypothesis(H</a:t>
            </a:r>
            <a:r>
              <a:rPr lang="en-US" sz="2400" b="1" baseline="-25000">
                <a:effectLst/>
                <a:latin typeface="ITC Franklin Gothic LT" panose="020B0604020202020204" charset="0"/>
                <a:ea typeface="Calibri" panose="020F0502020204030204" pitchFamily="34" charset="0"/>
                <a:cs typeface="Times New Roman" panose="02020603050405020304" pitchFamily="18" charset="0"/>
              </a:rPr>
              <a:t>0</a:t>
            </a:r>
            <a:r>
              <a:rPr lang="en-US" sz="2400" b="1">
                <a:effectLst/>
                <a:latin typeface="ITC Franklin Gothic LT" panose="020B0604020202020204" charset="0"/>
                <a:ea typeface="Calibri" panose="020F0502020204030204" pitchFamily="34" charset="0"/>
                <a:cs typeface="Times New Roman" panose="02020603050405020304" pitchFamily="18" charset="0"/>
              </a:rPr>
              <a:t>): </a:t>
            </a:r>
            <a:r>
              <a:rPr lang="en-US" sz="2400">
                <a:effectLst/>
                <a:latin typeface="ITC Franklin Gothic LT" panose="020B0604020202020204" charset="0"/>
                <a:ea typeface="Calibri" panose="020F0502020204030204" pitchFamily="34" charset="0"/>
                <a:cs typeface="Times New Roman" panose="02020603050405020304" pitchFamily="18" charset="0"/>
              </a:rPr>
              <a:t>There is no association between the occupational sector and health benefits provided by the organization.</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a:lnSpc>
                <a:spcPct val="106000"/>
              </a:lnSpc>
              <a:spcAft>
                <a:spcPts val="800"/>
              </a:spcAft>
            </a:pPr>
            <a:r>
              <a:rPr lang="en-US" sz="2400" b="1">
                <a:effectLst/>
                <a:latin typeface="ITC Franklin Gothic LT" panose="020B0604020202020204" charset="0"/>
                <a:ea typeface="Calibri" panose="020F0502020204030204" pitchFamily="34" charset="0"/>
                <a:cs typeface="Times New Roman" panose="02020603050405020304" pitchFamily="18" charset="0"/>
              </a:rPr>
              <a:t>Alternative Hypothesis(H</a:t>
            </a:r>
            <a:r>
              <a:rPr lang="en-US" sz="2400" b="1" baseline="-25000">
                <a:effectLst/>
                <a:latin typeface="ITC Franklin Gothic LT" panose="020B0604020202020204" charset="0"/>
                <a:ea typeface="Calibri" panose="020F0502020204030204" pitchFamily="34" charset="0"/>
                <a:cs typeface="Times New Roman" panose="02020603050405020304" pitchFamily="18" charset="0"/>
              </a:rPr>
              <a:t>1</a:t>
            </a:r>
            <a:r>
              <a:rPr lang="en-US" sz="2400" b="1">
                <a:effectLst/>
                <a:latin typeface="ITC Franklin Gothic LT" panose="020B0604020202020204" charset="0"/>
                <a:ea typeface="Calibri" panose="020F0502020204030204" pitchFamily="34" charset="0"/>
                <a:cs typeface="Times New Roman" panose="02020603050405020304" pitchFamily="18" charset="0"/>
              </a:rPr>
              <a:t>):</a:t>
            </a:r>
            <a:r>
              <a:rPr lang="en-US" sz="2400">
                <a:effectLst/>
                <a:latin typeface="ITC Franklin Gothic LT" panose="020B0604020202020204" charset="0"/>
                <a:ea typeface="Calibri" panose="020F0502020204030204" pitchFamily="34" charset="0"/>
                <a:cs typeface="Times New Roman" panose="02020603050405020304" pitchFamily="18" charset="0"/>
              </a:rPr>
              <a:t> There is an association between the occupational sector and health benefits provided by the organization.</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a:lnSpc>
                <a:spcPct val="106000"/>
              </a:lnSpc>
              <a:spcAft>
                <a:spcPts val="800"/>
              </a:spcAft>
            </a:pPr>
            <a:r>
              <a:rPr lang="en-IN" sz="2400" b="1">
                <a:effectLst/>
                <a:latin typeface="ITC Franklin Gothic LT" panose="020B0604020202020204" charset="0"/>
                <a:ea typeface="Times New Roman" panose="02020603050405020304" pitchFamily="18" charset="0"/>
                <a:cs typeface="Times New Roman" panose="02020603050405020304" pitchFamily="18" charset="0"/>
              </a:rPr>
              <a:t>  </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7BDD24A7-249F-5A34-3C1B-0620FD1A4B2D}"/>
                  </a:ext>
                </a:extLst>
              </p:cNvPr>
              <p:cNvSpPr txBox="1"/>
              <p:nvPr/>
            </p:nvSpPr>
            <p:spPr>
              <a:xfrm>
                <a:off x="609600" y="7183181"/>
                <a:ext cx="17526000" cy="2396041"/>
              </a:xfrm>
              <a:prstGeom prst="rect">
                <a:avLst/>
              </a:prstGeom>
              <a:noFill/>
            </p:spPr>
            <p:txBody>
              <a:bodyPr wrap="square">
                <a:spAutoFit/>
              </a:bodyPr>
              <a:lstStyle/>
              <a:p>
                <a:pPr>
                  <a:lnSpc>
                    <a:spcPct val="106000"/>
                  </a:lnSpc>
                  <a:spcAft>
                    <a:spcPts val="800"/>
                  </a:spcAft>
                </a:pPr>
                <a:r>
                  <a:rPr lang="en-US" sz="2400" b="1" u="sng">
                    <a:effectLst/>
                    <a:latin typeface="ITC Franklin Gothic LT" panose="020B0604020202020204" charset="0"/>
                    <a:ea typeface="Calibri" panose="020F0502020204030204" pitchFamily="34" charset="0"/>
                    <a:cs typeface="Times New Roman" panose="02020603050405020304" pitchFamily="18" charset="0"/>
                  </a:rPr>
                  <a:t>Conclusion:</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a:lnSpc>
                    <a:spcPct val="106000"/>
                  </a:lnSpc>
                  <a:spcAft>
                    <a:spcPts val="800"/>
                  </a:spcAft>
                </a:pPr>
                <a:r>
                  <a:rPr lang="en-US" sz="2400">
                    <a:effectLst/>
                    <a:latin typeface="ITC Franklin Gothic LT" panose="020B0604020202020204" charset="0"/>
                    <a:ea typeface="Calibri" panose="020F0502020204030204" pitchFamily="34" charset="0"/>
                    <a:cs typeface="Times New Roman" panose="02020603050405020304" pitchFamily="18" charset="0"/>
                  </a:rPr>
                  <a:t>Since the P value (0.027) &lt; significant value (0.05), we reject H</a:t>
                </a:r>
                <a:r>
                  <a:rPr lang="en-US" sz="2400" baseline="-25000">
                    <a:effectLst/>
                    <a:latin typeface="ITC Franklin Gothic LT" panose="020B0604020202020204" charset="0"/>
                    <a:ea typeface="Calibri" panose="020F0502020204030204" pitchFamily="34" charset="0"/>
                    <a:cs typeface="Times New Roman" panose="02020603050405020304" pitchFamily="18" charset="0"/>
                  </a:rPr>
                  <a:t>0 </a:t>
                </a:r>
                <a:r>
                  <a:rPr lang="en-US" sz="2400">
                    <a:effectLst/>
                    <a:latin typeface="ITC Franklin Gothic LT" panose="020B0604020202020204" charset="0"/>
                    <a:ea typeface="Calibri" panose="020F0502020204030204" pitchFamily="34" charset="0"/>
                    <a:cs typeface="Times New Roman" panose="02020603050405020304" pitchFamily="18" charset="0"/>
                  </a:rPr>
                  <a:t>and hence conclude that there is an association between the occupational sector and health benefits provided by the organization.</a:t>
                </a:r>
                <a:r>
                  <a:rPr lang="en-IN" sz="2400">
                    <a:latin typeface="ITC Franklin Gothic LT" panose="020B0604020202020204" charset="0"/>
                    <a:ea typeface="Calibri" panose="020F0502020204030204" pitchFamily="34" charset="0"/>
                    <a:cs typeface="Times New Roman" panose="02020603050405020304" pitchFamily="18" charset="0"/>
                  </a:rPr>
                  <a:t> </a:t>
                </a:r>
                <a:r>
                  <a:rPr lang="en-US" sz="3600">
                    <a:effectLst/>
                    <a:latin typeface="ITC Franklin Gothic LT" panose="020B0604020202020204" charset="0"/>
                    <a:ea typeface="Calibri" panose="020F0502020204030204" pitchFamily="34" charset="0"/>
                    <a:cs typeface="Times New Roman" panose="02020603050405020304" pitchFamily="18" charset="0"/>
                  </a:rPr>
                  <a:t>C = </a:t>
                </a:r>
                <a14:m>
                  <m:oMath xmlns:m="http://schemas.openxmlformats.org/officeDocument/2006/math">
                    <m:r>
                      <a:rPr lang="en-US" sz="3600" i="1" smtClean="0">
                        <a:effectLst/>
                        <a:latin typeface="Cambria Math" panose="02040503050406030204" pitchFamily="18" charset="0"/>
                        <a:ea typeface="Cambria Math" panose="02040503050406030204" pitchFamily="18" charset="0"/>
                        <a:cs typeface="Times New Roman" panose="02020603050405020304" pitchFamily="18" charset="0"/>
                      </a:rPr>
                      <m:t>√</m:t>
                    </m:r>
                    <m:f>
                      <m:fPr>
                        <m:ctrlPr>
                          <a:rPr lang="en-US" sz="3600" i="1" smtClean="0">
                            <a:effectLst/>
                            <a:latin typeface="Cambria Math" panose="02040503050406030204" pitchFamily="18" charset="0"/>
                            <a:ea typeface="Cambria Math" panose="02040503050406030204" pitchFamily="18" charset="0"/>
                            <a:cs typeface="Times New Roman" panose="02020603050405020304" pitchFamily="18" charset="0"/>
                          </a:rPr>
                        </m:ctrlPr>
                      </m:fPr>
                      <m:num>
                        <m:sSup>
                          <m:sSupPr>
                            <m:ctrlPr>
                              <a:rPr lang="en-IN" sz="2800" i="1">
                                <a:latin typeface="Cambria Math" panose="02040503050406030204" pitchFamily="18" charset="0"/>
                              </a:rPr>
                            </m:ctrlPr>
                          </m:sSupPr>
                          <m:e>
                            <m:r>
                              <a:rPr lang="en-US" sz="2800" i="1">
                                <a:latin typeface="Cambria Math" panose="02040503050406030204" pitchFamily="18" charset="0"/>
                              </a:rPr>
                              <m:t>𝜒</m:t>
                            </m:r>
                          </m:e>
                          <m:sup>
                            <m:r>
                              <a:rPr lang="en-US" sz="2800" i="1">
                                <a:latin typeface="Cambria Math" panose="02040503050406030204" pitchFamily="18" charset="0"/>
                              </a:rPr>
                              <m:t>2</m:t>
                            </m:r>
                          </m:sup>
                        </m:sSup>
                      </m:num>
                      <m:den>
                        <m:sSup>
                          <m:sSupPr>
                            <m:ctrlPr>
                              <a:rPr lang="en-IN" sz="2800" i="1">
                                <a:latin typeface="Cambria Math" panose="02040503050406030204" pitchFamily="18" charset="0"/>
                              </a:rPr>
                            </m:ctrlPr>
                          </m:sSupPr>
                          <m:e>
                            <m:r>
                              <a:rPr lang="en-US" sz="2800" i="1">
                                <a:latin typeface="Cambria Math" panose="02040503050406030204" pitchFamily="18" charset="0"/>
                              </a:rPr>
                              <m:t>𝜒</m:t>
                            </m:r>
                          </m:e>
                          <m:sup>
                            <m:r>
                              <a:rPr lang="en-US" sz="2800" i="1">
                                <a:latin typeface="Cambria Math" panose="02040503050406030204" pitchFamily="18" charset="0"/>
                              </a:rPr>
                              <m:t>2</m:t>
                            </m:r>
                          </m:sup>
                        </m:sSup>
                        <m:r>
                          <a:rPr lang="en-IN" sz="2800" b="0" i="1" smtClean="0">
                            <a:latin typeface="Cambria Math" panose="02040503050406030204" pitchFamily="18" charset="0"/>
                          </a:rPr>
                          <m:t>+</m:t>
                        </m:r>
                        <m:r>
                          <a:rPr lang="en-IN" sz="2800" b="0" i="1" smtClean="0">
                            <a:latin typeface="Cambria Math" panose="02040503050406030204" pitchFamily="18" charset="0"/>
                          </a:rPr>
                          <m:t>𝑁</m:t>
                        </m:r>
                      </m:den>
                    </m:f>
                  </m:oMath>
                </a14:m>
                <a:r>
                  <a:rPr lang="en-US" sz="3600">
                    <a:effectLst/>
                    <a:latin typeface="ITC Franklin Gothic LT" panose="020B0604020202020204" charset="0"/>
                    <a:ea typeface="Calibri" panose="020F0502020204030204" pitchFamily="34" charset="0"/>
                    <a:cs typeface="Times New Roman" panose="02020603050405020304" pitchFamily="18" charset="0"/>
                  </a:rPr>
                  <a:t> </a:t>
                </a:r>
                <a:r>
                  <a:rPr lang="en-US" sz="2400">
                    <a:effectLst/>
                    <a:latin typeface="ITC Franklin Gothic LT" panose="020B0604020202020204" charset="0"/>
                    <a:ea typeface="Calibri" panose="020F0502020204030204" pitchFamily="34" charset="0"/>
                    <a:cs typeface="Times New Roman" panose="02020603050405020304" pitchFamily="18" charset="0"/>
                  </a:rPr>
                  <a:t>= 0.2406, there is a 24.06% association.</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a:lnSpc>
                    <a:spcPct val="106000"/>
                  </a:lnSpc>
                  <a:spcAft>
                    <a:spcPts val="800"/>
                  </a:spcAft>
                </a:pPr>
                <a:endParaRPr lang="en-IN" sz="2400">
                  <a:effectLst/>
                  <a:latin typeface="ITC Franklin Gothic LT" panose="020B0604020202020204" charset="0"/>
                  <a:ea typeface="Calibri" panose="020F0502020204030204" pitchFamily="34" charset="0"/>
                  <a:cs typeface="Times New Roman" panose="02020603050405020304" pitchFamily="18" charset="0"/>
                </a:endParaRPr>
              </a:p>
            </p:txBody>
          </p:sp>
        </mc:Choice>
        <mc:Fallback xmlns="">
          <p:sp>
            <p:nvSpPr>
              <p:cNvPr id="11" name="TextBox 10">
                <a:extLst>
                  <a:ext uri="{FF2B5EF4-FFF2-40B4-BE49-F238E27FC236}">
                    <a16:creationId xmlns:a16="http://schemas.microsoft.com/office/drawing/2014/main" id="{7BDD24A7-249F-5A34-3C1B-0620FD1A4B2D}"/>
                  </a:ext>
                </a:extLst>
              </p:cNvPr>
              <p:cNvSpPr txBox="1">
                <a:spLocks noRot="1" noChangeAspect="1" noMove="1" noResize="1" noEditPoints="1" noAdjustHandles="1" noChangeArrowheads="1" noChangeShapeType="1" noTextEdit="1"/>
              </p:cNvSpPr>
              <p:nvPr/>
            </p:nvSpPr>
            <p:spPr>
              <a:xfrm>
                <a:off x="609600" y="7183181"/>
                <a:ext cx="17526000" cy="2396041"/>
              </a:xfrm>
              <a:prstGeom prst="rect">
                <a:avLst/>
              </a:prstGeom>
              <a:blipFill>
                <a:blip r:embed="rId2"/>
                <a:stretch>
                  <a:fillRect l="-522" t="-2036"/>
                </a:stretch>
              </a:blipFill>
            </p:spPr>
            <p:txBody>
              <a:bodyPr/>
              <a:lstStyle/>
              <a:p>
                <a:r>
                  <a:rPr lang="en-IN">
                    <a:noFill/>
                  </a:rPr>
                  <a:t> </a:t>
                </a:r>
              </a:p>
            </p:txBody>
          </p:sp>
        </mc:Fallback>
      </mc:AlternateContent>
      <p:pic>
        <p:nvPicPr>
          <p:cNvPr id="6" name="Picture 5">
            <a:extLst>
              <a:ext uri="{FF2B5EF4-FFF2-40B4-BE49-F238E27FC236}">
                <a16:creationId xmlns:a16="http://schemas.microsoft.com/office/drawing/2014/main" id="{531878E5-2920-D85B-9DEE-844B41A00F6F}"/>
              </a:ext>
            </a:extLst>
          </p:cNvPr>
          <p:cNvPicPr>
            <a:picLocks noChangeAspect="1"/>
          </p:cNvPicPr>
          <p:nvPr/>
        </p:nvPicPr>
        <p:blipFill>
          <a:blip r:embed="rId3"/>
          <a:stretch>
            <a:fillRect/>
          </a:stretch>
        </p:blipFill>
        <p:spPr>
          <a:xfrm>
            <a:off x="1012228" y="2101759"/>
            <a:ext cx="7925129" cy="4788099"/>
          </a:xfrm>
          <a:prstGeom prst="rect">
            <a:avLst/>
          </a:prstGeom>
        </p:spPr>
      </p:pic>
      <p:pic>
        <p:nvPicPr>
          <p:cNvPr id="8" name="Picture 7">
            <a:extLst>
              <a:ext uri="{FF2B5EF4-FFF2-40B4-BE49-F238E27FC236}">
                <a16:creationId xmlns:a16="http://schemas.microsoft.com/office/drawing/2014/main" id="{F18A535D-A2DC-CEC4-45B6-83848EC105F4}"/>
              </a:ext>
            </a:extLst>
          </p:cNvPr>
          <p:cNvPicPr>
            <a:picLocks noChangeAspect="1"/>
          </p:cNvPicPr>
          <p:nvPr/>
        </p:nvPicPr>
        <p:blipFill>
          <a:blip r:embed="rId4"/>
          <a:stretch>
            <a:fillRect/>
          </a:stretch>
        </p:blipFill>
        <p:spPr>
          <a:xfrm>
            <a:off x="9372600" y="2857509"/>
            <a:ext cx="8268467" cy="3276600"/>
          </a:xfrm>
          <a:prstGeom prst="rect">
            <a:avLst/>
          </a:prstGeom>
        </p:spPr>
      </p:pic>
    </p:spTree>
    <p:extLst>
      <p:ext uri="{BB962C8B-B14F-4D97-AF65-F5344CB8AC3E}">
        <p14:creationId xmlns:p14="http://schemas.microsoft.com/office/powerpoint/2010/main" val="1023296654"/>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7EF"/>
        </a:solidFill>
        <a:effectLst/>
      </p:bgPr>
    </p:bg>
    <p:spTree>
      <p:nvGrpSpPr>
        <p:cNvPr id="1" name="">
          <a:extLst>
            <a:ext uri="{FF2B5EF4-FFF2-40B4-BE49-F238E27FC236}">
              <a16:creationId xmlns:a16="http://schemas.microsoft.com/office/drawing/2014/main" id="{B1A8AFAC-1F71-EA73-8796-085714553D7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A98D983-3903-00FC-94D2-2A19295A1849}"/>
              </a:ext>
            </a:extLst>
          </p:cNvPr>
          <p:cNvGrpSpPr/>
          <p:nvPr/>
        </p:nvGrpSpPr>
        <p:grpSpPr>
          <a:xfrm>
            <a:off x="-557510" y="9297622"/>
            <a:ext cx="19403020" cy="2466909"/>
            <a:chOff x="0" y="0"/>
            <a:chExt cx="5110260" cy="649721"/>
          </a:xfrm>
        </p:grpSpPr>
        <p:sp>
          <p:nvSpPr>
            <p:cNvPr id="3" name="Freeform 3">
              <a:extLst>
                <a:ext uri="{FF2B5EF4-FFF2-40B4-BE49-F238E27FC236}">
                  <a16:creationId xmlns:a16="http://schemas.microsoft.com/office/drawing/2014/main" id="{4C02A209-5C98-9ED5-3C6B-58E0826ADA0B}"/>
                </a:ext>
              </a:extLst>
            </p:cNvPr>
            <p:cNvSpPr/>
            <p:nvPr/>
          </p:nvSpPr>
          <p:spPr>
            <a:xfrm>
              <a:off x="0" y="0"/>
              <a:ext cx="5110261" cy="649721"/>
            </a:xfrm>
            <a:custGeom>
              <a:avLst/>
              <a:gdLst/>
              <a:ahLst/>
              <a:cxnLst/>
              <a:rect l="l" t="t" r="r" b="b"/>
              <a:pathLst>
                <a:path w="5110261" h="649721">
                  <a:moveTo>
                    <a:pt x="0" y="0"/>
                  </a:moveTo>
                  <a:lnTo>
                    <a:pt x="5110261" y="0"/>
                  </a:lnTo>
                  <a:lnTo>
                    <a:pt x="5110261" y="649721"/>
                  </a:lnTo>
                  <a:lnTo>
                    <a:pt x="0" y="649721"/>
                  </a:lnTo>
                  <a:close/>
                </a:path>
              </a:pathLst>
            </a:custGeom>
            <a:solidFill>
              <a:srgbClr val="8DAFA8"/>
            </a:solidFill>
          </p:spPr>
        </p:sp>
        <p:sp>
          <p:nvSpPr>
            <p:cNvPr id="4" name="TextBox 4">
              <a:extLst>
                <a:ext uri="{FF2B5EF4-FFF2-40B4-BE49-F238E27FC236}">
                  <a16:creationId xmlns:a16="http://schemas.microsoft.com/office/drawing/2014/main" id="{747B5B86-04AC-F0A7-CF41-6E8E2C6F2A50}"/>
                </a:ext>
              </a:extLst>
            </p:cNvPr>
            <p:cNvSpPr txBox="1"/>
            <p:nvPr/>
          </p:nvSpPr>
          <p:spPr>
            <a:xfrm>
              <a:off x="0" y="-47625"/>
              <a:ext cx="5110260" cy="697346"/>
            </a:xfrm>
            <a:prstGeom prst="rect">
              <a:avLst/>
            </a:prstGeom>
          </p:spPr>
          <p:txBody>
            <a:bodyPr lIns="50800" tIns="50800" rIns="50800" bIns="50800" rtlCol="0" anchor="ctr"/>
            <a:lstStyle/>
            <a:p>
              <a:pPr algn="ctr">
                <a:lnSpc>
                  <a:spcPts val="2659"/>
                </a:lnSpc>
              </a:pPr>
              <a:endParaRPr/>
            </a:p>
          </p:txBody>
        </p:sp>
      </p:grpSp>
      <p:sp>
        <p:nvSpPr>
          <p:cNvPr id="12" name="TextBox 11">
            <a:extLst>
              <a:ext uri="{FF2B5EF4-FFF2-40B4-BE49-F238E27FC236}">
                <a16:creationId xmlns:a16="http://schemas.microsoft.com/office/drawing/2014/main" id="{DA896142-F412-B1F8-4603-9EC290429990}"/>
              </a:ext>
            </a:extLst>
          </p:cNvPr>
          <p:cNvSpPr txBox="1"/>
          <p:nvPr/>
        </p:nvSpPr>
        <p:spPr>
          <a:xfrm>
            <a:off x="1371600" y="608559"/>
            <a:ext cx="15087600" cy="1947649"/>
          </a:xfrm>
          <a:prstGeom prst="rect">
            <a:avLst/>
          </a:prstGeom>
          <a:noFill/>
        </p:spPr>
        <p:txBody>
          <a:bodyPr wrap="square">
            <a:spAutoFit/>
          </a:bodyPr>
          <a:lstStyle/>
          <a:p>
            <a:pPr>
              <a:lnSpc>
                <a:spcPct val="106000"/>
              </a:lnSpc>
              <a:spcAft>
                <a:spcPts val="800"/>
              </a:spcAft>
            </a:pPr>
            <a:r>
              <a:rPr lang="en-US" sz="2400" b="1">
                <a:effectLst/>
                <a:latin typeface="ITC Franklin Gothic LT" panose="020B0604020202020204" charset="0"/>
                <a:ea typeface="Calibri" panose="020F0502020204030204" pitchFamily="34" charset="0"/>
                <a:cs typeface="Times New Roman" panose="02020603050405020304" pitchFamily="18" charset="0"/>
              </a:rPr>
              <a:t>2) </a:t>
            </a:r>
            <a:r>
              <a:rPr lang="en-IN" sz="2400" b="1">
                <a:effectLst/>
                <a:latin typeface="ITC Franklin Gothic LT" panose="020B0604020202020204" charset="0"/>
                <a:ea typeface="Times New Roman" panose="02020603050405020304" pitchFamily="18" charset="0"/>
                <a:cs typeface="Times New Roman" panose="02020603050405020304" pitchFamily="18" charset="0"/>
              </a:rPr>
              <a:t>ANNUAL INCOME * HOW SATISFIED WOULD YOU SAY YOU ARE WITH YOUR JOB?</a:t>
            </a:r>
          </a:p>
          <a:p>
            <a:pPr>
              <a:lnSpc>
                <a:spcPct val="106000"/>
              </a:lnSpc>
              <a:spcAft>
                <a:spcPts val="800"/>
              </a:spcAft>
            </a:pPr>
            <a:r>
              <a:rPr lang="en-US" sz="2400" b="1">
                <a:effectLst/>
                <a:latin typeface="ITC Franklin Gothic LT" panose="020B0604020202020204" charset="0"/>
                <a:ea typeface="Calibri" panose="020F0502020204030204" pitchFamily="34" charset="0"/>
                <a:cs typeface="Times New Roman" panose="02020603050405020304" pitchFamily="18" charset="0"/>
              </a:rPr>
              <a:t>Null Hypothesis(H</a:t>
            </a:r>
            <a:r>
              <a:rPr lang="en-US" sz="2400" b="1" baseline="-25000">
                <a:effectLst/>
                <a:latin typeface="ITC Franklin Gothic LT" panose="020B0604020202020204" charset="0"/>
                <a:ea typeface="Calibri" panose="020F0502020204030204" pitchFamily="34" charset="0"/>
                <a:cs typeface="Times New Roman" panose="02020603050405020304" pitchFamily="18" charset="0"/>
              </a:rPr>
              <a:t>0</a:t>
            </a:r>
            <a:r>
              <a:rPr lang="en-US" sz="2400" b="1">
                <a:effectLst/>
                <a:latin typeface="ITC Franklin Gothic LT" panose="020B0604020202020204" charset="0"/>
                <a:ea typeface="Calibri" panose="020F0502020204030204" pitchFamily="34" charset="0"/>
                <a:cs typeface="Times New Roman" panose="02020603050405020304" pitchFamily="18" charset="0"/>
              </a:rPr>
              <a:t>): </a:t>
            </a:r>
            <a:r>
              <a:rPr lang="en-US" sz="2400">
                <a:effectLst/>
                <a:latin typeface="ITC Franklin Gothic LT" panose="020B0604020202020204" charset="0"/>
                <a:ea typeface="Calibri" panose="020F0502020204030204" pitchFamily="34" charset="0"/>
                <a:cs typeface="Times New Roman" panose="02020603050405020304" pitchFamily="18" charset="0"/>
              </a:rPr>
              <a:t>There is no association between annual income and satisfaction with the job.</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a:lnSpc>
                <a:spcPct val="106000"/>
              </a:lnSpc>
              <a:spcAft>
                <a:spcPts val="800"/>
              </a:spcAft>
            </a:pPr>
            <a:r>
              <a:rPr lang="en-US" sz="2400" b="1">
                <a:effectLst/>
                <a:latin typeface="ITC Franklin Gothic LT" panose="020B0604020202020204" charset="0"/>
                <a:ea typeface="Calibri" panose="020F0502020204030204" pitchFamily="34" charset="0"/>
                <a:cs typeface="Times New Roman" panose="02020603050405020304" pitchFamily="18" charset="0"/>
              </a:rPr>
              <a:t>Alternative Hypothesis(H</a:t>
            </a:r>
            <a:r>
              <a:rPr lang="en-US" sz="2400" b="1" baseline="-25000">
                <a:effectLst/>
                <a:latin typeface="ITC Franklin Gothic LT" panose="020B0604020202020204" charset="0"/>
                <a:ea typeface="Calibri" panose="020F0502020204030204" pitchFamily="34" charset="0"/>
                <a:cs typeface="Times New Roman" panose="02020603050405020304" pitchFamily="18" charset="0"/>
              </a:rPr>
              <a:t>1</a:t>
            </a:r>
            <a:r>
              <a:rPr lang="en-US" sz="2400" b="1">
                <a:effectLst/>
                <a:latin typeface="ITC Franklin Gothic LT" panose="020B0604020202020204" charset="0"/>
                <a:ea typeface="Calibri" panose="020F0502020204030204" pitchFamily="34" charset="0"/>
                <a:cs typeface="Times New Roman" panose="02020603050405020304" pitchFamily="18" charset="0"/>
              </a:rPr>
              <a:t>):</a:t>
            </a:r>
            <a:r>
              <a:rPr lang="en-US" sz="2400">
                <a:effectLst/>
                <a:latin typeface="ITC Franklin Gothic LT" panose="020B0604020202020204" charset="0"/>
                <a:ea typeface="Calibri" panose="020F0502020204030204" pitchFamily="34" charset="0"/>
                <a:cs typeface="Times New Roman" panose="02020603050405020304" pitchFamily="18" charset="0"/>
              </a:rPr>
              <a:t> There is an association between annual income and satisfaction with the job.</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a:lnSpc>
                <a:spcPct val="106000"/>
              </a:lnSpc>
              <a:spcAft>
                <a:spcPts val="800"/>
              </a:spcAft>
            </a:pPr>
            <a:r>
              <a:rPr lang="en-IN" sz="2400" b="1">
                <a:effectLst/>
                <a:latin typeface="ITC Franklin Gothic LT" panose="020B0604020202020204" charset="0"/>
                <a:ea typeface="Times New Roman" panose="02020603050405020304" pitchFamily="18" charset="0"/>
                <a:cs typeface="Times New Roman" panose="02020603050405020304" pitchFamily="18" charset="0"/>
              </a:rPr>
              <a:t>  </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24EADA9D-0271-9694-1F22-89B46633069F}"/>
              </a:ext>
            </a:extLst>
          </p:cNvPr>
          <p:cNvSpPr txBox="1"/>
          <p:nvPr/>
        </p:nvSpPr>
        <p:spPr>
          <a:xfrm>
            <a:off x="1752600" y="7470886"/>
            <a:ext cx="13868400" cy="1350947"/>
          </a:xfrm>
          <a:prstGeom prst="rect">
            <a:avLst/>
          </a:prstGeom>
          <a:noFill/>
        </p:spPr>
        <p:txBody>
          <a:bodyPr wrap="square">
            <a:spAutoFit/>
          </a:bodyPr>
          <a:lstStyle/>
          <a:p>
            <a:pPr>
              <a:lnSpc>
                <a:spcPct val="106000"/>
              </a:lnSpc>
              <a:spcAft>
                <a:spcPts val="800"/>
              </a:spcAft>
            </a:pPr>
            <a:r>
              <a:rPr lang="en-IN" sz="2400" b="1" u="sng">
                <a:effectLst/>
                <a:latin typeface="ITC Franklin Gothic LT" panose="020B0604020202020204" charset="0"/>
                <a:ea typeface="Times New Roman" panose="02020603050405020304" pitchFamily="18" charset="0"/>
                <a:cs typeface="Times New Roman" panose="02020603050405020304" pitchFamily="18" charset="0"/>
              </a:rPr>
              <a:t>Conclusion:</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a:lnSpc>
                <a:spcPct val="106000"/>
              </a:lnSpc>
              <a:spcAft>
                <a:spcPts val="800"/>
              </a:spcAft>
            </a:pPr>
            <a:r>
              <a:rPr lang="en-US" sz="2400">
                <a:effectLst/>
                <a:latin typeface="ITC Franklin Gothic LT" panose="020B0604020202020204" charset="0"/>
                <a:ea typeface="Calibri" panose="020F0502020204030204" pitchFamily="34" charset="0"/>
                <a:cs typeface="Times New Roman" panose="02020603050405020304" pitchFamily="18" charset="0"/>
              </a:rPr>
              <a:t>Since the P value (0.054) &gt; significant value (0.05), we accept H</a:t>
            </a:r>
            <a:r>
              <a:rPr lang="en-US" sz="2400" baseline="-25000">
                <a:effectLst/>
                <a:latin typeface="ITC Franklin Gothic LT" panose="020B0604020202020204" charset="0"/>
                <a:ea typeface="Calibri" panose="020F0502020204030204" pitchFamily="34" charset="0"/>
                <a:cs typeface="Times New Roman" panose="02020603050405020304" pitchFamily="18" charset="0"/>
              </a:rPr>
              <a:t>0 </a:t>
            </a:r>
            <a:r>
              <a:rPr lang="en-US" sz="2400">
                <a:effectLst/>
                <a:latin typeface="ITC Franklin Gothic LT" panose="020B0604020202020204" charset="0"/>
                <a:ea typeface="Calibri" panose="020F0502020204030204" pitchFamily="34" charset="0"/>
                <a:cs typeface="Times New Roman" panose="02020603050405020304" pitchFamily="18" charset="0"/>
              </a:rPr>
              <a:t>and hence conclude that there is no association between annual income and satisfaction with the job.</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p:txBody>
      </p:sp>
      <p:pic>
        <p:nvPicPr>
          <p:cNvPr id="14" name="Picture 13">
            <a:extLst>
              <a:ext uri="{FF2B5EF4-FFF2-40B4-BE49-F238E27FC236}">
                <a16:creationId xmlns:a16="http://schemas.microsoft.com/office/drawing/2014/main" id="{7A4AEE1E-ED47-CDE8-5ECE-0432C8AD5B6F}"/>
              </a:ext>
            </a:extLst>
          </p:cNvPr>
          <p:cNvPicPr>
            <a:picLocks noChangeAspect="1"/>
          </p:cNvPicPr>
          <p:nvPr/>
        </p:nvPicPr>
        <p:blipFill>
          <a:blip r:embed="rId2"/>
          <a:stretch>
            <a:fillRect/>
          </a:stretch>
        </p:blipFill>
        <p:spPr>
          <a:xfrm>
            <a:off x="1524000" y="2385444"/>
            <a:ext cx="7924800" cy="4790480"/>
          </a:xfrm>
          <a:prstGeom prst="rect">
            <a:avLst/>
          </a:prstGeom>
        </p:spPr>
      </p:pic>
      <p:pic>
        <p:nvPicPr>
          <p:cNvPr id="16" name="Picture 15">
            <a:extLst>
              <a:ext uri="{FF2B5EF4-FFF2-40B4-BE49-F238E27FC236}">
                <a16:creationId xmlns:a16="http://schemas.microsoft.com/office/drawing/2014/main" id="{867A0AFD-3D1F-CE87-5641-C7DC55F704D6}"/>
              </a:ext>
            </a:extLst>
          </p:cNvPr>
          <p:cNvPicPr>
            <a:picLocks noChangeAspect="1"/>
          </p:cNvPicPr>
          <p:nvPr/>
        </p:nvPicPr>
        <p:blipFill>
          <a:blip r:embed="rId3"/>
          <a:stretch>
            <a:fillRect/>
          </a:stretch>
        </p:blipFill>
        <p:spPr>
          <a:xfrm>
            <a:off x="9982200" y="2556208"/>
            <a:ext cx="7147705" cy="4015450"/>
          </a:xfrm>
          <a:prstGeom prst="rect">
            <a:avLst/>
          </a:prstGeom>
        </p:spPr>
      </p:pic>
    </p:spTree>
    <p:extLst>
      <p:ext uri="{BB962C8B-B14F-4D97-AF65-F5344CB8AC3E}">
        <p14:creationId xmlns:p14="http://schemas.microsoft.com/office/powerpoint/2010/main" val="1564609079"/>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7EF"/>
        </a:solidFill>
        <a:effectLst/>
      </p:bgPr>
    </p:bg>
    <p:spTree>
      <p:nvGrpSpPr>
        <p:cNvPr id="1" name="">
          <a:extLst>
            <a:ext uri="{FF2B5EF4-FFF2-40B4-BE49-F238E27FC236}">
              <a16:creationId xmlns:a16="http://schemas.microsoft.com/office/drawing/2014/main" id="{701913C3-66A5-2E9B-26AE-0A8827E7A9A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C9DDD94-B606-9995-AE33-A5DAA84496EE}"/>
              </a:ext>
            </a:extLst>
          </p:cNvPr>
          <p:cNvGrpSpPr/>
          <p:nvPr/>
        </p:nvGrpSpPr>
        <p:grpSpPr>
          <a:xfrm>
            <a:off x="-557510" y="9297622"/>
            <a:ext cx="19403020" cy="2466909"/>
            <a:chOff x="0" y="0"/>
            <a:chExt cx="5110260" cy="649721"/>
          </a:xfrm>
        </p:grpSpPr>
        <p:sp>
          <p:nvSpPr>
            <p:cNvPr id="3" name="Freeform 3">
              <a:extLst>
                <a:ext uri="{FF2B5EF4-FFF2-40B4-BE49-F238E27FC236}">
                  <a16:creationId xmlns:a16="http://schemas.microsoft.com/office/drawing/2014/main" id="{95E09971-859E-917B-0D9E-C92D6440273E}"/>
                </a:ext>
              </a:extLst>
            </p:cNvPr>
            <p:cNvSpPr/>
            <p:nvPr/>
          </p:nvSpPr>
          <p:spPr>
            <a:xfrm>
              <a:off x="0" y="0"/>
              <a:ext cx="5110261" cy="649721"/>
            </a:xfrm>
            <a:custGeom>
              <a:avLst/>
              <a:gdLst/>
              <a:ahLst/>
              <a:cxnLst/>
              <a:rect l="l" t="t" r="r" b="b"/>
              <a:pathLst>
                <a:path w="5110261" h="649721">
                  <a:moveTo>
                    <a:pt x="0" y="0"/>
                  </a:moveTo>
                  <a:lnTo>
                    <a:pt x="5110261" y="0"/>
                  </a:lnTo>
                  <a:lnTo>
                    <a:pt x="5110261" y="649721"/>
                  </a:lnTo>
                  <a:lnTo>
                    <a:pt x="0" y="649721"/>
                  </a:lnTo>
                  <a:close/>
                </a:path>
              </a:pathLst>
            </a:custGeom>
            <a:solidFill>
              <a:srgbClr val="8DAFA8"/>
            </a:solidFill>
          </p:spPr>
        </p:sp>
        <p:sp>
          <p:nvSpPr>
            <p:cNvPr id="4" name="TextBox 4">
              <a:extLst>
                <a:ext uri="{FF2B5EF4-FFF2-40B4-BE49-F238E27FC236}">
                  <a16:creationId xmlns:a16="http://schemas.microsoft.com/office/drawing/2014/main" id="{05F44A99-C66B-A523-56EB-375221D9D0A5}"/>
                </a:ext>
              </a:extLst>
            </p:cNvPr>
            <p:cNvSpPr txBox="1"/>
            <p:nvPr/>
          </p:nvSpPr>
          <p:spPr>
            <a:xfrm>
              <a:off x="0" y="-47625"/>
              <a:ext cx="5110260" cy="697346"/>
            </a:xfrm>
            <a:prstGeom prst="rect">
              <a:avLst/>
            </a:prstGeom>
          </p:spPr>
          <p:txBody>
            <a:bodyPr lIns="50800" tIns="50800" rIns="50800" bIns="50800" rtlCol="0" anchor="ctr"/>
            <a:lstStyle/>
            <a:p>
              <a:pPr algn="ctr">
                <a:lnSpc>
                  <a:spcPts val="2659"/>
                </a:lnSpc>
              </a:pPr>
              <a:endParaRPr/>
            </a:p>
          </p:txBody>
        </p:sp>
      </p:grpSp>
      <p:sp>
        <p:nvSpPr>
          <p:cNvPr id="12" name="TextBox 11">
            <a:extLst>
              <a:ext uri="{FF2B5EF4-FFF2-40B4-BE49-F238E27FC236}">
                <a16:creationId xmlns:a16="http://schemas.microsoft.com/office/drawing/2014/main" id="{0863FFE6-575A-EABC-E7DA-03A83DA0ABD6}"/>
              </a:ext>
            </a:extLst>
          </p:cNvPr>
          <p:cNvSpPr txBox="1"/>
          <p:nvPr/>
        </p:nvSpPr>
        <p:spPr>
          <a:xfrm>
            <a:off x="1028700" y="505435"/>
            <a:ext cx="16230600" cy="3122201"/>
          </a:xfrm>
          <a:prstGeom prst="rect">
            <a:avLst/>
          </a:prstGeom>
          <a:noFill/>
        </p:spPr>
        <p:txBody>
          <a:bodyPr wrap="square">
            <a:spAutoFit/>
          </a:bodyPr>
          <a:lstStyle/>
          <a:p>
            <a:pPr>
              <a:lnSpc>
                <a:spcPct val="106000"/>
              </a:lnSpc>
              <a:spcAft>
                <a:spcPts val="800"/>
              </a:spcAft>
            </a:pPr>
            <a:r>
              <a:rPr lang="en-US" sz="2400" b="1">
                <a:latin typeface="ITC Franklin Gothic LT" panose="020B0604020202020204" charset="0"/>
                <a:ea typeface="Calibri" panose="020F0502020204030204" pitchFamily="34" charset="0"/>
                <a:cs typeface="Times New Roman" panose="02020603050405020304" pitchFamily="18" charset="0"/>
              </a:rPr>
              <a:t>3</a:t>
            </a:r>
            <a:r>
              <a:rPr lang="en-US" sz="2400" b="1">
                <a:effectLst/>
                <a:latin typeface="ITC Franklin Gothic LT" panose="020B0604020202020204" charset="0"/>
                <a:ea typeface="Calibri" panose="020F0502020204030204" pitchFamily="34" charset="0"/>
                <a:cs typeface="Times New Roman" panose="02020603050405020304" pitchFamily="18" charset="0"/>
              </a:rPr>
              <a:t>) </a:t>
            </a:r>
            <a:r>
              <a:rPr lang="en-IN" sz="2400" b="1">
                <a:effectLst/>
                <a:latin typeface="ITC Franklin Gothic LT" panose="020B0604020202020204" charset="0"/>
                <a:ea typeface="Times New Roman" panose="02020603050405020304" pitchFamily="18" charset="0"/>
                <a:cs typeface="Times New Roman" panose="02020603050405020304" pitchFamily="18" charset="0"/>
              </a:rPr>
              <a:t>NUMBER OF WORKING HOURS * AFTER AN AVERAGE WORK DAY, HOW MANY HOURS DO YOU HAVE TO RELAX OR PURSUE ACTIVITIES THAT YOU ENJOY? </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a:lnSpc>
                <a:spcPct val="106000"/>
              </a:lnSpc>
              <a:spcAft>
                <a:spcPts val="800"/>
              </a:spcAft>
            </a:pPr>
            <a:r>
              <a:rPr lang="en-US" sz="2400" b="1">
                <a:effectLst/>
                <a:latin typeface="ITC Franklin Gothic LT" panose="020B0604020202020204" charset="0"/>
                <a:ea typeface="Calibri" panose="020F0502020204030204" pitchFamily="34" charset="0"/>
                <a:cs typeface="Times New Roman" panose="02020603050405020304" pitchFamily="18" charset="0"/>
              </a:rPr>
              <a:t>Null Hypothesis(H</a:t>
            </a:r>
            <a:r>
              <a:rPr lang="en-US" sz="2400" b="1" baseline="-25000">
                <a:effectLst/>
                <a:latin typeface="ITC Franklin Gothic LT" panose="020B0604020202020204" charset="0"/>
                <a:ea typeface="Calibri" panose="020F0502020204030204" pitchFamily="34" charset="0"/>
                <a:cs typeface="Times New Roman" panose="02020603050405020304" pitchFamily="18" charset="0"/>
              </a:rPr>
              <a:t>0</a:t>
            </a:r>
            <a:r>
              <a:rPr lang="en-US" sz="2400" b="1">
                <a:effectLst/>
                <a:latin typeface="ITC Franklin Gothic LT" panose="020B0604020202020204" charset="0"/>
                <a:ea typeface="Calibri" panose="020F0502020204030204" pitchFamily="34" charset="0"/>
                <a:cs typeface="Times New Roman" panose="02020603050405020304" pitchFamily="18" charset="0"/>
              </a:rPr>
              <a:t>): </a:t>
            </a:r>
            <a:r>
              <a:rPr lang="en-US" sz="2400">
                <a:effectLst/>
                <a:latin typeface="ITC Franklin Gothic LT" panose="020B0604020202020204" charset="0"/>
                <a:ea typeface="Calibri" panose="020F0502020204030204" pitchFamily="34" charset="0"/>
                <a:cs typeface="Times New Roman" panose="02020603050405020304" pitchFamily="18" charset="0"/>
              </a:rPr>
              <a:t>There is no association between the number of working hours and the time you have to relax or pursue activities that you enjoy.</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a:lnSpc>
                <a:spcPct val="106000"/>
              </a:lnSpc>
              <a:spcAft>
                <a:spcPts val="800"/>
              </a:spcAft>
            </a:pPr>
            <a:r>
              <a:rPr lang="en-US" sz="2400" b="1">
                <a:effectLst/>
                <a:latin typeface="ITC Franklin Gothic LT" panose="020B0604020202020204" charset="0"/>
                <a:ea typeface="Calibri" panose="020F0502020204030204" pitchFamily="34" charset="0"/>
                <a:cs typeface="Times New Roman" panose="02020603050405020304" pitchFamily="18" charset="0"/>
              </a:rPr>
              <a:t>Alternative Hypothesis(H</a:t>
            </a:r>
            <a:r>
              <a:rPr lang="en-US" sz="2400" b="1" baseline="-25000">
                <a:effectLst/>
                <a:latin typeface="ITC Franklin Gothic LT" panose="020B0604020202020204" charset="0"/>
                <a:ea typeface="Calibri" panose="020F0502020204030204" pitchFamily="34" charset="0"/>
                <a:cs typeface="Times New Roman" panose="02020603050405020304" pitchFamily="18" charset="0"/>
              </a:rPr>
              <a:t>1</a:t>
            </a:r>
            <a:r>
              <a:rPr lang="en-US" sz="2400" b="1">
                <a:effectLst/>
                <a:latin typeface="ITC Franklin Gothic LT" panose="020B0604020202020204" charset="0"/>
                <a:ea typeface="Calibri" panose="020F0502020204030204" pitchFamily="34" charset="0"/>
                <a:cs typeface="Times New Roman" panose="02020603050405020304" pitchFamily="18" charset="0"/>
              </a:rPr>
              <a:t>):</a:t>
            </a:r>
            <a:r>
              <a:rPr lang="en-US" sz="2400">
                <a:effectLst/>
                <a:latin typeface="ITC Franklin Gothic LT" panose="020B0604020202020204" charset="0"/>
                <a:ea typeface="Calibri" panose="020F0502020204030204" pitchFamily="34" charset="0"/>
                <a:cs typeface="Times New Roman" panose="02020603050405020304" pitchFamily="18" charset="0"/>
              </a:rPr>
              <a:t> There is an association between the number of working hours and the time you have to relax or pursue activities that you enjoy.</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a:lnSpc>
                <a:spcPct val="106000"/>
              </a:lnSpc>
              <a:spcAft>
                <a:spcPts val="800"/>
              </a:spcAft>
            </a:pPr>
            <a:endParaRPr lang="en-IN" sz="2400">
              <a:effectLst/>
              <a:latin typeface="ITC Franklin Gothic LT" panose="020B0604020202020204" charset="0"/>
              <a:ea typeface="Calibri" panose="020F050202020403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1F571AFF-0AD4-9F45-CCD8-5940E28C61F9}"/>
              </a:ext>
            </a:extLst>
          </p:cNvPr>
          <p:cNvSpPr txBox="1"/>
          <p:nvPr/>
        </p:nvSpPr>
        <p:spPr>
          <a:xfrm>
            <a:off x="1981200" y="8039100"/>
            <a:ext cx="14859000" cy="1742465"/>
          </a:xfrm>
          <a:prstGeom prst="rect">
            <a:avLst/>
          </a:prstGeom>
          <a:noFill/>
        </p:spPr>
        <p:txBody>
          <a:bodyPr wrap="square">
            <a:spAutoFit/>
          </a:bodyPr>
          <a:lstStyle/>
          <a:p>
            <a:pPr>
              <a:lnSpc>
                <a:spcPct val="106000"/>
              </a:lnSpc>
              <a:spcAft>
                <a:spcPts val="800"/>
              </a:spcAft>
            </a:pPr>
            <a:r>
              <a:rPr lang="en-US" sz="2400" b="1" u="sng">
                <a:effectLst/>
                <a:latin typeface="ITC Franklin Gothic LT" panose="020B0604020202020204" charset="0"/>
                <a:ea typeface="Calibri" panose="020F0502020204030204" pitchFamily="34" charset="0"/>
                <a:cs typeface="Times New Roman" panose="02020603050405020304" pitchFamily="18" charset="0"/>
              </a:rPr>
              <a:t>Conclusion: </a:t>
            </a:r>
            <a:r>
              <a:rPr lang="en-US" sz="2400">
                <a:effectLst/>
                <a:latin typeface="ITC Franklin Gothic LT" panose="020B0604020202020204" charset="0"/>
                <a:ea typeface="Calibri" panose="020F0502020204030204" pitchFamily="34" charset="0"/>
                <a:cs typeface="Times New Roman" panose="02020603050405020304" pitchFamily="18" charset="0"/>
              </a:rPr>
              <a:t>Since the P value (0.130) &gt; significant value (0.05), we accept H</a:t>
            </a:r>
            <a:r>
              <a:rPr lang="en-US" sz="2400" baseline="-25000">
                <a:effectLst/>
                <a:latin typeface="ITC Franklin Gothic LT" panose="020B0604020202020204" charset="0"/>
                <a:ea typeface="Calibri" panose="020F0502020204030204" pitchFamily="34" charset="0"/>
                <a:cs typeface="Times New Roman" panose="02020603050405020304" pitchFamily="18" charset="0"/>
              </a:rPr>
              <a:t>0  </a:t>
            </a:r>
            <a:r>
              <a:rPr lang="en-US" sz="2400">
                <a:effectLst/>
                <a:latin typeface="ITC Franklin Gothic LT" panose="020B0604020202020204" charset="0"/>
                <a:ea typeface="Calibri" panose="020F0502020204030204" pitchFamily="34" charset="0"/>
                <a:cs typeface="Times New Roman" panose="02020603050405020304" pitchFamily="18" charset="0"/>
              </a:rPr>
              <a:t>and hence conclude that there is no association between the number of working hours and the time you have to relax or pursue activities that you enjoy.</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a:lnSpc>
                <a:spcPct val="106000"/>
              </a:lnSpc>
              <a:spcAft>
                <a:spcPts val="800"/>
              </a:spcAft>
            </a:pPr>
            <a:endParaRPr lang="en-IN" sz="2400">
              <a:effectLst/>
              <a:latin typeface="ITC Franklin Gothic LT" panose="020B0604020202020204" charset="0"/>
              <a:ea typeface="Calibri" panose="020F0502020204030204" pitchFamily="34" charset="0"/>
              <a:cs typeface="Times New Roman" panose="02020603050405020304" pitchFamily="18" charset="0"/>
            </a:endParaRPr>
          </a:p>
        </p:txBody>
      </p:sp>
      <p:pic>
        <p:nvPicPr>
          <p:cNvPr id="10" name="Picture 9">
            <a:extLst>
              <a:ext uri="{FF2B5EF4-FFF2-40B4-BE49-F238E27FC236}">
                <a16:creationId xmlns:a16="http://schemas.microsoft.com/office/drawing/2014/main" id="{E4904032-23E9-4A19-043D-663ECD4A1656}"/>
              </a:ext>
            </a:extLst>
          </p:cNvPr>
          <p:cNvPicPr>
            <a:picLocks noChangeAspect="1"/>
          </p:cNvPicPr>
          <p:nvPr/>
        </p:nvPicPr>
        <p:blipFill>
          <a:blip r:embed="rId2"/>
          <a:stretch>
            <a:fillRect/>
          </a:stretch>
        </p:blipFill>
        <p:spPr>
          <a:xfrm>
            <a:off x="1600200" y="3183773"/>
            <a:ext cx="8373488" cy="4723144"/>
          </a:xfrm>
          <a:prstGeom prst="rect">
            <a:avLst/>
          </a:prstGeom>
        </p:spPr>
      </p:pic>
      <p:pic>
        <p:nvPicPr>
          <p:cNvPr id="14" name="Picture 13">
            <a:extLst>
              <a:ext uri="{FF2B5EF4-FFF2-40B4-BE49-F238E27FC236}">
                <a16:creationId xmlns:a16="http://schemas.microsoft.com/office/drawing/2014/main" id="{0CAB4725-C222-31D3-15A6-F35C84C67A11}"/>
              </a:ext>
            </a:extLst>
          </p:cNvPr>
          <p:cNvPicPr>
            <a:picLocks noChangeAspect="1"/>
          </p:cNvPicPr>
          <p:nvPr/>
        </p:nvPicPr>
        <p:blipFill>
          <a:blip r:embed="rId3"/>
          <a:stretch>
            <a:fillRect/>
          </a:stretch>
        </p:blipFill>
        <p:spPr>
          <a:xfrm>
            <a:off x="10126088" y="4270791"/>
            <a:ext cx="6924591" cy="2549109"/>
          </a:xfrm>
          <a:prstGeom prst="rect">
            <a:avLst/>
          </a:prstGeom>
        </p:spPr>
      </p:pic>
    </p:spTree>
    <p:extLst>
      <p:ext uri="{BB962C8B-B14F-4D97-AF65-F5344CB8AC3E}">
        <p14:creationId xmlns:p14="http://schemas.microsoft.com/office/powerpoint/2010/main" val="187711035"/>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7EF"/>
        </a:solidFill>
        <a:effectLst/>
      </p:bgPr>
    </p:bg>
    <p:spTree>
      <p:nvGrpSpPr>
        <p:cNvPr id="1" name="">
          <a:extLst>
            <a:ext uri="{FF2B5EF4-FFF2-40B4-BE49-F238E27FC236}">
              <a16:creationId xmlns:a16="http://schemas.microsoft.com/office/drawing/2014/main" id="{2D5FB71B-0A4F-B785-A9A7-59B2BCB5E37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8BE5056-7C23-20D5-E2B1-4F0C2DAF6381}"/>
              </a:ext>
            </a:extLst>
          </p:cNvPr>
          <p:cNvGrpSpPr/>
          <p:nvPr/>
        </p:nvGrpSpPr>
        <p:grpSpPr>
          <a:xfrm>
            <a:off x="-557510" y="9297622"/>
            <a:ext cx="19403020" cy="2466909"/>
            <a:chOff x="0" y="0"/>
            <a:chExt cx="5110260" cy="649721"/>
          </a:xfrm>
        </p:grpSpPr>
        <p:sp>
          <p:nvSpPr>
            <p:cNvPr id="3" name="Freeform 3">
              <a:extLst>
                <a:ext uri="{FF2B5EF4-FFF2-40B4-BE49-F238E27FC236}">
                  <a16:creationId xmlns:a16="http://schemas.microsoft.com/office/drawing/2014/main" id="{71712398-3209-95D8-1E90-FD31AA2338AF}"/>
                </a:ext>
              </a:extLst>
            </p:cNvPr>
            <p:cNvSpPr/>
            <p:nvPr/>
          </p:nvSpPr>
          <p:spPr>
            <a:xfrm>
              <a:off x="0" y="0"/>
              <a:ext cx="5110261" cy="649721"/>
            </a:xfrm>
            <a:custGeom>
              <a:avLst/>
              <a:gdLst/>
              <a:ahLst/>
              <a:cxnLst/>
              <a:rect l="l" t="t" r="r" b="b"/>
              <a:pathLst>
                <a:path w="5110261" h="649721">
                  <a:moveTo>
                    <a:pt x="0" y="0"/>
                  </a:moveTo>
                  <a:lnTo>
                    <a:pt x="5110261" y="0"/>
                  </a:lnTo>
                  <a:lnTo>
                    <a:pt x="5110261" y="649721"/>
                  </a:lnTo>
                  <a:lnTo>
                    <a:pt x="0" y="649721"/>
                  </a:lnTo>
                  <a:close/>
                </a:path>
              </a:pathLst>
            </a:custGeom>
            <a:solidFill>
              <a:srgbClr val="8DAFA8"/>
            </a:solidFill>
          </p:spPr>
        </p:sp>
        <p:sp>
          <p:nvSpPr>
            <p:cNvPr id="4" name="TextBox 4">
              <a:extLst>
                <a:ext uri="{FF2B5EF4-FFF2-40B4-BE49-F238E27FC236}">
                  <a16:creationId xmlns:a16="http://schemas.microsoft.com/office/drawing/2014/main" id="{7B540A35-E164-9101-B762-62BFB8A6F0CE}"/>
                </a:ext>
              </a:extLst>
            </p:cNvPr>
            <p:cNvSpPr txBox="1"/>
            <p:nvPr/>
          </p:nvSpPr>
          <p:spPr>
            <a:xfrm>
              <a:off x="0" y="-47625"/>
              <a:ext cx="5110260" cy="697346"/>
            </a:xfrm>
            <a:prstGeom prst="rect">
              <a:avLst/>
            </a:prstGeom>
          </p:spPr>
          <p:txBody>
            <a:bodyPr lIns="50800" tIns="50800" rIns="50800" bIns="50800" rtlCol="0" anchor="ctr"/>
            <a:lstStyle/>
            <a:p>
              <a:pPr algn="ctr">
                <a:lnSpc>
                  <a:spcPts val="2659"/>
                </a:lnSpc>
              </a:pPr>
              <a:endParaRPr/>
            </a:p>
          </p:txBody>
        </p:sp>
      </p:grpSp>
      <p:sp>
        <p:nvSpPr>
          <p:cNvPr id="12" name="TextBox 11">
            <a:extLst>
              <a:ext uri="{FF2B5EF4-FFF2-40B4-BE49-F238E27FC236}">
                <a16:creationId xmlns:a16="http://schemas.microsoft.com/office/drawing/2014/main" id="{4FDAB9DD-C130-69D0-402E-14E27E8D84BD}"/>
              </a:ext>
            </a:extLst>
          </p:cNvPr>
          <p:cNvSpPr txBox="1"/>
          <p:nvPr/>
        </p:nvSpPr>
        <p:spPr>
          <a:xfrm>
            <a:off x="876300" y="475572"/>
            <a:ext cx="17145000" cy="1819216"/>
          </a:xfrm>
          <a:prstGeom prst="rect">
            <a:avLst/>
          </a:prstGeom>
          <a:noFill/>
        </p:spPr>
        <p:txBody>
          <a:bodyPr wrap="square">
            <a:spAutoFit/>
          </a:bodyPr>
          <a:lstStyle/>
          <a:p>
            <a:pPr>
              <a:lnSpc>
                <a:spcPct val="106000"/>
              </a:lnSpc>
              <a:spcAft>
                <a:spcPts val="800"/>
              </a:spcAft>
            </a:pPr>
            <a:r>
              <a:rPr lang="en-US" sz="2400" b="1">
                <a:latin typeface="ITC Franklin Gothic LT" panose="020B0604020202020204" charset="0"/>
                <a:ea typeface="Calibri" panose="020F0502020204030204" pitchFamily="34" charset="0"/>
                <a:cs typeface="Times New Roman" panose="02020603050405020304" pitchFamily="18" charset="0"/>
              </a:rPr>
              <a:t>4</a:t>
            </a:r>
            <a:r>
              <a:rPr lang="en-US" sz="2400" b="1">
                <a:effectLst/>
                <a:latin typeface="ITC Franklin Gothic LT" panose="020B0604020202020204" charset="0"/>
                <a:ea typeface="Calibri" panose="020F0502020204030204" pitchFamily="34" charset="0"/>
                <a:cs typeface="Times New Roman" panose="02020603050405020304" pitchFamily="18" charset="0"/>
              </a:rPr>
              <a:t>) </a:t>
            </a:r>
            <a:r>
              <a:rPr lang="en-IN" sz="2400" b="1">
                <a:effectLst/>
                <a:latin typeface="ITC Franklin Gothic LT" panose="020B0604020202020204" charset="0"/>
                <a:ea typeface="Times New Roman" panose="02020603050405020304" pitchFamily="18" charset="0"/>
                <a:cs typeface="Times New Roman" panose="02020603050405020304" pitchFamily="18" charset="0"/>
              </a:rPr>
              <a:t>NUMBER OF WORKING HOURS * HOW OFTEN DO YOU FEEL UNDER PRESSURE AT WORK?   </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a:lnSpc>
                <a:spcPct val="106000"/>
              </a:lnSpc>
              <a:spcAft>
                <a:spcPts val="800"/>
              </a:spcAft>
            </a:pPr>
            <a:r>
              <a:rPr lang="en-US" sz="2400" b="1">
                <a:effectLst/>
                <a:latin typeface="ITC Franklin Gothic LT" panose="020B0604020202020204" charset="0"/>
                <a:ea typeface="Calibri" panose="020F0502020204030204" pitchFamily="34" charset="0"/>
                <a:cs typeface="Times New Roman" panose="02020603050405020304" pitchFamily="18" charset="0"/>
              </a:rPr>
              <a:t>Null Hypothesis(H</a:t>
            </a:r>
            <a:r>
              <a:rPr lang="en-US" sz="2400" b="1" baseline="-25000">
                <a:effectLst/>
                <a:latin typeface="ITC Franklin Gothic LT" panose="020B0604020202020204" charset="0"/>
                <a:ea typeface="Calibri" panose="020F0502020204030204" pitchFamily="34" charset="0"/>
                <a:cs typeface="Times New Roman" panose="02020603050405020304" pitchFamily="18" charset="0"/>
              </a:rPr>
              <a:t>0</a:t>
            </a:r>
            <a:r>
              <a:rPr lang="en-US" sz="2400" b="1">
                <a:effectLst/>
                <a:latin typeface="ITC Franklin Gothic LT" panose="020B0604020202020204" charset="0"/>
                <a:ea typeface="Calibri" panose="020F0502020204030204" pitchFamily="34" charset="0"/>
                <a:cs typeface="Times New Roman" panose="02020603050405020304" pitchFamily="18" charset="0"/>
              </a:rPr>
              <a:t>): </a:t>
            </a:r>
            <a:r>
              <a:rPr lang="en-US" sz="2400">
                <a:effectLst/>
                <a:latin typeface="ITC Franklin Gothic LT" panose="020B0604020202020204" charset="0"/>
                <a:ea typeface="Calibri" panose="020F0502020204030204" pitchFamily="34" charset="0"/>
                <a:cs typeface="Times New Roman" panose="02020603050405020304" pitchFamily="18" charset="0"/>
              </a:rPr>
              <a:t>There is no association between the number of working hours and how often you feel under pressure.</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r>
              <a:rPr lang="en-US" sz="2400" b="1">
                <a:effectLst/>
                <a:latin typeface="ITC Franklin Gothic LT" panose="020B0604020202020204" charset="0"/>
                <a:ea typeface="Calibri" panose="020F0502020204030204" pitchFamily="34" charset="0"/>
              </a:rPr>
              <a:t>Alternative Hypothesis(H</a:t>
            </a:r>
            <a:r>
              <a:rPr lang="en-US" sz="2400" b="1" baseline="-25000">
                <a:effectLst/>
                <a:latin typeface="ITC Franklin Gothic LT" panose="020B0604020202020204" charset="0"/>
                <a:ea typeface="Calibri" panose="020F0502020204030204" pitchFamily="34" charset="0"/>
              </a:rPr>
              <a:t>1</a:t>
            </a:r>
            <a:r>
              <a:rPr lang="en-US" sz="2400" b="1">
                <a:effectLst/>
                <a:latin typeface="ITC Franklin Gothic LT" panose="020B0604020202020204" charset="0"/>
                <a:ea typeface="Calibri" panose="020F0502020204030204" pitchFamily="34" charset="0"/>
              </a:rPr>
              <a:t>):</a:t>
            </a:r>
            <a:r>
              <a:rPr lang="en-US" sz="2400">
                <a:effectLst/>
                <a:latin typeface="ITC Franklin Gothic LT" panose="020B0604020202020204" charset="0"/>
                <a:ea typeface="Calibri" panose="020F0502020204030204" pitchFamily="34" charset="0"/>
              </a:rPr>
              <a:t> There is an association between the number of working hours and how often you feel under pressure</a:t>
            </a:r>
            <a:r>
              <a:rPr lang="en-IN" sz="2400" b="1">
                <a:effectLst/>
                <a:latin typeface="ITC Franklin Gothic LT" panose="020B0604020202020204" charset="0"/>
                <a:ea typeface="Times New Roman" panose="02020603050405020304" pitchFamily="18" charset="0"/>
                <a:cs typeface="Times New Roman" panose="02020603050405020304" pitchFamily="18" charset="0"/>
              </a:rPr>
              <a:t>  </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DD550827-FB12-D803-EECC-4A793878FA54}"/>
                  </a:ext>
                </a:extLst>
              </p:cNvPr>
              <p:cNvSpPr txBox="1"/>
              <p:nvPr/>
            </p:nvSpPr>
            <p:spPr>
              <a:xfrm>
                <a:off x="1143000" y="6931285"/>
                <a:ext cx="15849600" cy="2871748"/>
              </a:xfrm>
              <a:prstGeom prst="rect">
                <a:avLst/>
              </a:prstGeom>
              <a:noFill/>
            </p:spPr>
            <p:txBody>
              <a:bodyPr wrap="square">
                <a:spAutoFit/>
              </a:bodyPr>
              <a:lstStyle/>
              <a:p>
                <a:pPr>
                  <a:lnSpc>
                    <a:spcPct val="106000"/>
                  </a:lnSpc>
                  <a:spcAft>
                    <a:spcPts val="800"/>
                  </a:spcAft>
                </a:pPr>
                <a:r>
                  <a:rPr lang="en-US" sz="2400" b="1" u="sng">
                    <a:effectLst/>
                    <a:latin typeface="ITC Franklin Gothic LT" panose="020B0604020202020204" charset="0"/>
                    <a:ea typeface="Calibri" panose="020F0502020204030204" pitchFamily="34" charset="0"/>
                    <a:cs typeface="Times New Roman" panose="02020603050405020304" pitchFamily="18" charset="0"/>
                  </a:rPr>
                  <a:t>Conclusion:</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a:lnSpc>
                    <a:spcPct val="106000"/>
                  </a:lnSpc>
                  <a:spcAft>
                    <a:spcPts val="800"/>
                  </a:spcAft>
                </a:pPr>
                <a:r>
                  <a:rPr lang="en-US" sz="2400">
                    <a:effectLst/>
                    <a:latin typeface="ITC Franklin Gothic LT" panose="020B0604020202020204" charset="0"/>
                    <a:ea typeface="Calibri" panose="020F0502020204030204" pitchFamily="34" charset="0"/>
                    <a:cs typeface="Times New Roman" panose="02020603050405020304" pitchFamily="18" charset="0"/>
                  </a:rPr>
                  <a:t>Since the P value (0.004) &gt; significant value (0.05), we reject H</a:t>
                </a:r>
                <a:r>
                  <a:rPr lang="en-US" sz="2400" baseline="-25000">
                    <a:effectLst/>
                    <a:latin typeface="ITC Franklin Gothic LT" panose="020B0604020202020204" charset="0"/>
                    <a:ea typeface="Calibri" panose="020F0502020204030204" pitchFamily="34" charset="0"/>
                    <a:cs typeface="Times New Roman" panose="02020603050405020304" pitchFamily="18" charset="0"/>
                  </a:rPr>
                  <a:t>0 </a:t>
                </a:r>
                <a:r>
                  <a:rPr lang="en-US" sz="2400">
                    <a:effectLst/>
                    <a:latin typeface="ITC Franklin Gothic LT" panose="020B0604020202020204" charset="0"/>
                    <a:ea typeface="Calibri" panose="020F0502020204030204" pitchFamily="34" charset="0"/>
                    <a:cs typeface="Times New Roman" panose="02020603050405020304" pitchFamily="18" charset="0"/>
                  </a:rPr>
                  <a:t>and hence conclude that</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a:lnSpc>
                    <a:spcPct val="106000"/>
                  </a:lnSpc>
                  <a:spcAft>
                    <a:spcPts val="800"/>
                  </a:spcAft>
                </a:pPr>
                <a:r>
                  <a:rPr lang="en-US" sz="2400">
                    <a:effectLst/>
                    <a:latin typeface="ITC Franklin Gothic LT" panose="020B0604020202020204" charset="0"/>
                    <a:ea typeface="Calibri" panose="020F0502020204030204" pitchFamily="34" charset="0"/>
                    <a:cs typeface="Times New Roman" panose="02020603050405020304" pitchFamily="18" charset="0"/>
                  </a:rPr>
                  <a:t>there is an association between number of working hours and how often you feel under pressure.</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a:lnSpc>
                    <a:spcPct val="106000"/>
                  </a:lnSpc>
                  <a:spcAft>
                    <a:spcPts val="800"/>
                  </a:spcAft>
                </a:pPr>
                <a:r>
                  <a:rPr lang="en-US" sz="3200">
                    <a:effectLst/>
                    <a:latin typeface="ITC Franklin Gothic LT" panose="020B0604020202020204" charset="0"/>
                    <a:ea typeface="Calibri" panose="020F0502020204030204" pitchFamily="34" charset="0"/>
                    <a:cs typeface="Times New Roman" panose="02020603050405020304" pitchFamily="18" charset="0"/>
                  </a:rPr>
                  <a:t>C = </a:t>
                </a:r>
                <a14:m>
                  <m:oMath xmlns:m="http://schemas.openxmlformats.org/officeDocument/2006/math">
                    <m:r>
                      <a:rPr lang="en-US" sz="3200" i="1" smtClean="0">
                        <a:effectLst/>
                        <a:latin typeface="Cambria Math" panose="02040503050406030204" pitchFamily="18" charset="0"/>
                        <a:ea typeface="Cambria Math" panose="02040503050406030204" pitchFamily="18" charset="0"/>
                        <a:cs typeface="Times New Roman" panose="02020603050405020304" pitchFamily="18" charset="0"/>
                      </a:rPr>
                      <m:t>√</m:t>
                    </m:r>
                    <m:f>
                      <m:fPr>
                        <m:ctrlPr>
                          <a:rPr lang="en-US" sz="3200" i="1" smtClean="0">
                            <a:effectLst/>
                            <a:latin typeface="Cambria Math" panose="02040503050406030204" pitchFamily="18" charset="0"/>
                            <a:ea typeface="Cambria Math" panose="02040503050406030204" pitchFamily="18" charset="0"/>
                            <a:cs typeface="Times New Roman" panose="02020603050405020304" pitchFamily="18" charset="0"/>
                          </a:rPr>
                        </m:ctrlPr>
                      </m:fPr>
                      <m:num>
                        <m:sSup>
                          <m:sSupPr>
                            <m:ctrlPr>
                              <a:rPr lang="en-IN" sz="2400" i="1">
                                <a:latin typeface="Cambria Math" panose="02040503050406030204" pitchFamily="18" charset="0"/>
                              </a:rPr>
                            </m:ctrlPr>
                          </m:sSupPr>
                          <m:e>
                            <m:r>
                              <a:rPr lang="en-US" sz="2400" i="1">
                                <a:latin typeface="Cambria Math" panose="02040503050406030204" pitchFamily="18" charset="0"/>
                              </a:rPr>
                              <m:t>𝜒</m:t>
                            </m:r>
                          </m:e>
                          <m:sup>
                            <m:r>
                              <a:rPr lang="en-US" sz="2400" i="1">
                                <a:latin typeface="Cambria Math" panose="02040503050406030204" pitchFamily="18" charset="0"/>
                              </a:rPr>
                              <m:t>2</m:t>
                            </m:r>
                          </m:sup>
                        </m:sSup>
                      </m:num>
                      <m:den>
                        <m:sSup>
                          <m:sSupPr>
                            <m:ctrlPr>
                              <a:rPr lang="en-IN" sz="2400" i="1">
                                <a:latin typeface="Cambria Math" panose="02040503050406030204" pitchFamily="18" charset="0"/>
                              </a:rPr>
                            </m:ctrlPr>
                          </m:sSupPr>
                          <m:e>
                            <m:r>
                              <a:rPr lang="en-US" sz="2400" i="1">
                                <a:latin typeface="Cambria Math" panose="02040503050406030204" pitchFamily="18" charset="0"/>
                              </a:rPr>
                              <m:t>𝜒</m:t>
                            </m:r>
                          </m:e>
                          <m:sup>
                            <m:r>
                              <a:rPr lang="en-US" sz="2400" i="1">
                                <a:latin typeface="Cambria Math" panose="02040503050406030204" pitchFamily="18" charset="0"/>
                              </a:rPr>
                              <m:t>2</m:t>
                            </m:r>
                          </m:sup>
                        </m:sSup>
                        <m:r>
                          <a:rPr lang="en-IN" sz="2400" b="0" i="1" smtClean="0">
                            <a:latin typeface="Cambria Math" panose="02040503050406030204" pitchFamily="18" charset="0"/>
                          </a:rPr>
                          <m:t>+</m:t>
                        </m:r>
                        <m:r>
                          <a:rPr lang="en-IN" sz="2400" b="0" i="1" smtClean="0">
                            <a:latin typeface="Cambria Math" panose="02040503050406030204" pitchFamily="18" charset="0"/>
                          </a:rPr>
                          <m:t>𝑁</m:t>
                        </m:r>
                      </m:den>
                    </m:f>
                  </m:oMath>
                </a14:m>
                <a:r>
                  <a:rPr lang="en-US" sz="3200">
                    <a:effectLst/>
                    <a:latin typeface="ITC Franklin Gothic LT" panose="020B0604020202020204" charset="0"/>
                    <a:ea typeface="Calibri" panose="020F0502020204030204" pitchFamily="34" charset="0"/>
                    <a:cs typeface="Times New Roman" panose="02020603050405020304" pitchFamily="18" charset="0"/>
                  </a:rPr>
                  <a:t> </a:t>
                </a:r>
                <a:r>
                  <a:rPr lang="en-US" sz="2400">
                    <a:effectLst/>
                    <a:latin typeface="ITC Franklin Gothic LT" panose="020B0604020202020204" charset="0"/>
                    <a:ea typeface="Calibri" panose="020F0502020204030204" pitchFamily="34" charset="0"/>
                    <a:cs typeface="Times New Roman" panose="02020603050405020304" pitchFamily="18" charset="0"/>
                  </a:rPr>
                  <a:t>= 0.3376, there is a 33.76% association.</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a:lnSpc>
                    <a:spcPct val="106000"/>
                  </a:lnSpc>
                  <a:spcAft>
                    <a:spcPts val="800"/>
                  </a:spcAft>
                </a:pPr>
                <a:endParaRPr lang="en-IN" sz="2400">
                  <a:effectLst/>
                  <a:latin typeface="ITC Franklin Gothic LT" panose="020B0604020202020204" charset="0"/>
                  <a:ea typeface="Calibri" panose="020F0502020204030204" pitchFamily="34" charset="0"/>
                  <a:cs typeface="Times New Roman" panose="02020603050405020304" pitchFamily="18" charset="0"/>
                </a:endParaRPr>
              </a:p>
            </p:txBody>
          </p:sp>
        </mc:Choice>
        <mc:Fallback xmlns="">
          <p:sp>
            <p:nvSpPr>
              <p:cNvPr id="11" name="TextBox 10">
                <a:extLst>
                  <a:ext uri="{FF2B5EF4-FFF2-40B4-BE49-F238E27FC236}">
                    <a16:creationId xmlns:a16="http://schemas.microsoft.com/office/drawing/2014/main" id="{DD550827-FB12-D803-EECC-4A793878FA54}"/>
                  </a:ext>
                </a:extLst>
              </p:cNvPr>
              <p:cNvSpPr txBox="1">
                <a:spLocks noRot="1" noChangeAspect="1" noMove="1" noResize="1" noEditPoints="1" noAdjustHandles="1" noChangeArrowheads="1" noChangeShapeType="1" noTextEdit="1"/>
              </p:cNvSpPr>
              <p:nvPr/>
            </p:nvSpPr>
            <p:spPr>
              <a:xfrm>
                <a:off x="1143000" y="6931285"/>
                <a:ext cx="15849600" cy="2871748"/>
              </a:xfrm>
              <a:prstGeom prst="rect">
                <a:avLst/>
              </a:prstGeom>
              <a:blipFill>
                <a:blip r:embed="rId2"/>
                <a:stretch>
                  <a:fillRect l="-1000" t="-1699"/>
                </a:stretch>
              </a:blipFill>
            </p:spPr>
            <p:txBody>
              <a:bodyPr/>
              <a:lstStyle/>
              <a:p>
                <a:r>
                  <a:rPr lang="en-IN">
                    <a:noFill/>
                  </a:rPr>
                  <a:t> </a:t>
                </a:r>
              </a:p>
            </p:txBody>
          </p:sp>
        </mc:Fallback>
      </mc:AlternateContent>
      <p:pic>
        <p:nvPicPr>
          <p:cNvPr id="6" name="Picture 5">
            <a:extLst>
              <a:ext uri="{FF2B5EF4-FFF2-40B4-BE49-F238E27FC236}">
                <a16:creationId xmlns:a16="http://schemas.microsoft.com/office/drawing/2014/main" id="{483A3074-18CA-5412-D214-E9814D7BC2D1}"/>
              </a:ext>
            </a:extLst>
          </p:cNvPr>
          <p:cNvPicPr>
            <a:picLocks noChangeAspect="1"/>
          </p:cNvPicPr>
          <p:nvPr/>
        </p:nvPicPr>
        <p:blipFill>
          <a:blip r:embed="rId3"/>
          <a:stretch>
            <a:fillRect/>
          </a:stretch>
        </p:blipFill>
        <p:spPr>
          <a:xfrm>
            <a:off x="1498169" y="2375346"/>
            <a:ext cx="7620000" cy="4311728"/>
          </a:xfrm>
          <a:prstGeom prst="rect">
            <a:avLst/>
          </a:prstGeom>
        </p:spPr>
      </p:pic>
      <p:pic>
        <p:nvPicPr>
          <p:cNvPr id="8" name="Picture 7">
            <a:extLst>
              <a:ext uri="{FF2B5EF4-FFF2-40B4-BE49-F238E27FC236}">
                <a16:creationId xmlns:a16="http://schemas.microsoft.com/office/drawing/2014/main" id="{062B68EA-84ED-1DDE-BC4D-71B5B08A8C31}"/>
              </a:ext>
            </a:extLst>
          </p:cNvPr>
          <p:cNvPicPr>
            <a:picLocks noChangeAspect="1"/>
          </p:cNvPicPr>
          <p:nvPr/>
        </p:nvPicPr>
        <p:blipFill>
          <a:blip r:embed="rId4"/>
          <a:stretch>
            <a:fillRect/>
          </a:stretch>
        </p:blipFill>
        <p:spPr>
          <a:xfrm>
            <a:off x="9448800" y="3081802"/>
            <a:ext cx="8108332" cy="3118589"/>
          </a:xfrm>
          <a:prstGeom prst="rect">
            <a:avLst/>
          </a:prstGeom>
        </p:spPr>
      </p:pic>
    </p:spTree>
    <p:extLst>
      <p:ext uri="{BB962C8B-B14F-4D97-AF65-F5344CB8AC3E}">
        <p14:creationId xmlns:p14="http://schemas.microsoft.com/office/powerpoint/2010/main" val="2364986063"/>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7EF"/>
        </a:solidFill>
        <a:effectLst/>
      </p:bgPr>
    </p:bg>
    <p:spTree>
      <p:nvGrpSpPr>
        <p:cNvPr id="1" name="">
          <a:extLst>
            <a:ext uri="{FF2B5EF4-FFF2-40B4-BE49-F238E27FC236}">
              <a16:creationId xmlns:a16="http://schemas.microsoft.com/office/drawing/2014/main" id="{4393A83D-E789-8510-3CBD-422A0BE1493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B01231B-0416-3896-B686-6982A4FF24DC}"/>
              </a:ext>
            </a:extLst>
          </p:cNvPr>
          <p:cNvGrpSpPr/>
          <p:nvPr/>
        </p:nvGrpSpPr>
        <p:grpSpPr>
          <a:xfrm>
            <a:off x="4917956" y="5085847"/>
            <a:ext cx="3827651" cy="3827651"/>
            <a:chOff x="0" y="0"/>
            <a:chExt cx="812800" cy="812800"/>
          </a:xfrm>
        </p:grpSpPr>
        <p:sp>
          <p:nvSpPr>
            <p:cNvPr id="3" name="Freeform 3">
              <a:extLst>
                <a:ext uri="{FF2B5EF4-FFF2-40B4-BE49-F238E27FC236}">
                  <a16:creationId xmlns:a16="http://schemas.microsoft.com/office/drawing/2014/main" id="{C5121D63-15F2-A34B-1FC0-8C9E3A27D32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DAFA8">
                <a:alpha val="40000"/>
              </a:srgbClr>
            </a:solidFill>
          </p:spPr>
        </p:sp>
        <p:sp>
          <p:nvSpPr>
            <p:cNvPr id="4" name="TextBox 4">
              <a:extLst>
                <a:ext uri="{FF2B5EF4-FFF2-40B4-BE49-F238E27FC236}">
                  <a16:creationId xmlns:a16="http://schemas.microsoft.com/office/drawing/2014/main" id="{2984D3F0-1156-B843-5700-762A4CC57F80}"/>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 name="Group 5">
            <a:extLst>
              <a:ext uri="{FF2B5EF4-FFF2-40B4-BE49-F238E27FC236}">
                <a16:creationId xmlns:a16="http://schemas.microsoft.com/office/drawing/2014/main" id="{93E19B70-92DB-8EAA-8C8F-6EDC155A7392}"/>
              </a:ext>
            </a:extLst>
          </p:cNvPr>
          <p:cNvGrpSpPr/>
          <p:nvPr/>
        </p:nvGrpSpPr>
        <p:grpSpPr>
          <a:xfrm>
            <a:off x="714039" y="1672355"/>
            <a:ext cx="3389171" cy="3389171"/>
            <a:chOff x="0" y="0"/>
            <a:chExt cx="812800" cy="812800"/>
          </a:xfrm>
        </p:grpSpPr>
        <p:sp>
          <p:nvSpPr>
            <p:cNvPr id="6" name="Freeform 6">
              <a:extLst>
                <a:ext uri="{FF2B5EF4-FFF2-40B4-BE49-F238E27FC236}">
                  <a16:creationId xmlns:a16="http://schemas.microsoft.com/office/drawing/2014/main" id="{918464C0-F9A8-FF5F-E54D-CEC906B9802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DAFA8">
                <a:alpha val="40000"/>
              </a:srgbClr>
            </a:solidFill>
          </p:spPr>
        </p:sp>
        <p:sp>
          <p:nvSpPr>
            <p:cNvPr id="7" name="TextBox 7">
              <a:extLst>
                <a:ext uri="{FF2B5EF4-FFF2-40B4-BE49-F238E27FC236}">
                  <a16:creationId xmlns:a16="http://schemas.microsoft.com/office/drawing/2014/main" id="{423B51DC-EE8B-4836-57F6-02B8030359DA}"/>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8" name="Group 8">
            <a:extLst>
              <a:ext uri="{FF2B5EF4-FFF2-40B4-BE49-F238E27FC236}">
                <a16:creationId xmlns:a16="http://schemas.microsoft.com/office/drawing/2014/main" id="{4D8DCDE7-7A5F-5162-8B51-A215412DE272}"/>
              </a:ext>
            </a:extLst>
          </p:cNvPr>
          <p:cNvGrpSpPr/>
          <p:nvPr/>
        </p:nvGrpSpPr>
        <p:grpSpPr>
          <a:xfrm>
            <a:off x="1004805" y="4038431"/>
            <a:ext cx="2094831" cy="2094831"/>
            <a:chOff x="0" y="0"/>
            <a:chExt cx="812800" cy="812800"/>
          </a:xfrm>
        </p:grpSpPr>
        <p:sp>
          <p:nvSpPr>
            <p:cNvPr id="9" name="Freeform 9">
              <a:extLst>
                <a:ext uri="{FF2B5EF4-FFF2-40B4-BE49-F238E27FC236}">
                  <a16:creationId xmlns:a16="http://schemas.microsoft.com/office/drawing/2014/main" id="{5C655D38-0333-B2B4-4E7C-23FC759BE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6A160">
                <a:alpha val="40000"/>
              </a:srgbClr>
            </a:solidFill>
          </p:spPr>
        </p:sp>
        <p:sp>
          <p:nvSpPr>
            <p:cNvPr id="10" name="TextBox 10">
              <a:extLst>
                <a:ext uri="{FF2B5EF4-FFF2-40B4-BE49-F238E27FC236}">
                  <a16:creationId xmlns:a16="http://schemas.microsoft.com/office/drawing/2014/main" id="{38DF4CAC-23BE-9263-AF44-25F390BBE50B}"/>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11" name="Group 11">
            <a:extLst>
              <a:ext uri="{FF2B5EF4-FFF2-40B4-BE49-F238E27FC236}">
                <a16:creationId xmlns:a16="http://schemas.microsoft.com/office/drawing/2014/main" id="{DE97EF75-CED3-3192-5471-548320565B81}"/>
              </a:ext>
            </a:extLst>
          </p:cNvPr>
          <p:cNvGrpSpPr/>
          <p:nvPr/>
        </p:nvGrpSpPr>
        <p:grpSpPr>
          <a:xfrm>
            <a:off x="5784365" y="2991016"/>
            <a:ext cx="2094831" cy="2094831"/>
            <a:chOff x="0" y="0"/>
            <a:chExt cx="812800" cy="812800"/>
          </a:xfrm>
        </p:grpSpPr>
        <p:sp>
          <p:nvSpPr>
            <p:cNvPr id="12" name="Freeform 12">
              <a:extLst>
                <a:ext uri="{FF2B5EF4-FFF2-40B4-BE49-F238E27FC236}">
                  <a16:creationId xmlns:a16="http://schemas.microsoft.com/office/drawing/2014/main" id="{1E23C7E5-5DA1-9553-D407-E39268CBA63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6A160">
                <a:alpha val="40000"/>
              </a:srgbClr>
            </a:solidFill>
          </p:spPr>
        </p:sp>
        <p:sp>
          <p:nvSpPr>
            <p:cNvPr id="13" name="TextBox 13">
              <a:extLst>
                <a:ext uri="{FF2B5EF4-FFF2-40B4-BE49-F238E27FC236}">
                  <a16:creationId xmlns:a16="http://schemas.microsoft.com/office/drawing/2014/main" id="{1FF88454-2C3E-A6E0-6B33-D3BD3915D017}"/>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15" name="Group 15">
            <a:extLst>
              <a:ext uri="{FF2B5EF4-FFF2-40B4-BE49-F238E27FC236}">
                <a16:creationId xmlns:a16="http://schemas.microsoft.com/office/drawing/2014/main" id="{98CBDBB9-84C0-AD31-CABC-0F471A72BBA1}"/>
              </a:ext>
            </a:extLst>
          </p:cNvPr>
          <p:cNvGrpSpPr/>
          <p:nvPr/>
        </p:nvGrpSpPr>
        <p:grpSpPr>
          <a:xfrm>
            <a:off x="-557510" y="-889891"/>
            <a:ext cx="19403020" cy="1779782"/>
            <a:chOff x="0" y="0"/>
            <a:chExt cx="5110260" cy="468749"/>
          </a:xfrm>
        </p:grpSpPr>
        <p:sp>
          <p:nvSpPr>
            <p:cNvPr id="16" name="Freeform 16">
              <a:extLst>
                <a:ext uri="{FF2B5EF4-FFF2-40B4-BE49-F238E27FC236}">
                  <a16:creationId xmlns:a16="http://schemas.microsoft.com/office/drawing/2014/main" id="{231E9614-49B6-1761-E635-A2D6BA10B9C0}"/>
                </a:ext>
              </a:extLst>
            </p:cNvPr>
            <p:cNvSpPr/>
            <p:nvPr/>
          </p:nvSpPr>
          <p:spPr>
            <a:xfrm>
              <a:off x="0" y="0"/>
              <a:ext cx="5110261" cy="468749"/>
            </a:xfrm>
            <a:custGeom>
              <a:avLst/>
              <a:gdLst/>
              <a:ahLst/>
              <a:cxnLst/>
              <a:rect l="l" t="t" r="r" b="b"/>
              <a:pathLst>
                <a:path w="5110261" h="468749">
                  <a:moveTo>
                    <a:pt x="0" y="0"/>
                  </a:moveTo>
                  <a:lnTo>
                    <a:pt x="5110261" y="0"/>
                  </a:lnTo>
                  <a:lnTo>
                    <a:pt x="5110261" y="468749"/>
                  </a:lnTo>
                  <a:lnTo>
                    <a:pt x="0" y="468749"/>
                  </a:lnTo>
                  <a:close/>
                </a:path>
              </a:pathLst>
            </a:custGeom>
            <a:solidFill>
              <a:srgbClr val="8DAFA8"/>
            </a:solidFill>
          </p:spPr>
        </p:sp>
        <p:sp>
          <p:nvSpPr>
            <p:cNvPr id="17" name="TextBox 17">
              <a:extLst>
                <a:ext uri="{FF2B5EF4-FFF2-40B4-BE49-F238E27FC236}">
                  <a16:creationId xmlns:a16="http://schemas.microsoft.com/office/drawing/2014/main" id="{95BF360A-9270-C187-88C3-AC9E970711DD}"/>
                </a:ext>
              </a:extLst>
            </p:cNvPr>
            <p:cNvSpPr txBox="1"/>
            <p:nvPr/>
          </p:nvSpPr>
          <p:spPr>
            <a:xfrm>
              <a:off x="0" y="-47625"/>
              <a:ext cx="5110260" cy="516374"/>
            </a:xfrm>
            <a:prstGeom prst="rect">
              <a:avLst/>
            </a:prstGeom>
          </p:spPr>
          <p:txBody>
            <a:bodyPr lIns="50800" tIns="50800" rIns="50800" bIns="50800" rtlCol="0" anchor="ctr"/>
            <a:lstStyle/>
            <a:p>
              <a:pPr algn="ctr">
                <a:lnSpc>
                  <a:spcPts val="2659"/>
                </a:lnSpc>
              </a:pPr>
              <a:endParaRPr/>
            </a:p>
          </p:txBody>
        </p:sp>
      </p:grpSp>
      <p:grpSp>
        <p:nvGrpSpPr>
          <p:cNvPr id="18" name="Group 18">
            <a:extLst>
              <a:ext uri="{FF2B5EF4-FFF2-40B4-BE49-F238E27FC236}">
                <a16:creationId xmlns:a16="http://schemas.microsoft.com/office/drawing/2014/main" id="{7DDDCC1C-3145-7DAB-6DBE-8E4CC84D1344}"/>
              </a:ext>
            </a:extLst>
          </p:cNvPr>
          <p:cNvGrpSpPr/>
          <p:nvPr/>
        </p:nvGrpSpPr>
        <p:grpSpPr>
          <a:xfrm>
            <a:off x="-557510" y="9397109"/>
            <a:ext cx="19403020" cy="1779782"/>
            <a:chOff x="0" y="0"/>
            <a:chExt cx="5110260" cy="468749"/>
          </a:xfrm>
        </p:grpSpPr>
        <p:sp>
          <p:nvSpPr>
            <p:cNvPr id="19" name="Freeform 19">
              <a:extLst>
                <a:ext uri="{FF2B5EF4-FFF2-40B4-BE49-F238E27FC236}">
                  <a16:creationId xmlns:a16="http://schemas.microsoft.com/office/drawing/2014/main" id="{5C299794-8F78-A576-CBAC-9AFC8F3BC056}"/>
                </a:ext>
              </a:extLst>
            </p:cNvPr>
            <p:cNvSpPr/>
            <p:nvPr/>
          </p:nvSpPr>
          <p:spPr>
            <a:xfrm>
              <a:off x="0" y="0"/>
              <a:ext cx="5110261" cy="468749"/>
            </a:xfrm>
            <a:custGeom>
              <a:avLst/>
              <a:gdLst/>
              <a:ahLst/>
              <a:cxnLst/>
              <a:rect l="l" t="t" r="r" b="b"/>
              <a:pathLst>
                <a:path w="5110261" h="468749">
                  <a:moveTo>
                    <a:pt x="0" y="0"/>
                  </a:moveTo>
                  <a:lnTo>
                    <a:pt x="5110261" y="0"/>
                  </a:lnTo>
                  <a:lnTo>
                    <a:pt x="5110261" y="468749"/>
                  </a:lnTo>
                  <a:lnTo>
                    <a:pt x="0" y="468749"/>
                  </a:lnTo>
                  <a:close/>
                </a:path>
              </a:pathLst>
            </a:custGeom>
            <a:solidFill>
              <a:srgbClr val="8DAFA8"/>
            </a:solidFill>
          </p:spPr>
        </p:sp>
        <p:sp>
          <p:nvSpPr>
            <p:cNvPr id="20" name="TextBox 20">
              <a:extLst>
                <a:ext uri="{FF2B5EF4-FFF2-40B4-BE49-F238E27FC236}">
                  <a16:creationId xmlns:a16="http://schemas.microsoft.com/office/drawing/2014/main" id="{19F027F6-91AE-8BA5-550F-7E267C96C33E}"/>
                </a:ext>
              </a:extLst>
            </p:cNvPr>
            <p:cNvSpPr txBox="1"/>
            <p:nvPr/>
          </p:nvSpPr>
          <p:spPr>
            <a:xfrm>
              <a:off x="0" y="-47625"/>
              <a:ext cx="5110260" cy="516374"/>
            </a:xfrm>
            <a:prstGeom prst="rect">
              <a:avLst/>
            </a:prstGeom>
          </p:spPr>
          <p:txBody>
            <a:bodyPr lIns="50800" tIns="50800" rIns="50800" bIns="50800" rtlCol="0" anchor="ctr"/>
            <a:lstStyle/>
            <a:p>
              <a:pPr algn="ctr">
                <a:lnSpc>
                  <a:spcPts val="2659"/>
                </a:lnSpc>
              </a:pPr>
              <a:endParaRPr/>
            </a:p>
          </p:txBody>
        </p:sp>
      </p:grpSp>
      <p:sp>
        <p:nvSpPr>
          <p:cNvPr id="23" name="TextBox 23">
            <a:extLst>
              <a:ext uri="{FF2B5EF4-FFF2-40B4-BE49-F238E27FC236}">
                <a16:creationId xmlns:a16="http://schemas.microsoft.com/office/drawing/2014/main" id="{37CBDE16-F3C1-B06C-F8A0-E4CEAAFEC00B}"/>
              </a:ext>
            </a:extLst>
          </p:cNvPr>
          <p:cNvSpPr txBox="1"/>
          <p:nvPr/>
        </p:nvSpPr>
        <p:spPr>
          <a:xfrm>
            <a:off x="11827243" y="1505984"/>
            <a:ext cx="5253409" cy="912089"/>
          </a:xfrm>
          <a:prstGeom prst="rect">
            <a:avLst/>
          </a:prstGeom>
        </p:spPr>
        <p:txBody>
          <a:bodyPr lIns="50800" tIns="50800" rIns="50800" bIns="50800" rtlCol="0" anchor="ctr"/>
          <a:lstStyle/>
          <a:p>
            <a:pPr algn="r">
              <a:lnSpc>
                <a:spcPts val="2659"/>
              </a:lnSpc>
            </a:pPr>
            <a:endParaRPr/>
          </a:p>
        </p:txBody>
      </p:sp>
      <p:sp>
        <p:nvSpPr>
          <p:cNvPr id="24" name="Freeform 24">
            <a:extLst>
              <a:ext uri="{FF2B5EF4-FFF2-40B4-BE49-F238E27FC236}">
                <a16:creationId xmlns:a16="http://schemas.microsoft.com/office/drawing/2014/main" id="{66EC2D58-DB6E-07B2-E4A3-D03DA749AC43}"/>
              </a:ext>
            </a:extLst>
          </p:cNvPr>
          <p:cNvSpPr/>
          <p:nvPr/>
        </p:nvSpPr>
        <p:spPr>
          <a:xfrm rot="1627902">
            <a:off x="6335051" y="2326537"/>
            <a:ext cx="2254244" cy="971374"/>
          </a:xfrm>
          <a:custGeom>
            <a:avLst/>
            <a:gdLst/>
            <a:ahLst/>
            <a:cxnLst/>
            <a:rect l="l" t="t" r="r" b="b"/>
            <a:pathLst>
              <a:path w="2254244" h="971374">
                <a:moveTo>
                  <a:pt x="0" y="0"/>
                </a:moveTo>
                <a:lnTo>
                  <a:pt x="2254244" y="0"/>
                </a:lnTo>
                <a:lnTo>
                  <a:pt x="2254244" y="971375"/>
                </a:lnTo>
                <a:lnTo>
                  <a:pt x="0" y="9713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5" name="Freeform 25">
            <a:extLst>
              <a:ext uri="{FF2B5EF4-FFF2-40B4-BE49-F238E27FC236}">
                <a16:creationId xmlns:a16="http://schemas.microsoft.com/office/drawing/2014/main" id="{4943DAF9-EC4F-58EE-AEC3-EAFB2AF4B222}"/>
              </a:ext>
            </a:extLst>
          </p:cNvPr>
          <p:cNvSpPr/>
          <p:nvPr/>
        </p:nvSpPr>
        <p:spPr>
          <a:xfrm rot="1627902" flipV="1">
            <a:off x="747928" y="7642829"/>
            <a:ext cx="2254244" cy="971374"/>
          </a:xfrm>
          <a:custGeom>
            <a:avLst/>
            <a:gdLst/>
            <a:ahLst/>
            <a:cxnLst/>
            <a:rect l="l" t="t" r="r" b="b"/>
            <a:pathLst>
              <a:path w="2254244" h="971374">
                <a:moveTo>
                  <a:pt x="0" y="971374"/>
                </a:moveTo>
                <a:lnTo>
                  <a:pt x="2254244" y="971374"/>
                </a:lnTo>
                <a:lnTo>
                  <a:pt x="2254244" y="0"/>
                </a:lnTo>
                <a:lnTo>
                  <a:pt x="0" y="0"/>
                </a:lnTo>
                <a:lnTo>
                  <a:pt x="0" y="971374"/>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6" name="Freeform 26">
            <a:extLst>
              <a:ext uri="{FF2B5EF4-FFF2-40B4-BE49-F238E27FC236}">
                <a16:creationId xmlns:a16="http://schemas.microsoft.com/office/drawing/2014/main" id="{812F5E3B-FFCF-290E-3C42-3DDEA756F723}"/>
              </a:ext>
            </a:extLst>
          </p:cNvPr>
          <p:cNvSpPr/>
          <p:nvPr/>
        </p:nvSpPr>
        <p:spPr>
          <a:xfrm>
            <a:off x="824566" y="6133262"/>
            <a:ext cx="632667" cy="675664"/>
          </a:xfrm>
          <a:custGeom>
            <a:avLst/>
            <a:gdLst/>
            <a:ahLst/>
            <a:cxnLst/>
            <a:rect l="l" t="t" r="r" b="b"/>
            <a:pathLst>
              <a:path w="632667" h="675664">
                <a:moveTo>
                  <a:pt x="0" y="0"/>
                </a:moveTo>
                <a:lnTo>
                  <a:pt x="632667" y="0"/>
                </a:lnTo>
                <a:lnTo>
                  <a:pt x="632667" y="675664"/>
                </a:lnTo>
                <a:lnTo>
                  <a:pt x="0" y="67566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9" name="TextBox 28">
            <a:extLst>
              <a:ext uri="{FF2B5EF4-FFF2-40B4-BE49-F238E27FC236}">
                <a16:creationId xmlns:a16="http://schemas.microsoft.com/office/drawing/2014/main" id="{BC764EB2-C940-8193-81BB-0806ADC6578B}"/>
              </a:ext>
            </a:extLst>
          </p:cNvPr>
          <p:cNvSpPr txBox="1"/>
          <p:nvPr/>
        </p:nvSpPr>
        <p:spPr>
          <a:xfrm>
            <a:off x="10363200" y="5512161"/>
            <a:ext cx="9705529" cy="1021946"/>
          </a:xfrm>
          <a:prstGeom prst="rect">
            <a:avLst/>
          </a:prstGeom>
          <a:noFill/>
        </p:spPr>
        <p:txBody>
          <a:bodyPr wrap="square">
            <a:spAutoFit/>
          </a:bodyPr>
          <a:lstStyle/>
          <a:p>
            <a:pPr>
              <a:lnSpc>
                <a:spcPts val="3806"/>
              </a:lnSpc>
              <a:spcBef>
                <a:spcPct val="0"/>
              </a:spcBef>
            </a:pPr>
            <a:r>
              <a:rPr lang="en-US" sz="16600">
                <a:solidFill>
                  <a:srgbClr val="996633"/>
                </a:solidFill>
                <a:latin typeface="League Gothic" panose="020B0604020202020204" charset="0"/>
              </a:rPr>
              <a:t>Inferences</a:t>
            </a:r>
          </a:p>
        </p:txBody>
      </p:sp>
      <p:sp>
        <p:nvSpPr>
          <p:cNvPr id="14" name="Freeform 24">
            <a:extLst>
              <a:ext uri="{FF2B5EF4-FFF2-40B4-BE49-F238E27FC236}">
                <a16:creationId xmlns:a16="http://schemas.microsoft.com/office/drawing/2014/main" id="{8380E33C-EB70-3060-598D-BF5A184E2E52}"/>
              </a:ext>
            </a:extLst>
          </p:cNvPr>
          <p:cNvSpPr/>
          <p:nvPr/>
        </p:nvSpPr>
        <p:spPr>
          <a:xfrm>
            <a:off x="2048497" y="3026191"/>
            <a:ext cx="5337360" cy="4676239"/>
          </a:xfrm>
          <a:custGeom>
            <a:avLst/>
            <a:gdLst/>
            <a:ahLst/>
            <a:cxnLst/>
            <a:rect l="l" t="t" r="r" b="b"/>
            <a:pathLst>
              <a:path w="4628098" h="4114800">
                <a:moveTo>
                  <a:pt x="0" y="0"/>
                </a:moveTo>
                <a:lnTo>
                  <a:pt x="4628098" y="0"/>
                </a:lnTo>
                <a:lnTo>
                  <a:pt x="4628098"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Tree>
    <p:extLst>
      <p:ext uri="{BB962C8B-B14F-4D97-AF65-F5344CB8AC3E}">
        <p14:creationId xmlns:p14="http://schemas.microsoft.com/office/powerpoint/2010/main" val="212185359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7EF"/>
        </a:solidFill>
        <a:effectLst/>
      </p:bgPr>
    </p:bg>
    <p:spTree>
      <p:nvGrpSpPr>
        <p:cNvPr id="1" name="">
          <a:extLst>
            <a:ext uri="{FF2B5EF4-FFF2-40B4-BE49-F238E27FC236}">
              <a16:creationId xmlns:a16="http://schemas.microsoft.com/office/drawing/2014/main" id="{1B38C8F1-DF5A-A4DE-049A-EFE242229EB4}"/>
            </a:ext>
          </a:extLst>
        </p:cNvPr>
        <p:cNvGrpSpPr/>
        <p:nvPr/>
      </p:nvGrpSpPr>
      <p:grpSpPr>
        <a:xfrm>
          <a:off x="0" y="0"/>
          <a:ext cx="0" cy="0"/>
          <a:chOff x="0" y="0"/>
          <a:chExt cx="0" cy="0"/>
        </a:xfrm>
      </p:grpSpPr>
      <p:grpSp>
        <p:nvGrpSpPr>
          <p:cNvPr id="15" name="Group 15">
            <a:extLst>
              <a:ext uri="{FF2B5EF4-FFF2-40B4-BE49-F238E27FC236}">
                <a16:creationId xmlns:a16="http://schemas.microsoft.com/office/drawing/2014/main" id="{77AE55B3-8A6D-6B2F-FF8D-3BAC63886BE3}"/>
              </a:ext>
            </a:extLst>
          </p:cNvPr>
          <p:cNvGrpSpPr/>
          <p:nvPr/>
        </p:nvGrpSpPr>
        <p:grpSpPr>
          <a:xfrm>
            <a:off x="-557510" y="-889891"/>
            <a:ext cx="19403020" cy="1779782"/>
            <a:chOff x="0" y="0"/>
            <a:chExt cx="5110260" cy="468749"/>
          </a:xfrm>
        </p:grpSpPr>
        <p:sp>
          <p:nvSpPr>
            <p:cNvPr id="16" name="Freeform 16">
              <a:extLst>
                <a:ext uri="{FF2B5EF4-FFF2-40B4-BE49-F238E27FC236}">
                  <a16:creationId xmlns:a16="http://schemas.microsoft.com/office/drawing/2014/main" id="{BC25E423-CAFF-B37B-09D2-B09C73BBD226}"/>
                </a:ext>
              </a:extLst>
            </p:cNvPr>
            <p:cNvSpPr/>
            <p:nvPr/>
          </p:nvSpPr>
          <p:spPr>
            <a:xfrm>
              <a:off x="0" y="0"/>
              <a:ext cx="5110261" cy="468749"/>
            </a:xfrm>
            <a:custGeom>
              <a:avLst/>
              <a:gdLst/>
              <a:ahLst/>
              <a:cxnLst/>
              <a:rect l="l" t="t" r="r" b="b"/>
              <a:pathLst>
                <a:path w="5110261" h="468749">
                  <a:moveTo>
                    <a:pt x="0" y="0"/>
                  </a:moveTo>
                  <a:lnTo>
                    <a:pt x="5110261" y="0"/>
                  </a:lnTo>
                  <a:lnTo>
                    <a:pt x="5110261" y="468749"/>
                  </a:lnTo>
                  <a:lnTo>
                    <a:pt x="0" y="468749"/>
                  </a:lnTo>
                  <a:close/>
                </a:path>
              </a:pathLst>
            </a:custGeom>
            <a:solidFill>
              <a:srgbClr val="8DAFA8"/>
            </a:solidFill>
          </p:spPr>
        </p:sp>
        <p:sp>
          <p:nvSpPr>
            <p:cNvPr id="17" name="TextBox 17">
              <a:extLst>
                <a:ext uri="{FF2B5EF4-FFF2-40B4-BE49-F238E27FC236}">
                  <a16:creationId xmlns:a16="http://schemas.microsoft.com/office/drawing/2014/main" id="{7785E647-F255-56B5-1E04-957ED336F0EE}"/>
                </a:ext>
              </a:extLst>
            </p:cNvPr>
            <p:cNvSpPr txBox="1"/>
            <p:nvPr/>
          </p:nvSpPr>
          <p:spPr>
            <a:xfrm>
              <a:off x="0" y="-47625"/>
              <a:ext cx="5110260" cy="516374"/>
            </a:xfrm>
            <a:prstGeom prst="rect">
              <a:avLst/>
            </a:prstGeom>
          </p:spPr>
          <p:txBody>
            <a:bodyPr lIns="50800" tIns="50800" rIns="50800" bIns="50800" rtlCol="0" anchor="ctr"/>
            <a:lstStyle/>
            <a:p>
              <a:pPr algn="ctr">
                <a:lnSpc>
                  <a:spcPts val="2659"/>
                </a:lnSpc>
              </a:pPr>
              <a:endParaRPr/>
            </a:p>
          </p:txBody>
        </p:sp>
      </p:grpSp>
      <p:grpSp>
        <p:nvGrpSpPr>
          <p:cNvPr id="18" name="Group 18">
            <a:extLst>
              <a:ext uri="{FF2B5EF4-FFF2-40B4-BE49-F238E27FC236}">
                <a16:creationId xmlns:a16="http://schemas.microsoft.com/office/drawing/2014/main" id="{0C6CC9BE-D659-83E0-6BE9-BD417CC99BFC}"/>
              </a:ext>
            </a:extLst>
          </p:cNvPr>
          <p:cNvGrpSpPr/>
          <p:nvPr/>
        </p:nvGrpSpPr>
        <p:grpSpPr>
          <a:xfrm>
            <a:off x="-557510" y="9397109"/>
            <a:ext cx="19403020" cy="1779782"/>
            <a:chOff x="0" y="0"/>
            <a:chExt cx="5110260" cy="468749"/>
          </a:xfrm>
        </p:grpSpPr>
        <p:sp>
          <p:nvSpPr>
            <p:cNvPr id="19" name="Freeform 19">
              <a:extLst>
                <a:ext uri="{FF2B5EF4-FFF2-40B4-BE49-F238E27FC236}">
                  <a16:creationId xmlns:a16="http://schemas.microsoft.com/office/drawing/2014/main" id="{42843C91-AECE-4358-CDAA-DE78ACA5AEE9}"/>
                </a:ext>
              </a:extLst>
            </p:cNvPr>
            <p:cNvSpPr/>
            <p:nvPr/>
          </p:nvSpPr>
          <p:spPr>
            <a:xfrm>
              <a:off x="0" y="0"/>
              <a:ext cx="5110261" cy="468749"/>
            </a:xfrm>
            <a:custGeom>
              <a:avLst/>
              <a:gdLst/>
              <a:ahLst/>
              <a:cxnLst/>
              <a:rect l="l" t="t" r="r" b="b"/>
              <a:pathLst>
                <a:path w="5110261" h="468749">
                  <a:moveTo>
                    <a:pt x="0" y="0"/>
                  </a:moveTo>
                  <a:lnTo>
                    <a:pt x="5110261" y="0"/>
                  </a:lnTo>
                  <a:lnTo>
                    <a:pt x="5110261" y="468749"/>
                  </a:lnTo>
                  <a:lnTo>
                    <a:pt x="0" y="468749"/>
                  </a:lnTo>
                  <a:close/>
                </a:path>
              </a:pathLst>
            </a:custGeom>
            <a:solidFill>
              <a:srgbClr val="8DAFA8"/>
            </a:solidFill>
          </p:spPr>
        </p:sp>
        <p:sp>
          <p:nvSpPr>
            <p:cNvPr id="20" name="TextBox 20">
              <a:extLst>
                <a:ext uri="{FF2B5EF4-FFF2-40B4-BE49-F238E27FC236}">
                  <a16:creationId xmlns:a16="http://schemas.microsoft.com/office/drawing/2014/main" id="{3EC921E1-9DAD-F2C5-9926-D16961642C9A}"/>
                </a:ext>
              </a:extLst>
            </p:cNvPr>
            <p:cNvSpPr txBox="1"/>
            <p:nvPr/>
          </p:nvSpPr>
          <p:spPr>
            <a:xfrm>
              <a:off x="0" y="-47625"/>
              <a:ext cx="5110260" cy="516374"/>
            </a:xfrm>
            <a:prstGeom prst="rect">
              <a:avLst/>
            </a:prstGeom>
          </p:spPr>
          <p:txBody>
            <a:bodyPr lIns="50800" tIns="50800" rIns="50800" bIns="50800" rtlCol="0" anchor="ctr"/>
            <a:lstStyle/>
            <a:p>
              <a:pPr algn="ctr">
                <a:lnSpc>
                  <a:spcPts val="2659"/>
                </a:lnSpc>
              </a:pPr>
              <a:endParaRPr/>
            </a:p>
          </p:txBody>
        </p:sp>
      </p:grpSp>
      <p:sp>
        <p:nvSpPr>
          <p:cNvPr id="23" name="TextBox 23">
            <a:extLst>
              <a:ext uri="{FF2B5EF4-FFF2-40B4-BE49-F238E27FC236}">
                <a16:creationId xmlns:a16="http://schemas.microsoft.com/office/drawing/2014/main" id="{B896DAC3-0C26-3294-016A-0FA438B8363E}"/>
              </a:ext>
            </a:extLst>
          </p:cNvPr>
          <p:cNvSpPr txBox="1"/>
          <p:nvPr/>
        </p:nvSpPr>
        <p:spPr>
          <a:xfrm>
            <a:off x="11827243" y="1505984"/>
            <a:ext cx="5253409" cy="912089"/>
          </a:xfrm>
          <a:prstGeom prst="rect">
            <a:avLst/>
          </a:prstGeom>
        </p:spPr>
        <p:txBody>
          <a:bodyPr lIns="50800" tIns="50800" rIns="50800" bIns="50800" rtlCol="0" anchor="ctr"/>
          <a:lstStyle/>
          <a:p>
            <a:pPr algn="r">
              <a:lnSpc>
                <a:spcPts val="2659"/>
              </a:lnSpc>
            </a:pPr>
            <a:endParaRPr/>
          </a:p>
        </p:txBody>
      </p:sp>
      <p:sp>
        <p:nvSpPr>
          <p:cNvPr id="21" name="TextBox 20">
            <a:extLst>
              <a:ext uri="{FF2B5EF4-FFF2-40B4-BE49-F238E27FC236}">
                <a16:creationId xmlns:a16="http://schemas.microsoft.com/office/drawing/2014/main" id="{A02295DD-E601-0654-5569-AB314C67A45C}"/>
              </a:ext>
            </a:extLst>
          </p:cNvPr>
          <p:cNvSpPr txBox="1"/>
          <p:nvPr/>
        </p:nvSpPr>
        <p:spPr>
          <a:xfrm>
            <a:off x="990600" y="1292037"/>
            <a:ext cx="15925800" cy="8994963"/>
          </a:xfrm>
          <a:prstGeom prst="rect">
            <a:avLst/>
          </a:prstGeom>
          <a:noFill/>
        </p:spPr>
        <p:txBody>
          <a:bodyPr wrap="square">
            <a:spAutoFit/>
          </a:bodyPr>
          <a:lstStyle/>
          <a:p>
            <a:pPr marL="342900" lvl="0" indent="-342900">
              <a:lnSpc>
                <a:spcPct val="106000"/>
              </a:lnSpc>
              <a:spcAft>
                <a:spcPts val="800"/>
              </a:spcAft>
              <a:buFont typeface="Wingdings" panose="05000000000000000000" pitchFamily="2" charset="2"/>
              <a:buChar char=""/>
            </a:pPr>
            <a:r>
              <a:rPr lang="en-IN" sz="2400" kern="100">
                <a:effectLst/>
                <a:latin typeface="ITC Franklin Gothic LT" panose="020B0604020202020204" charset="0"/>
                <a:ea typeface="Calibri" panose="020F0502020204030204" pitchFamily="34" charset="0"/>
                <a:cs typeface="Times New Roman" panose="02020603050405020304" pitchFamily="18" charset="0"/>
              </a:rPr>
              <a:t>62(41.334%) respondents are under age group 18-25</a:t>
            </a:r>
            <a:r>
              <a:rPr lang="en-IN" sz="2400" b="1" kern="100">
                <a:effectLst/>
                <a:latin typeface="ITC Franklin Gothic LT" panose="020B0604020202020204" charset="0"/>
                <a:ea typeface="Calibri" panose="020F0502020204030204" pitchFamily="34" charset="0"/>
                <a:cs typeface="Times New Roman" panose="02020603050405020304" pitchFamily="18" charset="0"/>
              </a:rPr>
              <a:t>; </a:t>
            </a:r>
            <a:r>
              <a:rPr lang="en-IN" sz="2400" kern="100">
                <a:effectLst/>
                <a:latin typeface="ITC Franklin Gothic LT" panose="020B0604020202020204" charset="0"/>
                <a:ea typeface="Calibri" panose="020F0502020204030204" pitchFamily="34" charset="0"/>
                <a:cs typeface="Times New Roman" panose="02020603050405020304" pitchFamily="18" charset="0"/>
              </a:rPr>
              <a:t>45(30%) respondents are under the age group 25-40</a:t>
            </a:r>
            <a:r>
              <a:rPr lang="en-IN" sz="2400" b="1" kern="100">
                <a:effectLst/>
                <a:latin typeface="ITC Franklin Gothic LT" panose="020B0604020202020204" charset="0"/>
                <a:ea typeface="Calibri" panose="020F0502020204030204" pitchFamily="34" charset="0"/>
                <a:cs typeface="Times New Roman" panose="02020603050405020304" pitchFamily="18" charset="0"/>
              </a:rPr>
              <a:t>; </a:t>
            </a:r>
            <a:r>
              <a:rPr lang="en-IN" sz="2400" kern="100">
                <a:effectLst/>
                <a:latin typeface="ITC Franklin Gothic LT" panose="020B0604020202020204" charset="0"/>
                <a:ea typeface="Calibri" panose="020F0502020204030204" pitchFamily="34" charset="0"/>
                <a:cs typeface="Times New Roman" panose="02020603050405020304" pitchFamily="18" charset="0"/>
              </a:rPr>
              <a:t>36(24%)</a:t>
            </a:r>
            <a:r>
              <a:rPr lang="en-IN" sz="2400" b="1" kern="100">
                <a:effectLst/>
                <a:latin typeface="ITC Franklin Gothic LT" panose="020B0604020202020204" charset="0"/>
                <a:ea typeface="Calibri" panose="020F0502020204030204" pitchFamily="34" charset="0"/>
                <a:cs typeface="Times New Roman" panose="02020603050405020304" pitchFamily="18" charset="0"/>
              </a:rPr>
              <a:t> </a:t>
            </a:r>
            <a:r>
              <a:rPr lang="en-IN" sz="2400" kern="100">
                <a:effectLst/>
                <a:latin typeface="ITC Franklin Gothic LT" panose="020B0604020202020204" charset="0"/>
                <a:ea typeface="Calibri" panose="020F0502020204030204" pitchFamily="34" charset="0"/>
                <a:cs typeface="Times New Roman" panose="02020603050405020304" pitchFamily="18" charset="0"/>
              </a:rPr>
              <a:t>respondents are under the age group 40 &amp; above</a:t>
            </a:r>
            <a:r>
              <a:rPr lang="en-IN" sz="2400" b="1" kern="100">
                <a:effectLst/>
                <a:latin typeface="ITC Franklin Gothic LT" panose="020B0604020202020204" charset="0"/>
                <a:ea typeface="Calibri" panose="020F0502020204030204" pitchFamily="34" charset="0"/>
                <a:cs typeface="Times New Roman" panose="02020603050405020304" pitchFamily="18" charset="0"/>
              </a:rPr>
              <a:t>; </a:t>
            </a:r>
            <a:r>
              <a:rPr lang="en-IN" sz="2400" kern="100">
                <a:effectLst/>
                <a:latin typeface="ITC Franklin Gothic LT" panose="020B0604020202020204" charset="0"/>
                <a:ea typeface="Calibri" panose="020F0502020204030204" pitchFamily="34" charset="0"/>
                <a:cs typeface="Times New Roman" panose="02020603050405020304" pitchFamily="18" charset="0"/>
              </a:rPr>
              <a:t>7(4.666%)</a:t>
            </a:r>
            <a:r>
              <a:rPr lang="en-IN" sz="2400" b="1" kern="100">
                <a:effectLst/>
                <a:latin typeface="ITC Franklin Gothic LT" panose="020B0604020202020204" charset="0"/>
                <a:ea typeface="Calibri" panose="020F0502020204030204" pitchFamily="34" charset="0"/>
                <a:cs typeface="Times New Roman" panose="02020603050405020304" pitchFamily="18" charset="0"/>
              </a:rPr>
              <a:t> </a:t>
            </a:r>
            <a:r>
              <a:rPr lang="en-IN" sz="2400" kern="100">
                <a:effectLst/>
                <a:latin typeface="ITC Franklin Gothic LT" panose="020B0604020202020204" charset="0"/>
                <a:ea typeface="Calibri" panose="020F0502020204030204" pitchFamily="34" charset="0"/>
                <a:cs typeface="Times New Roman" panose="02020603050405020304" pitchFamily="18" charset="0"/>
              </a:rPr>
              <a:t>respondents are under 18.</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342900" lvl="0" indent="-342900">
              <a:lnSpc>
                <a:spcPct val="106000"/>
              </a:lnSpc>
              <a:buFont typeface="Wingdings" panose="05000000000000000000" pitchFamily="2" charset="2"/>
              <a:buChar char=""/>
            </a:pPr>
            <a:r>
              <a:rPr lang="en-IN" sz="2400">
                <a:effectLst/>
                <a:latin typeface="ITC Franklin Gothic LT" panose="020B0604020202020204" charset="0"/>
                <a:ea typeface="Calibri" panose="020F0502020204030204" pitchFamily="34" charset="0"/>
                <a:cs typeface="Times New Roman" panose="02020603050405020304" pitchFamily="18" charset="0"/>
              </a:rPr>
              <a:t>81(54%) respondents are male; 69(46%) respondents are female.</a:t>
            </a:r>
          </a:p>
          <a:p>
            <a:pPr marL="457200">
              <a:lnSpc>
                <a:spcPct val="106000"/>
              </a:lnSpc>
            </a:pPr>
            <a:r>
              <a:rPr lang="en-IN" sz="2400">
                <a:effectLst/>
                <a:latin typeface="ITC Franklin Gothic LT" panose="020B0604020202020204" charset="0"/>
                <a:ea typeface="Calibri" panose="020F0502020204030204" pitchFamily="34" charset="0"/>
                <a:cs typeface="Times New Roman" panose="02020603050405020304" pitchFamily="18" charset="0"/>
              </a:rPr>
              <a:t> </a:t>
            </a:r>
          </a:p>
          <a:p>
            <a:pPr marL="342900" lvl="0" indent="-342900">
              <a:lnSpc>
                <a:spcPct val="106000"/>
              </a:lnSpc>
              <a:buFont typeface="Wingdings" panose="05000000000000000000" pitchFamily="2" charset="2"/>
              <a:buChar char=""/>
            </a:pPr>
            <a:r>
              <a:rPr lang="en-IN" sz="2400">
                <a:effectLst/>
                <a:latin typeface="ITC Franklin Gothic LT" panose="020B0604020202020204" charset="0"/>
                <a:ea typeface="Calibri" panose="020F0502020204030204" pitchFamily="34" charset="0"/>
                <a:cs typeface="Times New Roman" panose="02020603050405020304" pitchFamily="18" charset="0"/>
              </a:rPr>
              <a:t>69 (46.0%) respondents' education level is graduation; 57(38.0%) respondents' education level is post-graduation; 15(10.0%) respondent's education level is intermediate; 9 (6.0%) respondents education level is other than intermediate, graduation, and post-graduation. </a:t>
            </a:r>
          </a:p>
          <a:p>
            <a:pPr marL="457200">
              <a:lnSpc>
                <a:spcPct val="106000"/>
              </a:lnSpc>
            </a:pPr>
            <a:r>
              <a:rPr lang="en-IN" sz="2400">
                <a:effectLst/>
                <a:latin typeface="ITC Franklin Gothic LT" panose="020B0604020202020204" charset="0"/>
                <a:ea typeface="Calibri" panose="020F0502020204030204" pitchFamily="34" charset="0"/>
                <a:cs typeface="Times New Roman" panose="02020603050405020304" pitchFamily="18" charset="0"/>
              </a:rPr>
              <a:t> </a:t>
            </a:r>
          </a:p>
          <a:p>
            <a:pPr marL="342900" lvl="0" indent="-342900">
              <a:lnSpc>
                <a:spcPct val="106000"/>
              </a:lnSpc>
              <a:buFont typeface="Wingdings" panose="05000000000000000000" pitchFamily="2" charset="2"/>
              <a:buChar char=""/>
            </a:pPr>
            <a:r>
              <a:rPr lang="en-IN" sz="2400">
                <a:effectLst/>
                <a:latin typeface="ITC Franklin Gothic LT" panose="020B0604020202020204" charset="0"/>
                <a:ea typeface="Calibri" panose="020F0502020204030204" pitchFamily="34" charset="0"/>
                <a:cs typeface="Times New Roman" panose="02020603050405020304" pitchFamily="18" charset="0"/>
              </a:rPr>
              <a:t>86 (</a:t>
            </a:r>
            <a:r>
              <a:rPr lang="en-IN" sz="2400">
                <a:effectLst/>
                <a:latin typeface="ITC Franklin Gothic LT" panose="020B0604020202020204" charset="0"/>
                <a:ea typeface="Times New Roman" panose="02020603050405020304" pitchFamily="18" charset="0"/>
                <a:cs typeface="Times New Roman" panose="02020603050405020304" pitchFamily="18" charset="0"/>
              </a:rPr>
              <a:t>57.3</a:t>
            </a:r>
            <a:r>
              <a:rPr lang="en-IN" sz="2400">
                <a:effectLst/>
                <a:latin typeface="ITC Franklin Gothic LT" panose="020B0604020202020204" charset="0"/>
                <a:ea typeface="Calibri" panose="020F0502020204030204" pitchFamily="34" charset="0"/>
                <a:cs typeface="Times New Roman" panose="02020603050405020304" pitchFamily="18" charset="0"/>
              </a:rPr>
              <a:t>%) respondents are private employees; 35 (23.3%) respondents are government employees; 17(11.3%) respondents are business professionals; 12(8%) respondents are from other sectors.</a:t>
            </a:r>
          </a:p>
          <a:p>
            <a:pPr marL="588645">
              <a:lnSpc>
                <a:spcPct val="106000"/>
              </a:lnSpc>
            </a:pPr>
            <a:r>
              <a:rPr lang="en-IN" sz="2400">
                <a:effectLst/>
                <a:latin typeface="ITC Franklin Gothic LT" panose="020B0604020202020204" charset="0"/>
                <a:ea typeface="Times New Roman" panose="02020603050405020304" pitchFamily="18" charset="0"/>
                <a:cs typeface="Times New Roman" panose="02020603050405020304" pitchFamily="18" charset="0"/>
              </a:rPr>
              <a:t> </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342900" lvl="0" indent="-342900">
              <a:lnSpc>
                <a:spcPct val="106000"/>
              </a:lnSpc>
              <a:spcAft>
                <a:spcPts val="800"/>
              </a:spcAft>
              <a:buFont typeface="Wingdings" panose="05000000000000000000" pitchFamily="2" charset="2"/>
              <a:buChar char=""/>
            </a:pPr>
            <a:r>
              <a:rPr lang="en-IN" sz="2400">
                <a:effectLst/>
                <a:latin typeface="ITC Franklin Gothic LT" panose="020B0604020202020204" charset="0"/>
                <a:ea typeface="Calibri" panose="020F0502020204030204" pitchFamily="34" charset="0"/>
                <a:cs typeface="Times New Roman" panose="02020603050405020304" pitchFamily="18" charset="0"/>
              </a:rPr>
              <a:t>48 (34%) respondents annual income is between </a:t>
            </a:r>
            <a:r>
              <a:rPr lang="en-IN" sz="2400" b="1">
                <a:effectLst/>
                <a:latin typeface="ITC Franklin Gothic LT" panose="020B0604020202020204" charset="0"/>
                <a:ea typeface="Times New Roman" panose="02020603050405020304" pitchFamily="18" charset="0"/>
                <a:cs typeface="Times New Roman" panose="02020603050405020304" pitchFamily="18" charset="0"/>
              </a:rPr>
              <a:t> </a:t>
            </a:r>
            <a:r>
              <a:rPr lang="en-IN" sz="2400">
                <a:effectLst/>
                <a:latin typeface="ITC Franklin Gothic LT" panose="020B0604020202020204" charset="0"/>
                <a:ea typeface="Times New Roman" panose="02020603050405020304" pitchFamily="18" charset="0"/>
                <a:cs typeface="Times New Roman" panose="02020603050405020304" pitchFamily="18" charset="0"/>
              </a:rPr>
              <a:t>Rs.5</a:t>
            </a:r>
            <a:r>
              <a:rPr lang="en-IN" sz="2400">
                <a:effectLst/>
                <a:latin typeface="ITC Franklin Gothic LT" panose="020B0604020202020204" charset="0"/>
                <a:ea typeface="Calibri" panose="020F0502020204030204" pitchFamily="34" charset="0"/>
                <a:cs typeface="Times New Roman" panose="02020603050405020304" pitchFamily="18" charset="0"/>
              </a:rPr>
              <a:t>00000</a:t>
            </a:r>
            <a:r>
              <a:rPr lang="en-IN" sz="2400">
                <a:effectLst/>
                <a:latin typeface="ITC Franklin Gothic LT" panose="020B0604020202020204" charset="0"/>
                <a:ea typeface="Times New Roman" panose="02020603050405020304" pitchFamily="18" charset="0"/>
                <a:cs typeface="Times New Roman" panose="02020603050405020304" pitchFamily="18" charset="0"/>
              </a:rPr>
              <a:t> to Rs. 1</a:t>
            </a:r>
            <a:r>
              <a:rPr lang="en-IN" sz="2400">
                <a:effectLst/>
                <a:latin typeface="ITC Franklin Gothic LT" panose="020B0604020202020204" charset="0"/>
                <a:ea typeface="Calibri" panose="020F0502020204030204" pitchFamily="34" charset="0"/>
                <a:cs typeface="Times New Roman" panose="02020603050405020304" pitchFamily="18" charset="0"/>
              </a:rPr>
              <a:t>000000; 41 (34%) respondents annual income is between </a:t>
            </a:r>
            <a:r>
              <a:rPr lang="en-IN" sz="2400" b="1">
                <a:effectLst/>
                <a:latin typeface="ITC Franklin Gothic LT" panose="020B0604020202020204" charset="0"/>
                <a:ea typeface="Times New Roman" panose="02020603050405020304" pitchFamily="18" charset="0"/>
                <a:cs typeface="Times New Roman" panose="02020603050405020304" pitchFamily="18" charset="0"/>
              </a:rPr>
              <a:t> </a:t>
            </a:r>
            <a:r>
              <a:rPr lang="en-IN" sz="2400">
                <a:effectLst/>
                <a:latin typeface="ITC Franklin Gothic LT" panose="020B0604020202020204" charset="0"/>
                <a:ea typeface="Times New Roman" panose="02020603050405020304" pitchFamily="18" charset="0"/>
                <a:cs typeface="Times New Roman" panose="02020603050405020304" pitchFamily="18" charset="0"/>
              </a:rPr>
              <a:t>Rs.3</a:t>
            </a:r>
            <a:r>
              <a:rPr lang="en-IN" sz="2400">
                <a:effectLst/>
                <a:latin typeface="ITC Franklin Gothic LT" panose="020B0604020202020204" charset="0"/>
                <a:ea typeface="Calibri" panose="020F0502020204030204" pitchFamily="34" charset="0"/>
                <a:cs typeface="Times New Roman" panose="02020603050405020304" pitchFamily="18" charset="0"/>
              </a:rPr>
              <a:t>00000</a:t>
            </a:r>
            <a:r>
              <a:rPr lang="en-IN" sz="2400">
                <a:effectLst/>
                <a:latin typeface="ITC Franklin Gothic LT" panose="020B0604020202020204" charset="0"/>
                <a:ea typeface="Times New Roman" panose="02020603050405020304" pitchFamily="18" charset="0"/>
                <a:cs typeface="Times New Roman" panose="02020603050405020304" pitchFamily="18" charset="0"/>
              </a:rPr>
              <a:t> to Rs. 5</a:t>
            </a:r>
            <a:r>
              <a:rPr lang="en-IN" sz="2400">
                <a:effectLst/>
                <a:latin typeface="ITC Franklin Gothic LT" panose="020B0604020202020204" charset="0"/>
                <a:ea typeface="Calibri" panose="020F0502020204030204" pitchFamily="34" charset="0"/>
                <a:cs typeface="Times New Roman" panose="02020603050405020304" pitchFamily="18" charset="0"/>
              </a:rPr>
              <a:t>00000; 38 (34%) respondents annual income is less than Rs.300000; 23 (34%) respondents annual income is greater than Rs.1000000.</a:t>
            </a:r>
          </a:p>
          <a:p>
            <a:pPr marL="342900" lvl="0" indent="-342900">
              <a:lnSpc>
                <a:spcPct val="106000"/>
              </a:lnSpc>
              <a:buFont typeface="Wingdings" panose="05000000000000000000" pitchFamily="2" charset="2"/>
              <a:buChar char=""/>
            </a:pPr>
            <a:r>
              <a:rPr lang="en-IN" sz="2400">
                <a:effectLst/>
                <a:latin typeface="ITC Franklin Gothic LT" panose="020B0604020202020204" charset="0"/>
                <a:ea typeface="Calibri" panose="020F0502020204030204" pitchFamily="34" charset="0"/>
                <a:cs typeface="Times New Roman" panose="02020603050405020304" pitchFamily="18" charset="0"/>
              </a:rPr>
              <a:t>104 (69.3%) respondents working hours are between 6 to 10 hours; </a:t>
            </a:r>
            <a:r>
              <a:rPr lang="en-IN" sz="2400">
                <a:effectLst/>
                <a:latin typeface="ITC Franklin Gothic LT" panose="020B0604020202020204" charset="0"/>
                <a:ea typeface="Times New Roman" panose="02020603050405020304" pitchFamily="18" charset="0"/>
                <a:cs typeface="Times New Roman" panose="02020603050405020304" pitchFamily="18" charset="0"/>
              </a:rPr>
              <a:t>20(13.3%) respondents working hours are less than 6 hours; 26(17.3%) respondents working hours are more than 10 hours.</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588645">
              <a:lnSpc>
                <a:spcPct val="106000"/>
              </a:lnSpc>
            </a:pPr>
            <a:r>
              <a:rPr lang="en-IN" sz="2400" b="1">
                <a:effectLst/>
                <a:latin typeface="ITC Franklin Gothic LT" panose="020B0604020202020204" charset="0"/>
                <a:ea typeface="Calibri" panose="020F0502020204030204" pitchFamily="34" charset="0"/>
                <a:cs typeface="Times New Roman" panose="02020603050405020304" pitchFamily="18" charset="0"/>
              </a:rPr>
              <a:t> </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342900" lvl="0" indent="-342900">
              <a:lnSpc>
                <a:spcPct val="106000"/>
              </a:lnSpc>
              <a:buFont typeface="Wingdings" panose="05000000000000000000" pitchFamily="2" charset="2"/>
              <a:buChar char=""/>
            </a:pPr>
            <a:r>
              <a:rPr lang="en-IN" sz="2400">
                <a:effectLst/>
                <a:latin typeface="ITC Franklin Gothic LT" panose="020B0604020202020204" charset="0"/>
                <a:ea typeface="Calibri" panose="020F0502020204030204" pitchFamily="34" charset="0"/>
                <a:cs typeface="Times New Roman" panose="02020603050405020304" pitchFamily="18" charset="0"/>
              </a:rPr>
              <a:t>68(45.33%) respondents are somewhat satisfied with their current working hours; 43(28.66) respondents are very satisfied with their current working hours; 28(18.66) respondents are not too satisfied with their current working hours; 11(7.33%) respondents are not at all satisfied with their current working hours.</a:t>
            </a:r>
          </a:p>
          <a:p>
            <a:pPr marL="588645">
              <a:lnSpc>
                <a:spcPct val="106000"/>
              </a:lnSpc>
              <a:spcAft>
                <a:spcPts val="800"/>
              </a:spcAft>
            </a:pPr>
            <a:r>
              <a:rPr lang="en-IN" sz="2400">
                <a:effectLst/>
                <a:latin typeface="ITC Franklin Gothic LT" panose="020B0604020202020204" charset="0"/>
                <a:ea typeface="Times New Roman" panose="02020603050405020304" pitchFamily="18" charset="0"/>
                <a:cs typeface="Times New Roman" panose="02020603050405020304" pitchFamily="18" charset="0"/>
              </a:rPr>
              <a:t> </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342900" lvl="0" indent="-342900">
              <a:lnSpc>
                <a:spcPct val="106000"/>
              </a:lnSpc>
              <a:spcAft>
                <a:spcPts val="800"/>
              </a:spcAft>
              <a:buFont typeface="Wingdings" panose="05000000000000000000" pitchFamily="2" charset="2"/>
              <a:buChar char=""/>
            </a:pPr>
            <a:endParaRPr lang="en-IN" sz="2400">
              <a:effectLst/>
              <a:latin typeface="ITC Franklin Gothic LT" panose="020B060402020202020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669590660"/>
      </p:ext>
    </p:extLst>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7EF"/>
        </a:solidFill>
        <a:effectLst/>
      </p:bgPr>
    </p:bg>
    <p:spTree>
      <p:nvGrpSpPr>
        <p:cNvPr id="1" name="">
          <a:extLst>
            <a:ext uri="{FF2B5EF4-FFF2-40B4-BE49-F238E27FC236}">
              <a16:creationId xmlns:a16="http://schemas.microsoft.com/office/drawing/2014/main" id="{770FE41C-5A7C-A656-FBF8-FA0C1C29365B}"/>
            </a:ext>
          </a:extLst>
        </p:cNvPr>
        <p:cNvGrpSpPr/>
        <p:nvPr/>
      </p:nvGrpSpPr>
      <p:grpSpPr>
        <a:xfrm>
          <a:off x="0" y="0"/>
          <a:ext cx="0" cy="0"/>
          <a:chOff x="0" y="0"/>
          <a:chExt cx="0" cy="0"/>
        </a:xfrm>
      </p:grpSpPr>
      <p:grpSp>
        <p:nvGrpSpPr>
          <p:cNvPr id="15" name="Group 15">
            <a:extLst>
              <a:ext uri="{FF2B5EF4-FFF2-40B4-BE49-F238E27FC236}">
                <a16:creationId xmlns:a16="http://schemas.microsoft.com/office/drawing/2014/main" id="{AA23E88F-8416-952C-35CF-222793F9C3E8}"/>
              </a:ext>
            </a:extLst>
          </p:cNvPr>
          <p:cNvGrpSpPr/>
          <p:nvPr/>
        </p:nvGrpSpPr>
        <p:grpSpPr>
          <a:xfrm>
            <a:off x="-557510" y="-889891"/>
            <a:ext cx="19403020" cy="1779782"/>
            <a:chOff x="0" y="0"/>
            <a:chExt cx="5110260" cy="468749"/>
          </a:xfrm>
        </p:grpSpPr>
        <p:sp>
          <p:nvSpPr>
            <p:cNvPr id="16" name="Freeform 16">
              <a:extLst>
                <a:ext uri="{FF2B5EF4-FFF2-40B4-BE49-F238E27FC236}">
                  <a16:creationId xmlns:a16="http://schemas.microsoft.com/office/drawing/2014/main" id="{60E12460-C8A7-BA7F-2E71-8ABA32CC4894}"/>
                </a:ext>
              </a:extLst>
            </p:cNvPr>
            <p:cNvSpPr/>
            <p:nvPr/>
          </p:nvSpPr>
          <p:spPr>
            <a:xfrm>
              <a:off x="0" y="0"/>
              <a:ext cx="5110261" cy="468749"/>
            </a:xfrm>
            <a:custGeom>
              <a:avLst/>
              <a:gdLst/>
              <a:ahLst/>
              <a:cxnLst/>
              <a:rect l="l" t="t" r="r" b="b"/>
              <a:pathLst>
                <a:path w="5110261" h="468749">
                  <a:moveTo>
                    <a:pt x="0" y="0"/>
                  </a:moveTo>
                  <a:lnTo>
                    <a:pt x="5110261" y="0"/>
                  </a:lnTo>
                  <a:lnTo>
                    <a:pt x="5110261" y="468749"/>
                  </a:lnTo>
                  <a:lnTo>
                    <a:pt x="0" y="468749"/>
                  </a:lnTo>
                  <a:close/>
                </a:path>
              </a:pathLst>
            </a:custGeom>
            <a:solidFill>
              <a:srgbClr val="8DAFA8"/>
            </a:solidFill>
          </p:spPr>
        </p:sp>
        <p:sp>
          <p:nvSpPr>
            <p:cNvPr id="17" name="TextBox 17">
              <a:extLst>
                <a:ext uri="{FF2B5EF4-FFF2-40B4-BE49-F238E27FC236}">
                  <a16:creationId xmlns:a16="http://schemas.microsoft.com/office/drawing/2014/main" id="{BBFAB02B-078A-7352-0C5D-57DC4D96B6D7}"/>
                </a:ext>
              </a:extLst>
            </p:cNvPr>
            <p:cNvSpPr txBox="1"/>
            <p:nvPr/>
          </p:nvSpPr>
          <p:spPr>
            <a:xfrm>
              <a:off x="0" y="-47625"/>
              <a:ext cx="5110260" cy="516374"/>
            </a:xfrm>
            <a:prstGeom prst="rect">
              <a:avLst/>
            </a:prstGeom>
          </p:spPr>
          <p:txBody>
            <a:bodyPr lIns="50800" tIns="50800" rIns="50800" bIns="50800" rtlCol="0" anchor="ctr"/>
            <a:lstStyle/>
            <a:p>
              <a:pPr algn="ctr">
                <a:lnSpc>
                  <a:spcPts val="2659"/>
                </a:lnSpc>
              </a:pPr>
              <a:endParaRPr/>
            </a:p>
          </p:txBody>
        </p:sp>
      </p:grpSp>
      <p:grpSp>
        <p:nvGrpSpPr>
          <p:cNvPr id="18" name="Group 18">
            <a:extLst>
              <a:ext uri="{FF2B5EF4-FFF2-40B4-BE49-F238E27FC236}">
                <a16:creationId xmlns:a16="http://schemas.microsoft.com/office/drawing/2014/main" id="{A6805F2C-A086-7B29-CE63-EAA175373708}"/>
              </a:ext>
            </a:extLst>
          </p:cNvPr>
          <p:cNvGrpSpPr/>
          <p:nvPr/>
        </p:nvGrpSpPr>
        <p:grpSpPr>
          <a:xfrm>
            <a:off x="-557510" y="9397109"/>
            <a:ext cx="19403020" cy="1779782"/>
            <a:chOff x="0" y="0"/>
            <a:chExt cx="5110260" cy="468749"/>
          </a:xfrm>
        </p:grpSpPr>
        <p:sp>
          <p:nvSpPr>
            <p:cNvPr id="19" name="Freeform 19">
              <a:extLst>
                <a:ext uri="{FF2B5EF4-FFF2-40B4-BE49-F238E27FC236}">
                  <a16:creationId xmlns:a16="http://schemas.microsoft.com/office/drawing/2014/main" id="{6BA5AA07-5BB1-D92E-516C-1F0AEC77BC3C}"/>
                </a:ext>
              </a:extLst>
            </p:cNvPr>
            <p:cNvSpPr/>
            <p:nvPr/>
          </p:nvSpPr>
          <p:spPr>
            <a:xfrm>
              <a:off x="0" y="0"/>
              <a:ext cx="5110261" cy="468749"/>
            </a:xfrm>
            <a:custGeom>
              <a:avLst/>
              <a:gdLst/>
              <a:ahLst/>
              <a:cxnLst/>
              <a:rect l="l" t="t" r="r" b="b"/>
              <a:pathLst>
                <a:path w="5110261" h="468749">
                  <a:moveTo>
                    <a:pt x="0" y="0"/>
                  </a:moveTo>
                  <a:lnTo>
                    <a:pt x="5110261" y="0"/>
                  </a:lnTo>
                  <a:lnTo>
                    <a:pt x="5110261" y="468749"/>
                  </a:lnTo>
                  <a:lnTo>
                    <a:pt x="0" y="468749"/>
                  </a:lnTo>
                  <a:close/>
                </a:path>
              </a:pathLst>
            </a:custGeom>
            <a:solidFill>
              <a:srgbClr val="8DAFA8"/>
            </a:solidFill>
          </p:spPr>
        </p:sp>
        <p:sp>
          <p:nvSpPr>
            <p:cNvPr id="20" name="TextBox 20">
              <a:extLst>
                <a:ext uri="{FF2B5EF4-FFF2-40B4-BE49-F238E27FC236}">
                  <a16:creationId xmlns:a16="http://schemas.microsoft.com/office/drawing/2014/main" id="{E271D723-E0EF-B131-2C90-2E33D3D3C9A8}"/>
                </a:ext>
              </a:extLst>
            </p:cNvPr>
            <p:cNvSpPr txBox="1"/>
            <p:nvPr/>
          </p:nvSpPr>
          <p:spPr>
            <a:xfrm>
              <a:off x="0" y="-47625"/>
              <a:ext cx="5110260" cy="516374"/>
            </a:xfrm>
            <a:prstGeom prst="rect">
              <a:avLst/>
            </a:prstGeom>
          </p:spPr>
          <p:txBody>
            <a:bodyPr lIns="50800" tIns="50800" rIns="50800" bIns="50800" rtlCol="0" anchor="ctr"/>
            <a:lstStyle/>
            <a:p>
              <a:pPr algn="ctr">
                <a:lnSpc>
                  <a:spcPts val="2659"/>
                </a:lnSpc>
              </a:pPr>
              <a:endParaRPr/>
            </a:p>
          </p:txBody>
        </p:sp>
      </p:grpSp>
      <p:sp>
        <p:nvSpPr>
          <p:cNvPr id="23" name="TextBox 23">
            <a:extLst>
              <a:ext uri="{FF2B5EF4-FFF2-40B4-BE49-F238E27FC236}">
                <a16:creationId xmlns:a16="http://schemas.microsoft.com/office/drawing/2014/main" id="{9B8F0F0A-5127-DF5D-7DA1-51B8563715D2}"/>
              </a:ext>
            </a:extLst>
          </p:cNvPr>
          <p:cNvSpPr txBox="1"/>
          <p:nvPr/>
        </p:nvSpPr>
        <p:spPr>
          <a:xfrm>
            <a:off x="11827243" y="1505984"/>
            <a:ext cx="5253409" cy="912089"/>
          </a:xfrm>
          <a:prstGeom prst="rect">
            <a:avLst/>
          </a:prstGeom>
        </p:spPr>
        <p:txBody>
          <a:bodyPr lIns="50800" tIns="50800" rIns="50800" bIns="50800" rtlCol="0" anchor="ctr"/>
          <a:lstStyle/>
          <a:p>
            <a:pPr algn="r">
              <a:lnSpc>
                <a:spcPts val="2659"/>
              </a:lnSpc>
            </a:pPr>
            <a:endParaRPr/>
          </a:p>
        </p:txBody>
      </p:sp>
      <p:sp>
        <p:nvSpPr>
          <p:cNvPr id="3" name="TextBox 2">
            <a:extLst>
              <a:ext uri="{FF2B5EF4-FFF2-40B4-BE49-F238E27FC236}">
                <a16:creationId xmlns:a16="http://schemas.microsoft.com/office/drawing/2014/main" id="{B87AFFF0-6AE0-3E49-97BA-C6A33C4E86D7}"/>
              </a:ext>
            </a:extLst>
          </p:cNvPr>
          <p:cNvSpPr txBox="1"/>
          <p:nvPr/>
        </p:nvSpPr>
        <p:spPr>
          <a:xfrm>
            <a:off x="1207348" y="1274058"/>
            <a:ext cx="15632852" cy="8128187"/>
          </a:xfrm>
          <a:prstGeom prst="rect">
            <a:avLst/>
          </a:prstGeom>
          <a:noFill/>
        </p:spPr>
        <p:txBody>
          <a:bodyPr wrap="square">
            <a:spAutoFit/>
          </a:bodyPr>
          <a:lstStyle/>
          <a:p>
            <a:pPr marL="342900" lvl="0" indent="-342900">
              <a:lnSpc>
                <a:spcPct val="106000"/>
              </a:lnSpc>
              <a:buFont typeface="Wingdings" panose="05000000000000000000" pitchFamily="2" charset="2"/>
              <a:buChar char=""/>
            </a:pPr>
            <a:r>
              <a:rPr lang="en-IN" sz="2400">
                <a:effectLst/>
                <a:latin typeface="ITC Franklin Gothic LT" panose="020B0604020202020204" charset="0"/>
                <a:ea typeface="Calibri" panose="020F0502020204030204" pitchFamily="34" charset="0"/>
                <a:cs typeface="Times New Roman" panose="02020603050405020304" pitchFamily="18" charset="0"/>
              </a:rPr>
              <a:t>75 (50.0%) respondent’s daily commute is between 1 to 2 hours; 38 (25.3%) respondents daily commute is less than  1  hour</a:t>
            </a:r>
            <a:r>
              <a:rPr lang="en-IN" sz="2400">
                <a:effectLst/>
                <a:latin typeface="ITC Franklin Gothic LT" panose="020B0604020202020204" charset="0"/>
                <a:ea typeface="Times New Roman" panose="02020603050405020304" pitchFamily="18" charset="0"/>
                <a:cs typeface="Times New Roman" panose="02020603050405020304" pitchFamily="18" charset="0"/>
              </a:rPr>
              <a:t>; </a:t>
            </a:r>
            <a:r>
              <a:rPr lang="en-IN" sz="2400">
                <a:effectLst/>
                <a:latin typeface="ITC Franklin Gothic LT" panose="020B0604020202020204" charset="0"/>
                <a:ea typeface="Calibri" panose="020F0502020204030204" pitchFamily="34" charset="0"/>
                <a:cs typeface="Times New Roman" panose="02020603050405020304" pitchFamily="18" charset="0"/>
              </a:rPr>
              <a:t>37 (24.7%) respondents' daily commute is more than 2 hours</a:t>
            </a:r>
            <a:r>
              <a:rPr lang="en-IN" sz="2400">
                <a:effectLst/>
                <a:latin typeface="ITC Franklin Gothic LT" panose="020B0604020202020204" charset="0"/>
                <a:ea typeface="Times New Roman" panose="02020603050405020304" pitchFamily="18" charset="0"/>
                <a:cs typeface="Times New Roman" panose="02020603050405020304" pitchFamily="18" charset="0"/>
              </a:rPr>
              <a:t>.</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457200">
              <a:lnSpc>
                <a:spcPct val="106000"/>
              </a:lnSpc>
            </a:pPr>
            <a:r>
              <a:rPr lang="en-IN" sz="2400">
                <a:effectLst/>
                <a:latin typeface="ITC Franklin Gothic LT" panose="020B0604020202020204" charset="0"/>
                <a:ea typeface="Times New Roman" panose="02020603050405020304" pitchFamily="18" charset="0"/>
                <a:cs typeface="Times New Roman" panose="02020603050405020304" pitchFamily="18" charset="0"/>
              </a:rPr>
              <a:t> </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342900" lvl="0" indent="-342900">
              <a:lnSpc>
                <a:spcPct val="106000"/>
              </a:lnSpc>
              <a:spcAft>
                <a:spcPts val="800"/>
              </a:spcAft>
              <a:buFont typeface="Wingdings" panose="05000000000000000000" pitchFamily="2" charset="2"/>
              <a:buChar char=""/>
            </a:pPr>
            <a:r>
              <a:rPr lang="en-IN" sz="2400">
                <a:effectLst/>
                <a:latin typeface="ITC Franklin Gothic LT" panose="020B0604020202020204" charset="0"/>
                <a:ea typeface="Calibri" panose="020F0502020204030204" pitchFamily="34" charset="0"/>
                <a:cs typeface="Times New Roman" panose="02020603050405020304" pitchFamily="18" charset="0"/>
              </a:rPr>
              <a:t>68 (45.3%) respondents have been working in the present organization for less than one year; 45 (30%) respondents have been working in the present organization for approximately 1 to 5 years; 37 (24.7%) respondents have been working in the present organization for more than 5 years </a:t>
            </a:r>
          </a:p>
          <a:p>
            <a:pPr>
              <a:lnSpc>
                <a:spcPct val="106000"/>
              </a:lnSpc>
              <a:spcAft>
                <a:spcPts val="800"/>
              </a:spcAft>
            </a:pPr>
            <a:r>
              <a:rPr lang="en-IN" sz="2400" b="1">
                <a:effectLst/>
                <a:latin typeface="ITC Franklin Gothic LT" panose="020B0604020202020204" charset="0"/>
                <a:ea typeface="Times New Roman" panose="02020603050405020304" pitchFamily="18" charset="0"/>
                <a:cs typeface="Times New Roman" panose="02020603050405020304" pitchFamily="18" charset="0"/>
              </a:rPr>
              <a:t> </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342900" lvl="0" indent="-342900">
              <a:lnSpc>
                <a:spcPct val="106000"/>
              </a:lnSpc>
              <a:buFont typeface="Wingdings" panose="05000000000000000000" pitchFamily="2" charset="2"/>
              <a:buChar char=""/>
            </a:pPr>
            <a:r>
              <a:rPr lang="en-IN" sz="2400">
                <a:effectLst/>
                <a:latin typeface="ITC Franklin Gothic LT" panose="020B0604020202020204" charset="0"/>
                <a:ea typeface="Calibri" panose="020F0502020204030204" pitchFamily="34" charset="0"/>
                <a:cs typeface="Times New Roman" panose="02020603050405020304" pitchFamily="18" charset="0"/>
              </a:rPr>
              <a:t>86 (57.3%) respondents have day shift as their usual work schedule; 33 (22%) respondents have the night shift as their usual work schedule; 21 (14%) respondents have split shifts as their usual work schedule; 10 (6.7%) respondents have irregular shifts as their usual work schedule.</a:t>
            </a:r>
          </a:p>
          <a:p>
            <a:pPr marL="588645">
              <a:lnSpc>
                <a:spcPct val="106000"/>
              </a:lnSpc>
            </a:pPr>
            <a:r>
              <a:rPr lang="en-IN" sz="2400">
                <a:effectLst/>
                <a:latin typeface="ITC Franklin Gothic LT" panose="020B0604020202020204" charset="0"/>
                <a:ea typeface="Times New Roman" panose="02020603050405020304" pitchFamily="18" charset="0"/>
                <a:cs typeface="Times New Roman" panose="02020603050405020304" pitchFamily="18" charset="0"/>
              </a:rPr>
              <a:t> </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342900" lvl="0" indent="-342900">
              <a:lnSpc>
                <a:spcPct val="106000"/>
              </a:lnSpc>
              <a:spcAft>
                <a:spcPts val="800"/>
              </a:spcAft>
              <a:buFont typeface="Wingdings" panose="05000000000000000000" pitchFamily="2" charset="2"/>
              <a:buChar char=""/>
            </a:pPr>
            <a:r>
              <a:rPr lang="en-IN" sz="2400">
                <a:effectLst/>
                <a:latin typeface="ITC Franklin Gothic LT" panose="020B0604020202020204" charset="0"/>
                <a:ea typeface="Calibri" panose="020F0502020204030204" pitchFamily="34" charset="0"/>
                <a:cs typeface="Times New Roman" panose="02020603050405020304" pitchFamily="18" charset="0"/>
              </a:rPr>
              <a:t>73 (48.7%) respondents work 2 to 3 hours of overtime; 54 (36%) respondents work 1 hour of overtime; 23 (15.3%) respondents work more than 3 hours of overtime.</a:t>
            </a:r>
          </a:p>
          <a:p>
            <a:pPr marL="342900" lvl="0" indent="-342900">
              <a:lnSpc>
                <a:spcPct val="106000"/>
              </a:lnSpc>
              <a:spcAft>
                <a:spcPts val="800"/>
              </a:spcAft>
              <a:buFont typeface="Wingdings" panose="05000000000000000000" pitchFamily="2" charset="2"/>
              <a:buChar char=""/>
            </a:pPr>
            <a:r>
              <a:rPr lang="en-IN" sz="2400">
                <a:effectLst/>
                <a:latin typeface="ITC Franklin Gothic LT" panose="020B0604020202020204" charset="0"/>
                <a:ea typeface="Calibri" panose="020F0502020204030204" pitchFamily="34" charset="0"/>
                <a:cs typeface="Times New Roman" panose="02020603050405020304" pitchFamily="18" charset="0"/>
              </a:rPr>
              <a:t>64 (42.7%) respondents sleep more than 6 hours on an average work night; 61 (40.7%) respondents sleep 4 to 6 hours on an average work night; 25 (16.7%) respondents sleep less than 4 hours on an average work night.</a:t>
            </a:r>
          </a:p>
          <a:p>
            <a:pPr marL="228600">
              <a:lnSpc>
                <a:spcPct val="106000"/>
              </a:lnSpc>
              <a:spcAft>
                <a:spcPts val="800"/>
              </a:spcAft>
            </a:pPr>
            <a:r>
              <a:rPr lang="en-IN" sz="2400">
                <a:effectLst/>
                <a:latin typeface="ITC Franklin Gothic LT" panose="020B0604020202020204" charset="0"/>
                <a:ea typeface="Times New Roman" panose="02020603050405020304" pitchFamily="18" charset="0"/>
                <a:cs typeface="Times New Roman" panose="02020603050405020304" pitchFamily="18" charset="0"/>
              </a:rPr>
              <a:t> </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342900" lvl="0" indent="-342900">
              <a:lnSpc>
                <a:spcPct val="106000"/>
              </a:lnSpc>
              <a:spcAft>
                <a:spcPts val="800"/>
              </a:spcAft>
              <a:buFont typeface="Wingdings" panose="05000000000000000000" pitchFamily="2" charset="2"/>
              <a:buChar char=""/>
            </a:pPr>
            <a:r>
              <a:rPr lang="en-IN" sz="2400">
                <a:effectLst/>
                <a:latin typeface="ITC Franklin Gothic LT" panose="020B0604020202020204" charset="0"/>
                <a:ea typeface="Calibri" panose="020F0502020204030204" pitchFamily="34" charset="0"/>
                <a:cs typeface="Times New Roman" panose="02020603050405020304" pitchFamily="18" charset="0"/>
              </a:rPr>
              <a:t>68(45.3%) respondents have 2 to 3 hours to relax or pursue activities; 57(38%) respondents have less than 1 hour to relax or pursue activities; 25(16.7%) respondents have more than 3 hours to relax or pursue activities.</a:t>
            </a:r>
          </a:p>
          <a:p>
            <a:pPr marL="342900" lvl="0" indent="-342900">
              <a:lnSpc>
                <a:spcPct val="106000"/>
              </a:lnSpc>
              <a:spcAft>
                <a:spcPts val="800"/>
              </a:spcAft>
              <a:buFont typeface="Wingdings" panose="05000000000000000000" pitchFamily="2" charset="2"/>
              <a:buChar char=""/>
            </a:pPr>
            <a:endParaRPr lang="en-IN" sz="2400">
              <a:effectLst/>
              <a:latin typeface="ITC Franklin Gothic LT" panose="020B060402020202020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044619749"/>
      </p:ext>
    </p:extLst>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7EF"/>
        </a:solidFill>
        <a:effectLst/>
      </p:bgPr>
    </p:bg>
    <p:spTree>
      <p:nvGrpSpPr>
        <p:cNvPr id="1" name="">
          <a:extLst>
            <a:ext uri="{FF2B5EF4-FFF2-40B4-BE49-F238E27FC236}">
              <a16:creationId xmlns:a16="http://schemas.microsoft.com/office/drawing/2014/main" id="{F9192336-A4DA-20C9-37E5-A7ED3D65F40F}"/>
            </a:ext>
          </a:extLst>
        </p:cNvPr>
        <p:cNvGrpSpPr/>
        <p:nvPr/>
      </p:nvGrpSpPr>
      <p:grpSpPr>
        <a:xfrm>
          <a:off x="0" y="0"/>
          <a:ext cx="0" cy="0"/>
          <a:chOff x="0" y="0"/>
          <a:chExt cx="0" cy="0"/>
        </a:xfrm>
      </p:grpSpPr>
      <p:grpSp>
        <p:nvGrpSpPr>
          <p:cNvPr id="15" name="Group 15">
            <a:extLst>
              <a:ext uri="{FF2B5EF4-FFF2-40B4-BE49-F238E27FC236}">
                <a16:creationId xmlns:a16="http://schemas.microsoft.com/office/drawing/2014/main" id="{75F04619-4B13-221F-8C9F-5FFF52DFFF1E}"/>
              </a:ext>
            </a:extLst>
          </p:cNvPr>
          <p:cNvGrpSpPr/>
          <p:nvPr/>
        </p:nvGrpSpPr>
        <p:grpSpPr>
          <a:xfrm>
            <a:off x="-557510" y="-889891"/>
            <a:ext cx="19403020" cy="1779782"/>
            <a:chOff x="0" y="0"/>
            <a:chExt cx="5110260" cy="468749"/>
          </a:xfrm>
        </p:grpSpPr>
        <p:sp>
          <p:nvSpPr>
            <p:cNvPr id="16" name="Freeform 16">
              <a:extLst>
                <a:ext uri="{FF2B5EF4-FFF2-40B4-BE49-F238E27FC236}">
                  <a16:creationId xmlns:a16="http://schemas.microsoft.com/office/drawing/2014/main" id="{290D67EF-7C84-5A84-B2D4-A14CF5A2A605}"/>
                </a:ext>
              </a:extLst>
            </p:cNvPr>
            <p:cNvSpPr/>
            <p:nvPr/>
          </p:nvSpPr>
          <p:spPr>
            <a:xfrm>
              <a:off x="0" y="0"/>
              <a:ext cx="5110261" cy="468749"/>
            </a:xfrm>
            <a:custGeom>
              <a:avLst/>
              <a:gdLst/>
              <a:ahLst/>
              <a:cxnLst/>
              <a:rect l="l" t="t" r="r" b="b"/>
              <a:pathLst>
                <a:path w="5110261" h="468749">
                  <a:moveTo>
                    <a:pt x="0" y="0"/>
                  </a:moveTo>
                  <a:lnTo>
                    <a:pt x="5110261" y="0"/>
                  </a:lnTo>
                  <a:lnTo>
                    <a:pt x="5110261" y="468749"/>
                  </a:lnTo>
                  <a:lnTo>
                    <a:pt x="0" y="468749"/>
                  </a:lnTo>
                  <a:close/>
                </a:path>
              </a:pathLst>
            </a:custGeom>
            <a:solidFill>
              <a:srgbClr val="8DAFA8"/>
            </a:solidFill>
          </p:spPr>
        </p:sp>
        <p:sp>
          <p:nvSpPr>
            <p:cNvPr id="17" name="TextBox 17">
              <a:extLst>
                <a:ext uri="{FF2B5EF4-FFF2-40B4-BE49-F238E27FC236}">
                  <a16:creationId xmlns:a16="http://schemas.microsoft.com/office/drawing/2014/main" id="{4F3696D7-1F45-068C-AE7B-2C4D8D89D6DD}"/>
                </a:ext>
              </a:extLst>
            </p:cNvPr>
            <p:cNvSpPr txBox="1"/>
            <p:nvPr/>
          </p:nvSpPr>
          <p:spPr>
            <a:xfrm>
              <a:off x="0" y="-47625"/>
              <a:ext cx="5110260" cy="516374"/>
            </a:xfrm>
            <a:prstGeom prst="rect">
              <a:avLst/>
            </a:prstGeom>
          </p:spPr>
          <p:txBody>
            <a:bodyPr lIns="50800" tIns="50800" rIns="50800" bIns="50800" rtlCol="0" anchor="ctr"/>
            <a:lstStyle/>
            <a:p>
              <a:pPr algn="ctr">
                <a:lnSpc>
                  <a:spcPts val="2659"/>
                </a:lnSpc>
              </a:pPr>
              <a:endParaRPr/>
            </a:p>
          </p:txBody>
        </p:sp>
      </p:grpSp>
      <p:grpSp>
        <p:nvGrpSpPr>
          <p:cNvPr id="18" name="Group 18">
            <a:extLst>
              <a:ext uri="{FF2B5EF4-FFF2-40B4-BE49-F238E27FC236}">
                <a16:creationId xmlns:a16="http://schemas.microsoft.com/office/drawing/2014/main" id="{49F436AE-0848-35BD-BF26-D2ED687FB8BF}"/>
              </a:ext>
            </a:extLst>
          </p:cNvPr>
          <p:cNvGrpSpPr/>
          <p:nvPr/>
        </p:nvGrpSpPr>
        <p:grpSpPr>
          <a:xfrm>
            <a:off x="-557510" y="9397109"/>
            <a:ext cx="19403020" cy="1779782"/>
            <a:chOff x="0" y="0"/>
            <a:chExt cx="5110260" cy="468749"/>
          </a:xfrm>
        </p:grpSpPr>
        <p:sp>
          <p:nvSpPr>
            <p:cNvPr id="19" name="Freeform 19">
              <a:extLst>
                <a:ext uri="{FF2B5EF4-FFF2-40B4-BE49-F238E27FC236}">
                  <a16:creationId xmlns:a16="http://schemas.microsoft.com/office/drawing/2014/main" id="{FF2D3222-516B-BAA1-CD9F-2A5413F75FFD}"/>
                </a:ext>
              </a:extLst>
            </p:cNvPr>
            <p:cNvSpPr/>
            <p:nvPr/>
          </p:nvSpPr>
          <p:spPr>
            <a:xfrm>
              <a:off x="0" y="0"/>
              <a:ext cx="5110261" cy="468749"/>
            </a:xfrm>
            <a:custGeom>
              <a:avLst/>
              <a:gdLst/>
              <a:ahLst/>
              <a:cxnLst/>
              <a:rect l="l" t="t" r="r" b="b"/>
              <a:pathLst>
                <a:path w="5110261" h="468749">
                  <a:moveTo>
                    <a:pt x="0" y="0"/>
                  </a:moveTo>
                  <a:lnTo>
                    <a:pt x="5110261" y="0"/>
                  </a:lnTo>
                  <a:lnTo>
                    <a:pt x="5110261" y="468749"/>
                  </a:lnTo>
                  <a:lnTo>
                    <a:pt x="0" y="468749"/>
                  </a:lnTo>
                  <a:close/>
                </a:path>
              </a:pathLst>
            </a:custGeom>
            <a:solidFill>
              <a:srgbClr val="8DAFA8"/>
            </a:solidFill>
          </p:spPr>
        </p:sp>
        <p:sp>
          <p:nvSpPr>
            <p:cNvPr id="20" name="TextBox 20">
              <a:extLst>
                <a:ext uri="{FF2B5EF4-FFF2-40B4-BE49-F238E27FC236}">
                  <a16:creationId xmlns:a16="http://schemas.microsoft.com/office/drawing/2014/main" id="{92A639FB-C1F7-3A7A-EB63-C49BADB752A8}"/>
                </a:ext>
              </a:extLst>
            </p:cNvPr>
            <p:cNvSpPr txBox="1"/>
            <p:nvPr/>
          </p:nvSpPr>
          <p:spPr>
            <a:xfrm>
              <a:off x="0" y="-47625"/>
              <a:ext cx="5110260" cy="516374"/>
            </a:xfrm>
            <a:prstGeom prst="rect">
              <a:avLst/>
            </a:prstGeom>
          </p:spPr>
          <p:txBody>
            <a:bodyPr lIns="50800" tIns="50800" rIns="50800" bIns="50800" rtlCol="0" anchor="ctr"/>
            <a:lstStyle/>
            <a:p>
              <a:pPr algn="ctr">
                <a:lnSpc>
                  <a:spcPts val="2659"/>
                </a:lnSpc>
              </a:pPr>
              <a:endParaRPr/>
            </a:p>
          </p:txBody>
        </p:sp>
      </p:grpSp>
      <p:sp>
        <p:nvSpPr>
          <p:cNvPr id="23" name="TextBox 23">
            <a:extLst>
              <a:ext uri="{FF2B5EF4-FFF2-40B4-BE49-F238E27FC236}">
                <a16:creationId xmlns:a16="http://schemas.microsoft.com/office/drawing/2014/main" id="{C5EF041D-CDD6-BDE1-F903-DCA1CCA4631C}"/>
              </a:ext>
            </a:extLst>
          </p:cNvPr>
          <p:cNvSpPr txBox="1"/>
          <p:nvPr/>
        </p:nvSpPr>
        <p:spPr>
          <a:xfrm>
            <a:off x="11827243" y="1505984"/>
            <a:ext cx="5253409" cy="912089"/>
          </a:xfrm>
          <a:prstGeom prst="rect">
            <a:avLst/>
          </a:prstGeom>
        </p:spPr>
        <p:txBody>
          <a:bodyPr lIns="50800" tIns="50800" rIns="50800" bIns="50800" rtlCol="0" anchor="ctr"/>
          <a:lstStyle/>
          <a:p>
            <a:pPr algn="r">
              <a:lnSpc>
                <a:spcPts val="2659"/>
              </a:lnSpc>
            </a:pPr>
            <a:endParaRPr/>
          </a:p>
        </p:txBody>
      </p:sp>
      <p:sp>
        <p:nvSpPr>
          <p:cNvPr id="4" name="TextBox 3">
            <a:extLst>
              <a:ext uri="{FF2B5EF4-FFF2-40B4-BE49-F238E27FC236}">
                <a16:creationId xmlns:a16="http://schemas.microsoft.com/office/drawing/2014/main" id="{4AEB207E-18B7-EDF3-8773-1D01E8D56379}"/>
              </a:ext>
            </a:extLst>
          </p:cNvPr>
          <p:cNvSpPr txBox="1"/>
          <p:nvPr/>
        </p:nvSpPr>
        <p:spPr>
          <a:xfrm>
            <a:off x="990600" y="1229929"/>
            <a:ext cx="16611600" cy="8391464"/>
          </a:xfrm>
          <a:prstGeom prst="rect">
            <a:avLst/>
          </a:prstGeom>
          <a:noFill/>
        </p:spPr>
        <p:txBody>
          <a:bodyPr wrap="square">
            <a:spAutoFit/>
          </a:bodyPr>
          <a:lstStyle/>
          <a:p>
            <a:pPr marL="342900" lvl="0" indent="-342900">
              <a:lnSpc>
                <a:spcPct val="106000"/>
              </a:lnSpc>
              <a:spcAft>
                <a:spcPts val="800"/>
              </a:spcAft>
              <a:buFont typeface="Wingdings" panose="05000000000000000000" pitchFamily="2" charset="2"/>
              <a:buChar char=""/>
            </a:pPr>
            <a:r>
              <a:rPr lang="en-IN" sz="2400">
                <a:effectLst/>
                <a:latin typeface="ITC Franklin Gothic LT" panose="020B0604020202020204" charset="0"/>
                <a:ea typeface="Calibri" panose="020F0502020204030204" pitchFamily="34" charset="0"/>
                <a:cs typeface="Times New Roman" panose="02020603050405020304" pitchFamily="18" charset="0"/>
              </a:rPr>
              <a:t>73(48.7%) respondent's jobs sometimes interfere with their family life; 34(22.7%) respondent's jobs often interfere with their family life; 31(20.7%) respondent's jobs rarely interfere with their family life; 12(8%) respondent's jobs never interfere with their family life.</a:t>
            </a:r>
          </a:p>
          <a:p>
            <a:pPr>
              <a:lnSpc>
                <a:spcPct val="106000"/>
              </a:lnSpc>
              <a:spcAft>
                <a:spcPts val="800"/>
              </a:spcAft>
            </a:pPr>
            <a:r>
              <a:rPr lang="en-IN" sz="2400" b="1">
                <a:effectLst/>
                <a:latin typeface="ITC Franklin Gothic LT" panose="020B0604020202020204" charset="0"/>
                <a:ea typeface="Times New Roman" panose="02020603050405020304" pitchFamily="18" charset="0"/>
                <a:cs typeface="Times New Roman" panose="02020603050405020304" pitchFamily="18" charset="0"/>
              </a:rPr>
              <a:t> </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342900" lvl="0" indent="-342900">
              <a:lnSpc>
                <a:spcPct val="106000"/>
              </a:lnSpc>
              <a:buFont typeface="Wingdings" panose="05000000000000000000" pitchFamily="2" charset="2"/>
              <a:buChar char=""/>
            </a:pPr>
            <a:r>
              <a:rPr lang="en-IN" sz="2400">
                <a:effectLst/>
                <a:latin typeface="ITC Franklin Gothic LT" panose="020B0604020202020204" charset="0"/>
                <a:ea typeface="Calibri" panose="020F0502020204030204" pitchFamily="34" charset="0"/>
                <a:cs typeface="Times New Roman" panose="02020603050405020304" pitchFamily="18" charset="0"/>
              </a:rPr>
              <a:t>101(67.3%) respondents have missed their personal events because of work; 49(32.7%) respondents have not missed their personal events because of work.</a:t>
            </a:r>
          </a:p>
          <a:p>
            <a:pPr marL="588645">
              <a:lnSpc>
                <a:spcPct val="106000"/>
              </a:lnSpc>
            </a:pPr>
            <a:r>
              <a:rPr lang="en-IN" sz="2400" b="1" kern="100">
                <a:effectLst/>
                <a:latin typeface="ITC Franklin Gothic LT" panose="020B0604020202020204" charset="0"/>
                <a:ea typeface="Calibri" panose="020F0502020204030204" pitchFamily="34" charset="0"/>
                <a:cs typeface="Times New Roman" panose="02020603050405020304" pitchFamily="18" charset="0"/>
              </a:rPr>
              <a:t> </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342900" lvl="0" indent="-342900">
              <a:lnSpc>
                <a:spcPct val="106000"/>
              </a:lnSpc>
              <a:buFont typeface="Wingdings" panose="05000000000000000000" pitchFamily="2" charset="2"/>
              <a:buChar char=""/>
            </a:pPr>
            <a:r>
              <a:rPr lang="en-IN" sz="2400" kern="100">
                <a:effectLst/>
                <a:latin typeface="ITC Franklin Gothic LT" panose="020B0604020202020204" charset="0"/>
                <a:ea typeface="Calibri" panose="020F0502020204030204" pitchFamily="34" charset="0"/>
                <a:cs typeface="Times New Roman" panose="02020603050405020304" pitchFamily="18" charset="0"/>
              </a:rPr>
              <a:t>53.3% of the population identified workload as the primary cause of work stress. The daily commute was chosen by 47.3% of respondents, while 40.7% cited working overtime as a cause of stress. Additionally, 38.7% identified lack of sleep as a common cause of work stress.</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588645">
              <a:lnSpc>
                <a:spcPct val="106000"/>
              </a:lnSpc>
              <a:spcAft>
                <a:spcPts val="1065"/>
              </a:spcAft>
            </a:pPr>
            <a:r>
              <a:rPr lang="en-IN" sz="2400" b="1" kern="100">
                <a:effectLst/>
                <a:latin typeface="ITC Franklin Gothic LT" panose="020B0604020202020204" charset="0"/>
                <a:ea typeface="Calibri" panose="020F0502020204030204" pitchFamily="34" charset="0"/>
                <a:cs typeface="Times New Roman" panose="02020603050405020304" pitchFamily="18" charset="0"/>
              </a:rPr>
              <a:t> </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342900" lvl="0" indent="-342900">
              <a:lnSpc>
                <a:spcPct val="106000"/>
              </a:lnSpc>
              <a:spcAft>
                <a:spcPts val="1065"/>
              </a:spcAft>
              <a:buFont typeface="Wingdings" panose="05000000000000000000" pitchFamily="2" charset="2"/>
              <a:buChar char=""/>
            </a:pPr>
            <a:r>
              <a:rPr lang="en-IN" sz="2400" kern="100">
                <a:effectLst/>
                <a:latin typeface="ITC Franklin Gothic LT" panose="020B0604020202020204" charset="0"/>
                <a:ea typeface="Calibri" panose="020F0502020204030204" pitchFamily="34" charset="0"/>
                <a:cs typeface="Times New Roman" panose="02020603050405020304" pitchFamily="18" charset="0"/>
              </a:rPr>
              <a:t>47.3% of the population identified loss of emotional hygiene as the consequence of work-life stress, 43.3% chose screen fatigue, 40% cited no interest in social interaction, and 35.3% identified a lack of personal growth.</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588645">
              <a:lnSpc>
                <a:spcPct val="106000"/>
              </a:lnSpc>
            </a:pPr>
            <a:r>
              <a:rPr lang="en-IN" sz="2400" kern="100">
                <a:effectLst/>
                <a:latin typeface="ITC Franklin Gothic LT" panose="020B0604020202020204" charset="0"/>
                <a:ea typeface="Calibri" panose="020F0502020204030204" pitchFamily="34" charset="0"/>
                <a:cs typeface="Times New Roman" panose="02020603050405020304" pitchFamily="18" charset="0"/>
              </a:rPr>
              <a:t> </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342900" lvl="0" indent="-342900">
              <a:lnSpc>
                <a:spcPct val="106000"/>
              </a:lnSpc>
              <a:buFont typeface="Wingdings" panose="05000000000000000000" pitchFamily="2" charset="2"/>
              <a:buChar char=""/>
            </a:pPr>
            <a:r>
              <a:rPr lang="en-IN" sz="2400" kern="100">
                <a:effectLst/>
                <a:latin typeface="ITC Franklin Gothic LT" panose="020B0604020202020204" charset="0"/>
                <a:ea typeface="Calibri" panose="020F0502020204030204" pitchFamily="34" charset="0"/>
                <a:cs typeface="Times New Roman" panose="02020603050405020304" pitchFamily="18" charset="0"/>
              </a:rPr>
              <a:t>50% of the population selected salary increase as the most motivating factor in their organization, 44.7% chose recognition, 43.3% opted for promotion, and 42.7% chose motivational talks.</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588645">
              <a:lnSpc>
                <a:spcPct val="106000"/>
              </a:lnSpc>
            </a:pPr>
            <a:r>
              <a:rPr lang="en-IN" sz="2400" kern="100">
                <a:effectLst/>
                <a:latin typeface="ITC Franklin Gothic LT" panose="020B0604020202020204" charset="0"/>
                <a:ea typeface="Calibri" panose="020F0502020204030204" pitchFamily="34" charset="0"/>
                <a:cs typeface="Times New Roman" panose="02020603050405020304" pitchFamily="18" charset="0"/>
              </a:rPr>
              <a:t> </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342900" lvl="0" indent="-342900">
              <a:lnSpc>
                <a:spcPct val="106000"/>
              </a:lnSpc>
              <a:buFont typeface="Wingdings" panose="05000000000000000000" pitchFamily="2" charset="2"/>
              <a:buChar char=""/>
            </a:pPr>
            <a:r>
              <a:rPr lang="en-IN" sz="2400" kern="100">
                <a:effectLst/>
                <a:latin typeface="ITC Franklin Gothic LT" panose="020B0604020202020204" charset="0"/>
                <a:ea typeface="Calibri" panose="020F0502020204030204" pitchFamily="34" charset="0"/>
                <a:cs typeface="Times New Roman" panose="02020603050405020304" pitchFamily="18" charset="0"/>
              </a:rPr>
              <a:t>139 (92.7%) respondents think that the quality of work life in the organization helps to improve their productivity; 11 (7.3%) respondents do not think that the quality of work life in the organization helps to improve their productivity.</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588645">
              <a:lnSpc>
                <a:spcPct val="106000"/>
              </a:lnSpc>
            </a:pPr>
            <a:r>
              <a:rPr lang="en-IN" sz="2400" kern="100">
                <a:effectLst/>
                <a:latin typeface="ITC Franklin Gothic LT" panose="020B0604020202020204" charset="0"/>
                <a:ea typeface="Calibri" panose="020F0502020204030204" pitchFamily="34" charset="0"/>
                <a:cs typeface="Times New Roman" panose="02020603050405020304" pitchFamily="18" charset="0"/>
              </a:rPr>
              <a:t> </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397902668"/>
      </p:ext>
    </p:extLst>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7EF"/>
        </a:solidFill>
        <a:effectLst/>
      </p:bgPr>
    </p:bg>
    <p:spTree>
      <p:nvGrpSpPr>
        <p:cNvPr id="1" name="">
          <a:extLst>
            <a:ext uri="{FF2B5EF4-FFF2-40B4-BE49-F238E27FC236}">
              <a16:creationId xmlns:a16="http://schemas.microsoft.com/office/drawing/2014/main" id="{B6A526A2-F127-0B06-E9D0-CE94349E9A7D}"/>
            </a:ext>
          </a:extLst>
        </p:cNvPr>
        <p:cNvGrpSpPr/>
        <p:nvPr/>
      </p:nvGrpSpPr>
      <p:grpSpPr>
        <a:xfrm>
          <a:off x="0" y="0"/>
          <a:ext cx="0" cy="0"/>
          <a:chOff x="0" y="0"/>
          <a:chExt cx="0" cy="0"/>
        </a:xfrm>
      </p:grpSpPr>
      <p:grpSp>
        <p:nvGrpSpPr>
          <p:cNvPr id="15" name="Group 15">
            <a:extLst>
              <a:ext uri="{FF2B5EF4-FFF2-40B4-BE49-F238E27FC236}">
                <a16:creationId xmlns:a16="http://schemas.microsoft.com/office/drawing/2014/main" id="{6A6D32D3-3A1C-3B72-8E0A-BEB6987A9032}"/>
              </a:ext>
            </a:extLst>
          </p:cNvPr>
          <p:cNvGrpSpPr/>
          <p:nvPr/>
        </p:nvGrpSpPr>
        <p:grpSpPr>
          <a:xfrm>
            <a:off x="-557510" y="-889891"/>
            <a:ext cx="19403020" cy="1779782"/>
            <a:chOff x="0" y="0"/>
            <a:chExt cx="5110260" cy="468749"/>
          </a:xfrm>
        </p:grpSpPr>
        <p:sp>
          <p:nvSpPr>
            <p:cNvPr id="16" name="Freeform 16">
              <a:extLst>
                <a:ext uri="{FF2B5EF4-FFF2-40B4-BE49-F238E27FC236}">
                  <a16:creationId xmlns:a16="http://schemas.microsoft.com/office/drawing/2014/main" id="{3BB53193-9CE2-B037-E46B-33C6A053E76F}"/>
                </a:ext>
              </a:extLst>
            </p:cNvPr>
            <p:cNvSpPr/>
            <p:nvPr/>
          </p:nvSpPr>
          <p:spPr>
            <a:xfrm>
              <a:off x="0" y="0"/>
              <a:ext cx="5110261" cy="468749"/>
            </a:xfrm>
            <a:custGeom>
              <a:avLst/>
              <a:gdLst/>
              <a:ahLst/>
              <a:cxnLst/>
              <a:rect l="l" t="t" r="r" b="b"/>
              <a:pathLst>
                <a:path w="5110261" h="468749">
                  <a:moveTo>
                    <a:pt x="0" y="0"/>
                  </a:moveTo>
                  <a:lnTo>
                    <a:pt x="5110261" y="0"/>
                  </a:lnTo>
                  <a:lnTo>
                    <a:pt x="5110261" y="468749"/>
                  </a:lnTo>
                  <a:lnTo>
                    <a:pt x="0" y="468749"/>
                  </a:lnTo>
                  <a:close/>
                </a:path>
              </a:pathLst>
            </a:custGeom>
            <a:solidFill>
              <a:srgbClr val="8DAFA8"/>
            </a:solidFill>
          </p:spPr>
        </p:sp>
        <p:sp>
          <p:nvSpPr>
            <p:cNvPr id="17" name="TextBox 17">
              <a:extLst>
                <a:ext uri="{FF2B5EF4-FFF2-40B4-BE49-F238E27FC236}">
                  <a16:creationId xmlns:a16="http://schemas.microsoft.com/office/drawing/2014/main" id="{84768CAE-A3CB-27D3-E4E5-161A095F812E}"/>
                </a:ext>
              </a:extLst>
            </p:cNvPr>
            <p:cNvSpPr txBox="1"/>
            <p:nvPr/>
          </p:nvSpPr>
          <p:spPr>
            <a:xfrm>
              <a:off x="0" y="-47625"/>
              <a:ext cx="5110260" cy="516374"/>
            </a:xfrm>
            <a:prstGeom prst="rect">
              <a:avLst/>
            </a:prstGeom>
          </p:spPr>
          <p:txBody>
            <a:bodyPr lIns="50800" tIns="50800" rIns="50800" bIns="50800" rtlCol="0" anchor="ctr"/>
            <a:lstStyle/>
            <a:p>
              <a:pPr algn="ctr">
                <a:lnSpc>
                  <a:spcPts val="2659"/>
                </a:lnSpc>
              </a:pPr>
              <a:endParaRPr/>
            </a:p>
          </p:txBody>
        </p:sp>
      </p:grpSp>
      <p:grpSp>
        <p:nvGrpSpPr>
          <p:cNvPr id="18" name="Group 18">
            <a:extLst>
              <a:ext uri="{FF2B5EF4-FFF2-40B4-BE49-F238E27FC236}">
                <a16:creationId xmlns:a16="http://schemas.microsoft.com/office/drawing/2014/main" id="{0310C555-187F-0A87-5561-795DC483DBE3}"/>
              </a:ext>
            </a:extLst>
          </p:cNvPr>
          <p:cNvGrpSpPr/>
          <p:nvPr/>
        </p:nvGrpSpPr>
        <p:grpSpPr>
          <a:xfrm>
            <a:off x="-557510" y="9397109"/>
            <a:ext cx="19403020" cy="1779782"/>
            <a:chOff x="0" y="0"/>
            <a:chExt cx="5110260" cy="468749"/>
          </a:xfrm>
        </p:grpSpPr>
        <p:sp>
          <p:nvSpPr>
            <p:cNvPr id="19" name="Freeform 19">
              <a:extLst>
                <a:ext uri="{FF2B5EF4-FFF2-40B4-BE49-F238E27FC236}">
                  <a16:creationId xmlns:a16="http://schemas.microsoft.com/office/drawing/2014/main" id="{1ECED3C8-6C06-1194-63A7-BDDFC16CD858}"/>
                </a:ext>
              </a:extLst>
            </p:cNvPr>
            <p:cNvSpPr/>
            <p:nvPr/>
          </p:nvSpPr>
          <p:spPr>
            <a:xfrm>
              <a:off x="0" y="0"/>
              <a:ext cx="5110261" cy="468749"/>
            </a:xfrm>
            <a:custGeom>
              <a:avLst/>
              <a:gdLst/>
              <a:ahLst/>
              <a:cxnLst/>
              <a:rect l="l" t="t" r="r" b="b"/>
              <a:pathLst>
                <a:path w="5110261" h="468749">
                  <a:moveTo>
                    <a:pt x="0" y="0"/>
                  </a:moveTo>
                  <a:lnTo>
                    <a:pt x="5110261" y="0"/>
                  </a:lnTo>
                  <a:lnTo>
                    <a:pt x="5110261" y="468749"/>
                  </a:lnTo>
                  <a:lnTo>
                    <a:pt x="0" y="468749"/>
                  </a:lnTo>
                  <a:close/>
                </a:path>
              </a:pathLst>
            </a:custGeom>
            <a:solidFill>
              <a:srgbClr val="8DAFA8"/>
            </a:solidFill>
          </p:spPr>
        </p:sp>
        <p:sp>
          <p:nvSpPr>
            <p:cNvPr id="20" name="TextBox 20">
              <a:extLst>
                <a:ext uri="{FF2B5EF4-FFF2-40B4-BE49-F238E27FC236}">
                  <a16:creationId xmlns:a16="http://schemas.microsoft.com/office/drawing/2014/main" id="{42D46745-7C21-A521-06DF-ED883E7DC0E2}"/>
                </a:ext>
              </a:extLst>
            </p:cNvPr>
            <p:cNvSpPr txBox="1"/>
            <p:nvPr/>
          </p:nvSpPr>
          <p:spPr>
            <a:xfrm>
              <a:off x="0" y="-47625"/>
              <a:ext cx="5110260" cy="516374"/>
            </a:xfrm>
            <a:prstGeom prst="rect">
              <a:avLst/>
            </a:prstGeom>
          </p:spPr>
          <p:txBody>
            <a:bodyPr lIns="50800" tIns="50800" rIns="50800" bIns="50800" rtlCol="0" anchor="ctr"/>
            <a:lstStyle/>
            <a:p>
              <a:pPr algn="ctr">
                <a:lnSpc>
                  <a:spcPts val="2659"/>
                </a:lnSpc>
              </a:pPr>
              <a:endParaRPr/>
            </a:p>
          </p:txBody>
        </p:sp>
      </p:grpSp>
      <p:sp>
        <p:nvSpPr>
          <p:cNvPr id="23" name="TextBox 23">
            <a:extLst>
              <a:ext uri="{FF2B5EF4-FFF2-40B4-BE49-F238E27FC236}">
                <a16:creationId xmlns:a16="http://schemas.microsoft.com/office/drawing/2014/main" id="{8770E4A3-8396-21E2-919E-C27415439075}"/>
              </a:ext>
            </a:extLst>
          </p:cNvPr>
          <p:cNvSpPr txBox="1"/>
          <p:nvPr/>
        </p:nvSpPr>
        <p:spPr>
          <a:xfrm>
            <a:off x="11827243" y="1505984"/>
            <a:ext cx="5253409" cy="912089"/>
          </a:xfrm>
          <a:prstGeom prst="rect">
            <a:avLst/>
          </a:prstGeom>
        </p:spPr>
        <p:txBody>
          <a:bodyPr lIns="50800" tIns="50800" rIns="50800" bIns="50800" rtlCol="0" anchor="ctr"/>
          <a:lstStyle/>
          <a:p>
            <a:pPr algn="r">
              <a:lnSpc>
                <a:spcPts val="2659"/>
              </a:lnSpc>
            </a:pPr>
            <a:endParaRPr/>
          </a:p>
        </p:txBody>
      </p:sp>
      <p:sp>
        <p:nvSpPr>
          <p:cNvPr id="6" name="TextBox 5">
            <a:extLst>
              <a:ext uri="{FF2B5EF4-FFF2-40B4-BE49-F238E27FC236}">
                <a16:creationId xmlns:a16="http://schemas.microsoft.com/office/drawing/2014/main" id="{A1866737-3E87-7528-B0C7-ABD33E3C39E6}"/>
              </a:ext>
            </a:extLst>
          </p:cNvPr>
          <p:cNvSpPr txBox="1"/>
          <p:nvPr/>
        </p:nvSpPr>
        <p:spPr>
          <a:xfrm>
            <a:off x="1066800" y="1257300"/>
            <a:ext cx="15697200" cy="8603445"/>
          </a:xfrm>
          <a:prstGeom prst="rect">
            <a:avLst/>
          </a:prstGeom>
          <a:noFill/>
        </p:spPr>
        <p:txBody>
          <a:bodyPr wrap="square">
            <a:spAutoFit/>
          </a:bodyPr>
          <a:lstStyle/>
          <a:p>
            <a:pPr marL="342900" lvl="0" indent="-342900">
              <a:lnSpc>
                <a:spcPct val="106000"/>
              </a:lnSpc>
              <a:buFont typeface="Wingdings" panose="05000000000000000000" pitchFamily="2" charset="2"/>
              <a:buChar char=""/>
            </a:pPr>
            <a:r>
              <a:rPr lang="en-IN" sz="2400" kern="100">
                <a:effectLst/>
                <a:latin typeface="ITC Franklin Gothic LT" panose="020B0604020202020204" charset="0"/>
                <a:ea typeface="Calibri" panose="020F0502020204030204" pitchFamily="34" charset="0"/>
                <a:cs typeface="Times New Roman" panose="02020603050405020304" pitchFamily="18" charset="0"/>
              </a:rPr>
              <a:t>52.7% of the population chose prioritizing tasks, 50.7% selected allocating tasks smartly and fairly, 41.3% opted for building a timeline, and 29.3% chose avoiding multitasking.</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457200">
              <a:lnSpc>
                <a:spcPct val="106000"/>
              </a:lnSpc>
            </a:pPr>
            <a:r>
              <a:rPr lang="en-IN" sz="2400" kern="100">
                <a:effectLst/>
                <a:latin typeface="ITC Franklin Gothic LT" panose="020B0604020202020204" charset="0"/>
                <a:ea typeface="Calibri" panose="020F0502020204030204" pitchFamily="34" charset="0"/>
                <a:cs typeface="Times New Roman" panose="02020603050405020304" pitchFamily="18" charset="0"/>
              </a:rPr>
              <a:t> </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342900" lvl="0" indent="-342900">
              <a:lnSpc>
                <a:spcPct val="106000"/>
              </a:lnSpc>
              <a:buFont typeface="Wingdings" panose="05000000000000000000" pitchFamily="2" charset="2"/>
              <a:buChar char=""/>
            </a:pPr>
            <a:r>
              <a:rPr lang="en-IN" sz="2400" kern="100">
                <a:effectLst/>
                <a:latin typeface="ITC Franklin Gothic LT" panose="020B0604020202020204" charset="0"/>
                <a:ea typeface="Calibri" panose="020F0502020204030204" pitchFamily="34" charset="0"/>
                <a:cs typeface="Times New Roman" panose="02020603050405020304" pitchFamily="18" charset="0"/>
              </a:rPr>
              <a:t>45.3% of the respondents sometimes feel under pressure at work.</a:t>
            </a:r>
            <a:r>
              <a:rPr lang="en-IN" sz="2400">
                <a:latin typeface="ITC Franklin Gothic LT" panose="020B0604020202020204" charset="0"/>
                <a:ea typeface="Calibri" panose="020F0502020204030204" pitchFamily="34" charset="0"/>
                <a:cs typeface="Times New Roman" panose="02020603050405020304" pitchFamily="18" charset="0"/>
              </a:rPr>
              <a:t> </a:t>
            </a:r>
            <a:r>
              <a:rPr lang="en-IN" sz="2400" kern="100">
                <a:effectLst/>
                <a:latin typeface="ITC Franklin Gothic LT" panose="020B0604020202020204" charset="0"/>
                <a:ea typeface="Calibri" panose="020F0502020204030204" pitchFamily="34" charset="0"/>
                <a:cs typeface="Times New Roman" panose="02020603050405020304" pitchFamily="18" charset="0"/>
              </a:rPr>
              <a:t>30.7% of the respondents often feel under pressure at work; 20% of the respondents always feel under pressure at work; and 4% of the respondents never feel under pressure at work.</a:t>
            </a:r>
          </a:p>
          <a:p>
            <a:pPr lvl="0">
              <a:lnSpc>
                <a:spcPct val="106000"/>
              </a:lnSpc>
            </a:pP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342900" lvl="0" indent="-342900">
              <a:lnSpc>
                <a:spcPct val="106000"/>
              </a:lnSpc>
              <a:spcAft>
                <a:spcPts val="800"/>
              </a:spcAft>
              <a:buFont typeface="Wingdings" panose="05000000000000000000" pitchFamily="2" charset="2"/>
              <a:buChar char=""/>
            </a:pPr>
            <a:r>
              <a:rPr lang="en-IN" sz="2400" kern="100">
                <a:effectLst/>
                <a:latin typeface="ITC Franklin Gothic LT" panose="020B0604020202020204" charset="0"/>
                <a:ea typeface="Calibri" panose="020F0502020204030204" pitchFamily="34" charset="0"/>
                <a:cs typeface="Times New Roman" panose="02020603050405020304" pitchFamily="18" charset="0"/>
              </a:rPr>
              <a:t>41.3% of the respondents sometimes take part with others in making decisions that affect them; 33.3% of the respondents often take part with others in making decisions that affect them; </a:t>
            </a:r>
            <a:r>
              <a:rPr lang="en-IN" sz="2400">
                <a:solidFill>
                  <a:srgbClr val="000000"/>
                </a:solidFill>
                <a:effectLst/>
                <a:latin typeface="ITC Franklin Gothic LT" panose="020B0604020202020204" charset="0"/>
                <a:ea typeface="Times New Roman" panose="02020603050405020304" pitchFamily="18" charset="0"/>
                <a:cs typeface="Times New Roman" panose="02020603050405020304" pitchFamily="18" charset="0"/>
              </a:rPr>
              <a:t>20.7% </a:t>
            </a:r>
            <a:r>
              <a:rPr lang="en-IN" sz="2400" kern="100">
                <a:effectLst/>
                <a:latin typeface="ITC Franklin Gothic LT" panose="020B0604020202020204" charset="0"/>
                <a:ea typeface="Calibri" panose="020F0502020204030204" pitchFamily="34" charset="0"/>
                <a:cs typeface="Times New Roman" panose="02020603050405020304" pitchFamily="18" charset="0"/>
              </a:rPr>
              <a:t>of the respondents always take part with others in making decisions that affect them; 4.7% of the respondents never take part with others in making decisions that affect them.</a:t>
            </a:r>
          </a:p>
          <a:p>
            <a:pPr lvl="0">
              <a:lnSpc>
                <a:spcPct val="106000"/>
              </a:lnSpc>
              <a:spcAft>
                <a:spcPts val="800"/>
              </a:spcAft>
            </a:pPr>
            <a:endParaRPr lang="en-IN" sz="2400" kern="100">
              <a:effectLst/>
              <a:latin typeface="ITC Franklin Gothic LT" panose="020B0604020202020204" charset="0"/>
              <a:ea typeface="Calibri" panose="020F0502020204030204" pitchFamily="34" charset="0"/>
              <a:cs typeface="Times New Roman" panose="02020603050405020304" pitchFamily="18" charset="0"/>
            </a:endParaRPr>
          </a:p>
          <a:p>
            <a:pPr marL="342900" lvl="0" indent="-342900">
              <a:lnSpc>
                <a:spcPct val="106000"/>
              </a:lnSpc>
              <a:buFont typeface="Wingdings" panose="05000000000000000000" pitchFamily="2" charset="2"/>
              <a:buChar char=""/>
            </a:pPr>
            <a:r>
              <a:rPr lang="en-IN" sz="2400" kern="100">
                <a:effectLst/>
                <a:latin typeface="ITC Franklin Gothic LT" panose="020B0604020202020204" charset="0"/>
                <a:ea typeface="Calibri" panose="020F0502020204030204" pitchFamily="34" charset="0"/>
                <a:cs typeface="Times New Roman" panose="02020603050405020304" pitchFamily="18" charset="0"/>
              </a:rPr>
              <a:t>42% of the respondents believe that unrealistic demands are the biggest threat to their work-life balance; 27.3% of the respondents believe that </a:t>
            </a:r>
            <a:r>
              <a:rPr lang="en-IN" sz="2400">
                <a:solidFill>
                  <a:srgbClr val="000000"/>
                </a:solidFill>
                <a:effectLst/>
                <a:latin typeface="ITC Franklin Gothic LT" panose="020B0604020202020204" charset="0"/>
                <a:ea typeface="Times New Roman" panose="02020603050405020304" pitchFamily="18" charset="0"/>
                <a:cs typeface="Times New Roman" panose="02020603050405020304" pitchFamily="18" charset="0"/>
              </a:rPr>
              <a:t>technology troubles</a:t>
            </a:r>
            <a:r>
              <a:rPr lang="en-IN" sz="2400" kern="100">
                <a:effectLst/>
                <a:latin typeface="ITC Franklin Gothic LT" panose="020B0604020202020204" charset="0"/>
                <a:ea typeface="Calibri" panose="020F0502020204030204" pitchFamily="34" charset="0"/>
                <a:cs typeface="Times New Roman" panose="02020603050405020304" pitchFamily="18" charset="0"/>
              </a:rPr>
              <a:t> are the biggest threat to their work-life balance; 21.3% of the respondents believe that </a:t>
            </a:r>
            <a:r>
              <a:rPr lang="en-IN" sz="2400">
                <a:solidFill>
                  <a:srgbClr val="000000"/>
                </a:solidFill>
                <a:effectLst/>
                <a:latin typeface="ITC Franklin Gothic LT" panose="020B0604020202020204" charset="0"/>
                <a:ea typeface="Times New Roman" panose="02020603050405020304" pitchFamily="18" charset="0"/>
                <a:cs typeface="Times New Roman" panose="02020603050405020304" pitchFamily="18" charset="0"/>
              </a:rPr>
              <a:t>social perceptions</a:t>
            </a:r>
            <a:r>
              <a:rPr lang="en-IN" sz="2400" kern="100">
                <a:effectLst/>
                <a:latin typeface="ITC Franklin Gothic LT" panose="020B0604020202020204" charset="0"/>
                <a:ea typeface="Calibri" panose="020F0502020204030204" pitchFamily="34" charset="0"/>
                <a:cs typeface="Times New Roman" panose="02020603050405020304" pitchFamily="18" charset="0"/>
              </a:rPr>
              <a:t> are the biggest threat to their work-life balance; 9.3% of the respondents believe that </a:t>
            </a:r>
            <a:r>
              <a:rPr lang="en-IN" sz="2400">
                <a:solidFill>
                  <a:srgbClr val="000000"/>
                </a:solidFill>
                <a:effectLst/>
                <a:latin typeface="ITC Franklin Gothic LT" panose="020B0604020202020204" charset="0"/>
                <a:ea typeface="Times New Roman" panose="02020603050405020304" pitchFamily="18" charset="0"/>
                <a:cs typeface="Times New Roman" panose="02020603050405020304" pitchFamily="18" charset="0"/>
              </a:rPr>
              <a:t>Lack of skills</a:t>
            </a:r>
            <a:r>
              <a:rPr lang="en-IN" sz="2400" kern="100">
                <a:effectLst/>
                <a:latin typeface="ITC Franklin Gothic LT" panose="020B0604020202020204" charset="0"/>
                <a:ea typeface="Calibri" panose="020F0502020204030204" pitchFamily="34" charset="0"/>
                <a:cs typeface="Times New Roman" panose="02020603050405020304" pitchFamily="18" charset="0"/>
              </a:rPr>
              <a:t> is the biggest threat to their work-life balance.</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457200">
              <a:lnSpc>
                <a:spcPct val="106000"/>
              </a:lnSpc>
            </a:pPr>
            <a:r>
              <a:rPr lang="en-IN" sz="2400" kern="100">
                <a:effectLst/>
                <a:latin typeface="ITC Franklin Gothic LT" panose="020B0604020202020204" charset="0"/>
                <a:ea typeface="Calibri" panose="020F0502020204030204" pitchFamily="34" charset="0"/>
                <a:cs typeface="Times New Roman" panose="02020603050405020304" pitchFamily="18" charset="0"/>
              </a:rPr>
              <a:t> </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342900" lvl="0" indent="-342900">
              <a:lnSpc>
                <a:spcPct val="106000"/>
              </a:lnSpc>
              <a:spcAft>
                <a:spcPts val="800"/>
              </a:spcAft>
              <a:buFont typeface="Wingdings" panose="05000000000000000000" pitchFamily="2" charset="2"/>
              <a:buChar char=""/>
            </a:pPr>
            <a:r>
              <a:rPr lang="en-IN" sz="2400" kern="100">
                <a:effectLst/>
                <a:latin typeface="ITC Franklin Gothic LT" panose="020B0604020202020204" charset="0"/>
                <a:ea typeface="Calibri" panose="020F0502020204030204" pitchFamily="34" charset="0"/>
                <a:cs typeface="Times New Roman" panose="02020603050405020304" pitchFamily="18" charset="0"/>
              </a:rPr>
              <a:t>87 (58%) of the respondents feel that the income from their job alone is enough to meet their family's usual monthly expenses and bills; 62(42%) of the respondents do not feel that the income from their job alone is enough to meet their family's usual monthly expenses and bills.</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342900" lvl="0" indent="-342900">
              <a:lnSpc>
                <a:spcPct val="106000"/>
              </a:lnSpc>
              <a:spcAft>
                <a:spcPts val="800"/>
              </a:spcAft>
              <a:buFont typeface="Wingdings" panose="05000000000000000000" pitchFamily="2" charset="2"/>
              <a:buChar char=""/>
            </a:pPr>
            <a:endParaRPr lang="en-IN" sz="2400">
              <a:effectLst/>
              <a:latin typeface="ITC Franklin Gothic LT" panose="020B060402020202020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043011232"/>
      </p:ext>
    </p:extLst>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7EF"/>
        </a:solidFill>
        <a:effectLst/>
      </p:bgPr>
    </p:bg>
    <p:spTree>
      <p:nvGrpSpPr>
        <p:cNvPr id="1" name="">
          <a:extLst>
            <a:ext uri="{FF2B5EF4-FFF2-40B4-BE49-F238E27FC236}">
              <a16:creationId xmlns:a16="http://schemas.microsoft.com/office/drawing/2014/main" id="{437DE453-F9D6-5620-D779-F4ABFB1E52C4}"/>
            </a:ext>
          </a:extLst>
        </p:cNvPr>
        <p:cNvGrpSpPr/>
        <p:nvPr/>
      </p:nvGrpSpPr>
      <p:grpSpPr>
        <a:xfrm>
          <a:off x="0" y="0"/>
          <a:ext cx="0" cy="0"/>
          <a:chOff x="0" y="0"/>
          <a:chExt cx="0" cy="0"/>
        </a:xfrm>
      </p:grpSpPr>
      <p:grpSp>
        <p:nvGrpSpPr>
          <p:cNvPr id="15" name="Group 15">
            <a:extLst>
              <a:ext uri="{FF2B5EF4-FFF2-40B4-BE49-F238E27FC236}">
                <a16:creationId xmlns:a16="http://schemas.microsoft.com/office/drawing/2014/main" id="{615B442F-F18C-630C-2791-D27D0815D5F8}"/>
              </a:ext>
            </a:extLst>
          </p:cNvPr>
          <p:cNvGrpSpPr/>
          <p:nvPr/>
        </p:nvGrpSpPr>
        <p:grpSpPr>
          <a:xfrm>
            <a:off x="-557510" y="-889891"/>
            <a:ext cx="19403020" cy="1779782"/>
            <a:chOff x="0" y="0"/>
            <a:chExt cx="5110260" cy="468749"/>
          </a:xfrm>
        </p:grpSpPr>
        <p:sp>
          <p:nvSpPr>
            <p:cNvPr id="16" name="Freeform 16">
              <a:extLst>
                <a:ext uri="{FF2B5EF4-FFF2-40B4-BE49-F238E27FC236}">
                  <a16:creationId xmlns:a16="http://schemas.microsoft.com/office/drawing/2014/main" id="{9E334756-7011-B3DB-B6B2-E3058EE1E18A}"/>
                </a:ext>
              </a:extLst>
            </p:cNvPr>
            <p:cNvSpPr/>
            <p:nvPr/>
          </p:nvSpPr>
          <p:spPr>
            <a:xfrm>
              <a:off x="0" y="0"/>
              <a:ext cx="5110261" cy="468749"/>
            </a:xfrm>
            <a:custGeom>
              <a:avLst/>
              <a:gdLst/>
              <a:ahLst/>
              <a:cxnLst/>
              <a:rect l="l" t="t" r="r" b="b"/>
              <a:pathLst>
                <a:path w="5110261" h="468749">
                  <a:moveTo>
                    <a:pt x="0" y="0"/>
                  </a:moveTo>
                  <a:lnTo>
                    <a:pt x="5110261" y="0"/>
                  </a:lnTo>
                  <a:lnTo>
                    <a:pt x="5110261" y="468749"/>
                  </a:lnTo>
                  <a:lnTo>
                    <a:pt x="0" y="468749"/>
                  </a:lnTo>
                  <a:close/>
                </a:path>
              </a:pathLst>
            </a:custGeom>
            <a:solidFill>
              <a:srgbClr val="8DAFA8"/>
            </a:solidFill>
          </p:spPr>
        </p:sp>
        <p:sp>
          <p:nvSpPr>
            <p:cNvPr id="17" name="TextBox 17">
              <a:extLst>
                <a:ext uri="{FF2B5EF4-FFF2-40B4-BE49-F238E27FC236}">
                  <a16:creationId xmlns:a16="http://schemas.microsoft.com/office/drawing/2014/main" id="{697245A3-5025-5553-AE2B-91CFC92B454F}"/>
                </a:ext>
              </a:extLst>
            </p:cNvPr>
            <p:cNvSpPr txBox="1"/>
            <p:nvPr/>
          </p:nvSpPr>
          <p:spPr>
            <a:xfrm>
              <a:off x="0" y="-47625"/>
              <a:ext cx="5110260" cy="516374"/>
            </a:xfrm>
            <a:prstGeom prst="rect">
              <a:avLst/>
            </a:prstGeom>
          </p:spPr>
          <p:txBody>
            <a:bodyPr lIns="50800" tIns="50800" rIns="50800" bIns="50800" rtlCol="0" anchor="ctr"/>
            <a:lstStyle/>
            <a:p>
              <a:pPr algn="ctr">
                <a:lnSpc>
                  <a:spcPts val="2659"/>
                </a:lnSpc>
              </a:pPr>
              <a:endParaRPr/>
            </a:p>
          </p:txBody>
        </p:sp>
      </p:grpSp>
      <p:grpSp>
        <p:nvGrpSpPr>
          <p:cNvPr id="18" name="Group 18">
            <a:extLst>
              <a:ext uri="{FF2B5EF4-FFF2-40B4-BE49-F238E27FC236}">
                <a16:creationId xmlns:a16="http://schemas.microsoft.com/office/drawing/2014/main" id="{30E830D5-C98B-26CD-9BD3-E0251AE9735B}"/>
              </a:ext>
            </a:extLst>
          </p:cNvPr>
          <p:cNvGrpSpPr/>
          <p:nvPr/>
        </p:nvGrpSpPr>
        <p:grpSpPr>
          <a:xfrm>
            <a:off x="-557510" y="9397109"/>
            <a:ext cx="19403020" cy="1779782"/>
            <a:chOff x="0" y="0"/>
            <a:chExt cx="5110260" cy="468749"/>
          </a:xfrm>
        </p:grpSpPr>
        <p:sp>
          <p:nvSpPr>
            <p:cNvPr id="19" name="Freeform 19">
              <a:extLst>
                <a:ext uri="{FF2B5EF4-FFF2-40B4-BE49-F238E27FC236}">
                  <a16:creationId xmlns:a16="http://schemas.microsoft.com/office/drawing/2014/main" id="{F0C0AFCF-6A79-EA57-AD48-2B81617ABB71}"/>
                </a:ext>
              </a:extLst>
            </p:cNvPr>
            <p:cNvSpPr/>
            <p:nvPr/>
          </p:nvSpPr>
          <p:spPr>
            <a:xfrm>
              <a:off x="0" y="0"/>
              <a:ext cx="5110261" cy="468749"/>
            </a:xfrm>
            <a:custGeom>
              <a:avLst/>
              <a:gdLst/>
              <a:ahLst/>
              <a:cxnLst/>
              <a:rect l="l" t="t" r="r" b="b"/>
              <a:pathLst>
                <a:path w="5110261" h="468749">
                  <a:moveTo>
                    <a:pt x="0" y="0"/>
                  </a:moveTo>
                  <a:lnTo>
                    <a:pt x="5110261" y="0"/>
                  </a:lnTo>
                  <a:lnTo>
                    <a:pt x="5110261" y="468749"/>
                  </a:lnTo>
                  <a:lnTo>
                    <a:pt x="0" y="468749"/>
                  </a:lnTo>
                  <a:close/>
                </a:path>
              </a:pathLst>
            </a:custGeom>
            <a:solidFill>
              <a:srgbClr val="8DAFA8"/>
            </a:solidFill>
          </p:spPr>
        </p:sp>
        <p:sp>
          <p:nvSpPr>
            <p:cNvPr id="20" name="TextBox 20">
              <a:extLst>
                <a:ext uri="{FF2B5EF4-FFF2-40B4-BE49-F238E27FC236}">
                  <a16:creationId xmlns:a16="http://schemas.microsoft.com/office/drawing/2014/main" id="{8E2FE4FC-BF07-1EBE-B619-9F6E589DD648}"/>
                </a:ext>
              </a:extLst>
            </p:cNvPr>
            <p:cNvSpPr txBox="1"/>
            <p:nvPr/>
          </p:nvSpPr>
          <p:spPr>
            <a:xfrm>
              <a:off x="0" y="-47625"/>
              <a:ext cx="5110260" cy="516374"/>
            </a:xfrm>
            <a:prstGeom prst="rect">
              <a:avLst/>
            </a:prstGeom>
          </p:spPr>
          <p:txBody>
            <a:bodyPr lIns="50800" tIns="50800" rIns="50800" bIns="50800" rtlCol="0" anchor="ctr"/>
            <a:lstStyle/>
            <a:p>
              <a:pPr algn="ctr">
                <a:lnSpc>
                  <a:spcPts val="2659"/>
                </a:lnSpc>
              </a:pPr>
              <a:endParaRPr/>
            </a:p>
          </p:txBody>
        </p:sp>
      </p:grpSp>
      <p:sp>
        <p:nvSpPr>
          <p:cNvPr id="23" name="TextBox 23">
            <a:extLst>
              <a:ext uri="{FF2B5EF4-FFF2-40B4-BE49-F238E27FC236}">
                <a16:creationId xmlns:a16="http://schemas.microsoft.com/office/drawing/2014/main" id="{27DA1D0E-5FEE-EB4E-14D8-8D07BCF88265}"/>
              </a:ext>
            </a:extLst>
          </p:cNvPr>
          <p:cNvSpPr txBox="1"/>
          <p:nvPr/>
        </p:nvSpPr>
        <p:spPr>
          <a:xfrm>
            <a:off x="11827243" y="1505984"/>
            <a:ext cx="5253409" cy="912089"/>
          </a:xfrm>
          <a:prstGeom prst="rect">
            <a:avLst/>
          </a:prstGeom>
        </p:spPr>
        <p:txBody>
          <a:bodyPr lIns="50800" tIns="50800" rIns="50800" bIns="50800" rtlCol="0" anchor="ctr"/>
          <a:lstStyle/>
          <a:p>
            <a:pPr algn="r">
              <a:lnSpc>
                <a:spcPts val="2659"/>
              </a:lnSpc>
            </a:pPr>
            <a:endParaRPr/>
          </a:p>
        </p:txBody>
      </p:sp>
      <p:sp>
        <p:nvSpPr>
          <p:cNvPr id="3" name="TextBox 2">
            <a:extLst>
              <a:ext uri="{FF2B5EF4-FFF2-40B4-BE49-F238E27FC236}">
                <a16:creationId xmlns:a16="http://schemas.microsoft.com/office/drawing/2014/main" id="{5B354C32-0DC5-CF2A-EBC1-A916AB69FB6B}"/>
              </a:ext>
            </a:extLst>
          </p:cNvPr>
          <p:cNvSpPr txBox="1"/>
          <p:nvPr/>
        </p:nvSpPr>
        <p:spPr>
          <a:xfrm>
            <a:off x="1207348" y="1492528"/>
            <a:ext cx="16611600" cy="7121117"/>
          </a:xfrm>
          <a:prstGeom prst="rect">
            <a:avLst/>
          </a:prstGeom>
          <a:noFill/>
        </p:spPr>
        <p:txBody>
          <a:bodyPr wrap="square">
            <a:spAutoFit/>
          </a:bodyPr>
          <a:lstStyle/>
          <a:p>
            <a:pPr marL="342900" lvl="0" indent="-342900">
              <a:lnSpc>
                <a:spcPct val="106000"/>
              </a:lnSpc>
              <a:buFont typeface="Wingdings" panose="05000000000000000000" pitchFamily="2" charset="2"/>
              <a:buChar char=""/>
            </a:pPr>
            <a:r>
              <a:rPr lang="en-IN" sz="2400" kern="100">
                <a:effectLst/>
                <a:latin typeface="ITC Franklin Gothic LT" panose="020B0604020202020204" charset="0"/>
                <a:ea typeface="Calibri" panose="020F0502020204030204" pitchFamily="34" charset="0"/>
                <a:cs typeface="Times New Roman" panose="02020603050405020304" pitchFamily="18" charset="0"/>
              </a:rPr>
              <a:t>The most preferred category was ranked in the following orders:</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342900" lvl="0" indent="-342900">
              <a:lnSpc>
                <a:spcPct val="106000"/>
              </a:lnSpc>
              <a:buFont typeface="+mj-lt"/>
              <a:buAutoNum type="arabicPeriod"/>
            </a:pPr>
            <a:r>
              <a:rPr lang="en-IN" sz="2400">
                <a:solidFill>
                  <a:srgbClr val="000000"/>
                </a:solidFill>
                <a:effectLst/>
                <a:latin typeface="ITC Franklin Gothic LT" panose="020B0604020202020204" charset="0"/>
                <a:ea typeface="Times New Roman" panose="02020603050405020304" pitchFamily="18" charset="0"/>
                <a:cs typeface="Times New Roman" panose="02020603050405020304" pitchFamily="18" charset="0"/>
              </a:rPr>
              <a:t> I work a manageable number of hours </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342900" lvl="0" indent="-342900">
              <a:lnSpc>
                <a:spcPct val="106000"/>
              </a:lnSpc>
              <a:buFont typeface="+mj-lt"/>
              <a:buAutoNum type="arabicPeriod"/>
            </a:pPr>
            <a:r>
              <a:rPr lang="en-IN" sz="2400">
                <a:solidFill>
                  <a:srgbClr val="000000"/>
                </a:solidFill>
                <a:effectLst/>
                <a:latin typeface="ITC Franklin Gothic LT" panose="020B0604020202020204" charset="0"/>
                <a:ea typeface="Times New Roman" panose="02020603050405020304" pitchFamily="18" charset="0"/>
                <a:cs typeface="Times New Roman" panose="02020603050405020304" pitchFamily="18" charset="0"/>
              </a:rPr>
              <a:t>The training opportunities have helped in improving the quality of work  </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342900" lvl="0" indent="-342900">
              <a:lnSpc>
                <a:spcPct val="106000"/>
              </a:lnSpc>
              <a:buFont typeface="+mj-lt"/>
              <a:buAutoNum type="arabicPeriod"/>
            </a:pPr>
            <a:r>
              <a:rPr lang="en-IN" sz="2400">
                <a:solidFill>
                  <a:srgbClr val="000000"/>
                </a:solidFill>
                <a:effectLst/>
                <a:latin typeface="ITC Franklin Gothic LT" panose="020B0604020202020204" charset="0"/>
                <a:ea typeface="Times New Roman" panose="02020603050405020304" pitchFamily="18" charset="0"/>
                <a:cs typeface="Times New Roman" panose="02020603050405020304" pitchFamily="18" charset="0"/>
              </a:rPr>
              <a:t>Your work environment is positive and supportive </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342900" lvl="0" indent="-342900">
              <a:lnSpc>
                <a:spcPct val="106000"/>
              </a:lnSpc>
              <a:buFont typeface="+mj-lt"/>
              <a:buAutoNum type="arabicPeriod"/>
            </a:pPr>
            <a:r>
              <a:rPr lang="en-IN" sz="2400">
                <a:solidFill>
                  <a:srgbClr val="000000"/>
                </a:solidFill>
                <a:effectLst/>
                <a:latin typeface="ITC Franklin Gothic LT" panose="020B0604020202020204" charset="0"/>
                <a:ea typeface="Times New Roman" panose="02020603050405020304" pitchFamily="18" charset="0"/>
                <a:cs typeface="Times New Roman" panose="02020603050405020304" pitchFamily="18" charset="0"/>
              </a:rPr>
              <a:t>Job suit my educational qualification </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342900" lvl="0" indent="-342900">
              <a:lnSpc>
                <a:spcPct val="106000"/>
              </a:lnSpc>
              <a:buFont typeface="+mj-lt"/>
              <a:buAutoNum type="arabicPeriod"/>
            </a:pPr>
            <a:r>
              <a:rPr lang="en-IN" sz="2400">
                <a:solidFill>
                  <a:srgbClr val="000000"/>
                </a:solidFill>
                <a:effectLst/>
                <a:latin typeface="ITC Franklin Gothic LT" panose="020B0604020202020204" charset="0"/>
                <a:ea typeface="Times New Roman" panose="02020603050405020304" pitchFamily="18" charset="0"/>
                <a:cs typeface="Times New Roman" panose="02020603050405020304" pitchFamily="18" charset="0"/>
              </a:rPr>
              <a:t>You have access to stress management programs at your current workplace</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457200">
              <a:lnSpc>
                <a:spcPct val="106000"/>
              </a:lnSpc>
            </a:pPr>
            <a:r>
              <a:rPr lang="en-IN" sz="2400">
                <a:effectLst/>
                <a:latin typeface="ITC Franklin Gothic LT" panose="020B0604020202020204" charset="0"/>
                <a:ea typeface="Calibri" panose="020F0502020204030204" pitchFamily="34" charset="0"/>
                <a:cs typeface="Times New Roman" panose="02020603050405020304" pitchFamily="18" charset="0"/>
              </a:rPr>
              <a:t> </a:t>
            </a:r>
          </a:p>
          <a:p>
            <a:pPr marL="342900" lvl="0" indent="-342900">
              <a:lnSpc>
                <a:spcPct val="106000"/>
              </a:lnSpc>
              <a:buFont typeface="Wingdings" panose="05000000000000000000" pitchFamily="2" charset="2"/>
              <a:buChar char=""/>
            </a:pPr>
            <a:r>
              <a:rPr lang="en-IN" sz="2400" kern="100">
                <a:effectLst/>
                <a:latin typeface="ITC Franklin Gothic LT" panose="020B0604020202020204" charset="0"/>
                <a:ea typeface="Calibri" panose="020F0502020204030204" pitchFamily="34" charset="0"/>
                <a:cs typeface="Times New Roman" panose="02020603050405020304" pitchFamily="18" charset="0"/>
              </a:rPr>
              <a:t>56(37.3%) of the respondents never work at home as part of their job.; 44(29.3%) of the respondents work at home as part of their job </a:t>
            </a:r>
            <a:r>
              <a:rPr lang="en-IN" sz="2400">
                <a:solidFill>
                  <a:srgbClr val="000000"/>
                </a:solidFill>
                <a:effectLst/>
                <a:latin typeface="ITC Franklin Gothic LT" panose="020B0604020202020204" charset="0"/>
                <a:ea typeface="Times New Roman" panose="02020603050405020304" pitchFamily="18" charset="0"/>
                <a:cs typeface="Times New Roman" panose="02020603050405020304" pitchFamily="18" charset="0"/>
              </a:rPr>
              <a:t>more than once a week; </a:t>
            </a:r>
            <a:r>
              <a:rPr lang="en-IN" sz="2400" kern="100">
                <a:effectLst/>
                <a:latin typeface="ITC Franklin Gothic LT" panose="020B0604020202020204" charset="0"/>
                <a:ea typeface="Calibri" panose="020F0502020204030204" pitchFamily="34" charset="0"/>
                <a:cs typeface="Times New Roman" panose="02020603050405020304" pitchFamily="18" charset="0"/>
              </a:rPr>
              <a:t>36(24%) of the respondents work at home as part of their job </a:t>
            </a:r>
            <a:r>
              <a:rPr lang="en-IN" sz="2400">
                <a:solidFill>
                  <a:srgbClr val="000000"/>
                </a:solidFill>
                <a:effectLst/>
                <a:latin typeface="ITC Franklin Gothic LT" panose="020B0604020202020204" charset="0"/>
                <a:ea typeface="Times New Roman" panose="02020603050405020304" pitchFamily="18" charset="0"/>
                <a:cs typeface="Times New Roman" panose="02020603050405020304" pitchFamily="18" charset="0"/>
              </a:rPr>
              <a:t>about once a week</a:t>
            </a:r>
            <a:r>
              <a:rPr lang="en-IN" sz="2400" kern="100">
                <a:effectLst/>
                <a:latin typeface="ITC Franklin Gothic LT" panose="020B0604020202020204" charset="0"/>
                <a:ea typeface="Calibri" panose="020F0502020204030204" pitchFamily="34" charset="0"/>
                <a:cs typeface="Times New Roman" panose="02020603050405020304" pitchFamily="18" charset="0"/>
              </a:rPr>
              <a:t>; 14(9.3%) of the respondents </a:t>
            </a:r>
            <a:r>
              <a:rPr lang="en-IN" sz="2400">
                <a:solidFill>
                  <a:srgbClr val="000000"/>
                </a:solidFill>
                <a:effectLst/>
                <a:latin typeface="ITC Franklin Gothic LT" panose="020B0604020202020204" charset="0"/>
                <a:ea typeface="Times New Roman" panose="02020603050405020304" pitchFamily="18" charset="0"/>
                <a:cs typeface="Times New Roman" panose="02020603050405020304" pitchFamily="18" charset="0"/>
              </a:rPr>
              <a:t>mainly</a:t>
            </a:r>
            <a:r>
              <a:rPr lang="en-IN" sz="2400" b="1">
                <a:solidFill>
                  <a:srgbClr val="000000"/>
                </a:solidFill>
                <a:effectLst/>
                <a:latin typeface="ITC Franklin Gothic LT" panose="020B0604020202020204" charset="0"/>
                <a:ea typeface="Times New Roman" panose="02020603050405020304" pitchFamily="18" charset="0"/>
                <a:cs typeface="Times New Roman" panose="02020603050405020304" pitchFamily="18" charset="0"/>
              </a:rPr>
              <a:t> </a:t>
            </a:r>
            <a:r>
              <a:rPr lang="en-IN" sz="2400" kern="100">
                <a:effectLst/>
                <a:latin typeface="ITC Franklin Gothic LT" panose="020B0604020202020204" charset="0"/>
                <a:ea typeface="Calibri" panose="020F0502020204030204" pitchFamily="34" charset="0"/>
                <a:cs typeface="Times New Roman" panose="02020603050405020304" pitchFamily="18" charset="0"/>
              </a:rPr>
              <a:t>work at home as part of their job.</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914400">
              <a:lnSpc>
                <a:spcPct val="106000"/>
              </a:lnSpc>
            </a:pPr>
            <a:r>
              <a:rPr lang="en-IN" sz="2400" kern="100">
                <a:effectLst/>
                <a:latin typeface="ITC Franklin Gothic LT" panose="020B0604020202020204" charset="0"/>
                <a:ea typeface="Calibri" panose="020F0502020204030204" pitchFamily="34" charset="0"/>
                <a:cs typeface="Times New Roman" panose="02020603050405020304" pitchFamily="18" charset="0"/>
              </a:rPr>
              <a:t> </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342900" lvl="0" indent="-342900">
              <a:lnSpc>
                <a:spcPct val="106000"/>
              </a:lnSpc>
              <a:buFont typeface="Wingdings" panose="05000000000000000000" pitchFamily="2" charset="2"/>
              <a:buChar char=""/>
            </a:pPr>
            <a:r>
              <a:rPr lang="en-IN" sz="2400" kern="100">
                <a:effectLst/>
                <a:latin typeface="ITC Franklin Gothic LT" panose="020B0604020202020204" charset="0"/>
                <a:ea typeface="Calibri" panose="020F0502020204030204" pitchFamily="34" charset="0"/>
                <a:cs typeface="Times New Roman" panose="02020603050405020304" pitchFamily="18" charset="0"/>
              </a:rPr>
              <a:t>109 (72.7%) of the respondents declared that their organization provides them with health benefits; 41(27.3%) of the respondents declared that their organization does not provide them with health benefits.</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914400">
              <a:lnSpc>
                <a:spcPct val="106000"/>
              </a:lnSpc>
            </a:pPr>
            <a:r>
              <a:rPr lang="en-IN" sz="2400" kern="100">
                <a:effectLst/>
                <a:latin typeface="ITC Franklin Gothic LT" panose="020B0604020202020204" charset="0"/>
                <a:ea typeface="Calibri" panose="020F0502020204030204" pitchFamily="34" charset="0"/>
                <a:cs typeface="Times New Roman" panose="02020603050405020304" pitchFamily="18" charset="0"/>
              </a:rPr>
              <a:t> </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342900" lvl="0" indent="-342900">
              <a:lnSpc>
                <a:spcPct val="106000"/>
              </a:lnSpc>
              <a:buFont typeface="Wingdings" panose="05000000000000000000" pitchFamily="2" charset="2"/>
              <a:buChar char=""/>
            </a:pPr>
            <a:r>
              <a:rPr lang="en-IN" sz="2400" kern="100">
                <a:effectLst/>
                <a:latin typeface="ITC Franklin Gothic LT" panose="020B0604020202020204" charset="0"/>
                <a:ea typeface="Calibri" panose="020F0502020204030204" pitchFamily="34" charset="0"/>
                <a:cs typeface="Times New Roman" panose="02020603050405020304" pitchFamily="18" charset="0"/>
              </a:rPr>
              <a:t>82(54.7%) of the respondents are somewhat satisfied with their job; 37(24.7%) of the respondents are very satisfied with their job; 25(16.7%) of the respondents are not too satisfied with their job; 6(4%) of the respondents are not at all satisfied with their job.</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914400">
              <a:lnSpc>
                <a:spcPct val="106000"/>
              </a:lnSpc>
            </a:pPr>
            <a:r>
              <a:rPr lang="en-IN" sz="2400" kern="100">
                <a:effectLst/>
                <a:latin typeface="ITC Franklin Gothic LT" panose="020B0604020202020204" charset="0"/>
                <a:ea typeface="Calibri" panose="020F0502020204030204" pitchFamily="34" charset="0"/>
                <a:cs typeface="Times New Roman" panose="02020603050405020304" pitchFamily="18" charset="0"/>
              </a:rPr>
              <a:t> </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352355556"/>
      </p:ext>
    </p:extLst>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7EF"/>
        </a:solidFill>
        <a:effectLst/>
      </p:bgPr>
    </p:bg>
    <p:spTree>
      <p:nvGrpSpPr>
        <p:cNvPr id="1" name="">
          <a:extLst>
            <a:ext uri="{FF2B5EF4-FFF2-40B4-BE49-F238E27FC236}">
              <a16:creationId xmlns:a16="http://schemas.microsoft.com/office/drawing/2014/main" id="{9465A1A0-5B3D-A73C-8AF5-70273D20EAE3}"/>
            </a:ext>
          </a:extLst>
        </p:cNvPr>
        <p:cNvGrpSpPr/>
        <p:nvPr/>
      </p:nvGrpSpPr>
      <p:grpSpPr>
        <a:xfrm>
          <a:off x="0" y="0"/>
          <a:ext cx="0" cy="0"/>
          <a:chOff x="0" y="0"/>
          <a:chExt cx="0" cy="0"/>
        </a:xfrm>
      </p:grpSpPr>
      <p:grpSp>
        <p:nvGrpSpPr>
          <p:cNvPr id="15" name="Group 15">
            <a:extLst>
              <a:ext uri="{FF2B5EF4-FFF2-40B4-BE49-F238E27FC236}">
                <a16:creationId xmlns:a16="http://schemas.microsoft.com/office/drawing/2014/main" id="{0669845D-E566-2AD7-E98D-D2C90087FDB0}"/>
              </a:ext>
            </a:extLst>
          </p:cNvPr>
          <p:cNvGrpSpPr/>
          <p:nvPr/>
        </p:nvGrpSpPr>
        <p:grpSpPr>
          <a:xfrm>
            <a:off x="-557510" y="-889891"/>
            <a:ext cx="19403020" cy="1779782"/>
            <a:chOff x="0" y="0"/>
            <a:chExt cx="5110260" cy="468749"/>
          </a:xfrm>
        </p:grpSpPr>
        <p:sp>
          <p:nvSpPr>
            <p:cNvPr id="16" name="Freeform 16">
              <a:extLst>
                <a:ext uri="{FF2B5EF4-FFF2-40B4-BE49-F238E27FC236}">
                  <a16:creationId xmlns:a16="http://schemas.microsoft.com/office/drawing/2014/main" id="{FA736179-F1BE-7971-46EA-C887FCF3E59D}"/>
                </a:ext>
              </a:extLst>
            </p:cNvPr>
            <p:cNvSpPr/>
            <p:nvPr/>
          </p:nvSpPr>
          <p:spPr>
            <a:xfrm>
              <a:off x="0" y="0"/>
              <a:ext cx="5110261" cy="468749"/>
            </a:xfrm>
            <a:custGeom>
              <a:avLst/>
              <a:gdLst/>
              <a:ahLst/>
              <a:cxnLst/>
              <a:rect l="l" t="t" r="r" b="b"/>
              <a:pathLst>
                <a:path w="5110261" h="468749">
                  <a:moveTo>
                    <a:pt x="0" y="0"/>
                  </a:moveTo>
                  <a:lnTo>
                    <a:pt x="5110261" y="0"/>
                  </a:lnTo>
                  <a:lnTo>
                    <a:pt x="5110261" y="468749"/>
                  </a:lnTo>
                  <a:lnTo>
                    <a:pt x="0" y="468749"/>
                  </a:lnTo>
                  <a:close/>
                </a:path>
              </a:pathLst>
            </a:custGeom>
            <a:solidFill>
              <a:srgbClr val="8DAFA8"/>
            </a:solidFill>
          </p:spPr>
        </p:sp>
        <p:sp>
          <p:nvSpPr>
            <p:cNvPr id="17" name="TextBox 17">
              <a:extLst>
                <a:ext uri="{FF2B5EF4-FFF2-40B4-BE49-F238E27FC236}">
                  <a16:creationId xmlns:a16="http://schemas.microsoft.com/office/drawing/2014/main" id="{B8863E82-6293-70DB-F900-5411E4D9C0DA}"/>
                </a:ext>
              </a:extLst>
            </p:cNvPr>
            <p:cNvSpPr txBox="1"/>
            <p:nvPr/>
          </p:nvSpPr>
          <p:spPr>
            <a:xfrm>
              <a:off x="0" y="-47625"/>
              <a:ext cx="5110260" cy="516374"/>
            </a:xfrm>
            <a:prstGeom prst="rect">
              <a:avLst/>
            </a:prstGeom>
          </p:spPr>
          <p:txBody>
            <a:bodyPr lIns="50800" tIns="50800" rIns="50800" bIns="50800" rtlCol="0" anchor="ctr"/>
            <a:lstStyle/>
            <a:p>
              <a:pPr algn="ctr">
                <a:lnSpc>
                  <a:spcPts val="2659"/>
                </a:lnSpc>
              </a:pPr>
              <a:endParaRPr/>
            </a:p>
          </p:txBody>
        </p:sp>
      </p:grpSp>
      <p:grpSp>
        <p:nvGrpSpPr>
          <p:cNvPr id="18" name="Group 18">
            <a:extLst>
              <a:ext uri="{FF2B5EF4-FFF2-40B4-BE49-F238E27FC236}">
                <a16:creationId xmlns:a16="http://schemas.microsoft.com/office/drawing/2014/main" id="{40ED8044-0485-8B95-82AA-A2805119EC8A}"/>
              </a:ext>
            </a:extLst>
          </p:cNvPr>
          <p:cNvGrpSpPr/>
          <p:nvPr/>
        </p:nvGrpSpPr>
        <p:grpSpPr>
          <a:xfrm>
            <a:off x="-557510" y="9397109"/>
            <a:ext cx="19403020" cy="1779782"/>
            <a:chOff x="0" y="0"/>
            <a:chExt cx="5110260" cy="468749"/>
          </a:xfrm>
        </p:grpSpPr>
        <p:sp>
          <p:nvSpPr>
            <p:cNvPr id="19" name="Freeform 19">
              <a:extLst>
                <a:ext uri="{FF2B5EF4-FFF2-40B4-BE49-F238E27FC236}">
                  <a16:creationId xmlns:a16="http://schemas.microsoft.com/office/drawing/2014/main" id="{484A6E36-8B8F-6AB6-D0A3-6D6BA4789F00}"/>
                </a:ext>
              </a:extLst>
            </p:cNvPr>
            <p:cNvSpPr/>
            <p:nvPr/>
          </p:nvSpPr>
          <p:spPr>
            <a:xfrm>
              <a:off x="0" y="0"/>
              <a:ext cx="5110261" cy="468749"/>
            </a:xfrm>
            <a:custGeom>
              <a:avLst/>
              <a:gdLst/>
              <a:ahLst/>
              <a:cxnLst/>
              <a:rect l="l" t="t" r="r" b="b"/>
              <a:pathLst>
                <a:path w="5110261" h="468749">
                  <a:moveTo>
                    <a:pt x="0" y="0"/>
                  </a:moveTo>
                  <a:lnTo>
                    <a:pt x="5110261" y="0"/>
                  </a:lnTo>
                  <a:lnTo>
                    <a:pt x="5110261" y="468749"/>
                  </a:lnTo>
                  <a:lnTo>
                    <a:pt x="0" y="468749"/>
                  </a:lnTo>
                  <a:close/>
                </a:path>
              </a:pathLst>
            </a:custGeom>
            <a:solidFill>
              <a:srgbClr val="8DAFA8"/>
            </a:solidFill>
          </p:spPr>
        </p:sp>
        <p:sp>
          <p:nvSpPr>
            <p:cNvPr id="20" name="TextBox 20">
              <a:extLst>
                <a:ext uri="{FF2B5EF4-FFF2-40B4-BE49-F238E27FC236}">
                  <a16:creationId xmlns:a16="http://schemas.microsoft.com/office/drawing/2014/main" id="{CF9A0A1A-C061-54DF-1EC9-FE695A644FAD}"/>
                </a:ext>
              </a:extLst>
            </p:cNvPr>
            <p:cNvSpPr txBox="1"/>
            <p:nvPr/>
          </p:nvSpPr>
          <p:spPr>
            <a:xfrm>
              <a:off x="0" y="-47625"/>
              <a:ext cx="5110260" cy="516374"/>
            </a:xfrm>
            <a:prstGeom prst="rect">
              <a:avLst/>
            </a:prstGeom>
          </p:spPr>
          <p:txBody>
            <a:bodyPr lIns="50800" tIns="50800" rIns="50800" bIns="50800" rtlCol="0" anchor="ctr"/>
            <a:lstStyle/>
            <a:p>
              <a:pPr algn="ctr">
                <a:lnSpc>
                  <a:spcPts val="2659"/>
                </a:lnSpc>
              </a:pPr>
              <a:endParaRPr/>
            </a:p>
          </p:txBody>
        </p:sp>
      </p:grpSp>
      <p:sp>
        <p:nvSpPr>
          <p:cNvPr id="23" name="TextBox 23">
            <a:extLst>
              <a:ext uri="{FF2B5EF4-FFF2-40B4-BE49-F238E27FC236}">
                <a16:creationId xmlns:a16="http://schemas.microsoft.com/office/drawing/2014/main" id="{15AC8E70-2F45-5B54-6F52-8AD261934D7D}"/>
              </a:ext>
            </a:extLst>
          </p:cNvPr>
          <p:cNvSpPr txBox="1"/>
          <p:nvPr/>
        </p:nvSpPr>
        <p:spPr>
          <a:xfrm>
            <a:off x="11827243" y="1505984"/>
            <a:ext cx="5253409" cy="912089"/>
          </a:xfrm>
          <a:prstGeom prst="rect">
            <a:avLst/>
          </a:prstGeom>
        </p:spPr>
        <p:txBody>
          <a:bodyPr lIns="50800" tIns="50800" rIns="50800" bIns="50800" rtlCol="0" anchor="ctr"/>
          <a:lstStyle/>
          <a:p>
            <a:pPr algn="r">
              <a:lnSpc>
                <a:spcPts val="2659"/>
              </a:lnSpc>
            </a:pPr>
            <a:endParaRPr/>
          </a:p>
        </p:txBody>
      </p:sp>
      <p:sp>
        <p:nvSpPr>
          <p:cNvPr id="4" name="TextBox 3">
            <a:extLst>
              <a:ext uri="{FF2B5EF4-FFF2-40B4-BE49-F238E27FC236}">
                <a16:creationId xmlns:a16="http://schemas.microsoft.com/office/drawing/2014/main" id="{246F9F8B-0EE2-6F02-8377-054C6CC56283}"/>
              </a:ext>
            </a:extLst>
          </p:cNvPr>
          <p:cNvSpPr txBox="1"/>
          <p:nvPr/>
        </p:nvSpPr>
        <p:spPr>
          <a:xfrm>
            <a:off x="1524000" y="1335887"/>
            <a:ext cx="15773400" cy="7615226"/>
          </a:xfrm>
          <a:prstGeom prst="rect">
            <a:avLst/>
          </a:prstGeom>
          <a:noFill/>
        </p:spPr>
        <p:txBody>
          <a:bodyPr wrap="square">
            <a:spAutoFit/>
          </a:bodyPr>
          <a:lstStyle/>
          <a:p>
            <a:pPr marL="342900" lvl="0" indent="-342900">
              <a:lnSpc>
                <a:spcPct val="106000"/>
              </a:lnSpc>
              <a:buFont typeface="Wingdings" panose="05000000000000000000" pitchFamily="2" charset="2"/>
              <a:buChar char=""/>
            </a:pPr>
            <a:r>
              <a:rPr lang="en-IN" sz="2400" kern="100">
                <a:effectLst/>
                <a:latin typeface="ITC Franklin Gothic LT" panose="020B0604020202020204" charset="0"/>
                <a:ea typeface="Calibri" panose="020F0502020204030204" pitchFamily="34" charset="0"/>
                <a:cs typeface="Times New Roman" panose="02020603050405020304" pitchFamily="18" charset="0"/>
              </a:rPr>
              <a:t>The most preferred category was ranked in the following orders:</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457200">
              <a:lnSpc>
                <a:spcPct val="106000"/>
              </a:lnSpc>
            </a:pPr>
            <a:r>
              <a:rPr lang="en-IN" sz="2400">
                <a:solidFill>
                  <a:srgbClr val="000000"/>
                </a:solidFill>
                <a:effectLst/>
                <a:latin typeface="ITC Franklin Gothic LT" panose="020B0604020202020204" charset="0"/>
                <a:ea typeface="Times New Roman" panose="02020603050405020304" pitchFamily="18" charset="0"/>
                <a:cs typeface="Times New Roman" panose="02020603050405020304" pitchFamily="18" charset="0"/>
              </a:rPr>
              <a:t> </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342900" lvl="0" indent="-342900">
              <a:lnSpc>
                <a:spcPct val="106000"/>
              </a:lnSpc>
              <a:buFont typeface="+mj-lt"/>
              <a:buAutoNum type="arabicPeriod"/>
            </a:pPr>
            <a:r>
              <a:rPr lang="en-IN" sz="2400">
                <a:solidFill>
                  <a:srgbClr val="000000"/>
                </a:solidFill>
                <a:effectLst/>
                <a:latin typeface="ITC Franklin Gothic LT" panose="020B0604020202020204" charset="0"/>
                <a:ea typeface="Times New Roman" panose="02020603050405020304" pitchFamily="18" charset="0"/>
                <a:cs typeface="Times New Roman" panose="02020603050405020304" pitchFamily="18" charset="0"/>
              </a:rPr>
              <a:t> Appreciation for your work </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342900" lvl="0" indent="-342900">
              <a:lnSpc>
                <a:spcPct val="106000"/>
              </a:lnSpc>
              <a:buFont typeface="+mj-lt"/>
              <a:buAutoNum type="arabicPeriod"/>
            </a:pPr>
            <a:r>
              <a:rPr lang="en-IN" sz="2400">
                <a:solidFill>
                  <a:srgbClr val="000000"/>
                </a:solidFill>
                <a:effectLst/>
                <a:latin typeface="ITC Franklin Gothic LT" panose="020B0604020202020204" charset="0"/>
                <a:ea typeface="Times New Roman" panose="02020603050405020304" pitchFamily="18" charset="0"/>
                <a:cs typeface="Times New Roman" panose="02020603050405020304" pitchFamily="18" charset="0"/>
              </a:rPr>
              <a:t>Learning and career development </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342900" lvl="0" indent="-342900">
              <a:lnSpc>
                <a:spcPct val="106000"/>
              </a:lnSpc>
              <a:buFont typeface="+mj-lt"/>
              <a:buAutoNum type="arabicPeriod"/>
            </a:pPr>
            <a:r>
              <a:rPr lang="en-IN" sz="2400">
                <a:solidFill>
                  <a:srgbClr val="000000"/>
                </a:solidFill>
                <a:effectLst/>
                <a:latin typeface="ITC Franklin Gothic LT" panose="020B0604020202020204" charset="0"/>
                <a:ea typeface="Times New Roman" panose="02020603050405020304" pitchFamily="18" charset="0"/>
                <a:cs typeface="Times New Roman" panose="02020603050405020304" pitchFamily="18" charset="0"/>
              </a:rPr>
              <a:t>Job security </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342900" lvl="0" indent="-342900">
              <a:lnSpc>
                <a:spcPct val="106000"/>
              </a:lnSpc>
              <a:buFont typeface="+mj-lt"/>
              <a:buAutoNum type="arabicPeriod"/>
            </a:pPr>
            <a:r>
              <a:rPr lang="en-IN" sz="2400">
                <a:solidFill>
                  <a:srgbClr val="000000"/>
                </a:solidFill>
                <a:effectLst/>
                <a:latin typeface="ITC Franklin Gothic LT" panose="020B0604020202020204" charset="0"/>
                <a:ea typeface="Times New Roman" panose="02020603050405020304" pitchFamily="18" charset="0"/>
                <a:cs typeface="Times New Roman" panose="02020603050405020304" pitchFamily="18" charset="0"/>
              </a:rPr>
              <a:t>Attractive fixed salary</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342900">
              <a:lnSpc>
                <a:spcPct val="106000"/>
              </a:lnSpc>
            </a:pPr>
            <a:r>
              <a:rPr lang="en-IN" sz="2400">
                <a:effectLst/>
                <a:latin typeface="ITC Franklin Gothic LT" panose="020B0604020202020204" charset="0"/>
                <a:ea typeface="Calibri" panose="020F0502020204030204" pitchFamily="34" charset="0"/>
                <a:cs typeface="Times New Roman" panose="02020603050405020304" pitchFamily="18" charset="0"/>
              </a:rPr>
              <a:t> </a:t>
            </a:r>
          </a:p>
          <a:p>
            <a:pPr marL="342900" lvl="0" indent="-342900">
              <a:lnSpc>
                <a:spcPct val="106000"/>
              </a:lnSpc>
              <a:buFont typeface="Wingdings" panose="05000000000000000000" pitchFamily="2" charset="2"/>
              <a:buChar char=""/>
            </a:pPr>
            <a:r>
              <a:rPr lang="en-IN" sz="2400" kern="100">
                <a:effectLst/>
                <a:latin typeface="ITC Franklin Gothic LT" panose="020B0604020202020204" charset="0"/>
                <a:ea typeface="Calibri" panose="020F0502020204030204" pitchFamily="34" charset="0"/>
                <a:cs typeface="Times New Roman" panose="02020603050405020304" pitchFamily="18" charset="0"/>
              </a:rPr>
              <a:t>123(82%) respondents</a:t>
            </a:r>
            <a:r>
              <a:rPr lang="en-IN" sz="2400" b="1" kern="100">
                <a:effectLst/>
                <a:latin typeface="ITC Franklin Gothic LT" panose="020B0604020202020204" charset="0"/>
                <a:ea typeface="Calibri" panose="020F0502020204030204" pitchFamily="34" charset="0"/>
                <a:cs typeface="Times New Roman" panose="02020603050405020304" pitchFamily="18" charset="0"/>
              </a:rPr>
              <a:t> </a:t>
            </a:r>
            <a:r>
              <a:rPr lang="en-IN" sz="2400" kern="100">
                <a:effectLst/>
                <a:latin typeface="ITC Franklin Gothic LT" panose="020B0604020202020204" charset="0"/>
                <a:ea typeface="Calibri" panose="020F0502020204030204" pitchFamily="34" charset="0"/>
                <a:cs typeface="Times New Roman" panose="02020603050405020304" pitchFamily="18" charset="0"/>
              </a:rPr>
              <a:t>think that employees in their organization are skilled, motivated, and productive; 27(18%) respondents</a:t>
            </a:r>
            <a:r>
              <a:rPr lang="en-IN" sz="2400" b="1" kern="100">
                <a:effectLst/>
                <a:latin typeface="ITC Franklin Gothic LT" panose="020B0604020202020204" charset="0"/>
                <a:ea typeface="Calibri" panose="020F0502020204030204" pitchFamily="34" charset="0"/>
                <a:cs typeface="Times New Roman" panose="02020603050405020304" pitchFamily="18" charset="0"/>
              </a:rPr>
              <a:t> </a:t>
            </a:r>
            <a:r>
              <a:rPr lang="en-IN" sz="2400" kern="100">
                <a:effectLst/>
                <a:latin typeface="ITC Franklin Gothic LT" panose="020B0604020202020204" charset="0"/>
                <a:ea typeface="Calibri" panose="020F0502020204030204" pitchFamily="34" charset="0"/>
                <a:cs typeface="Times New Roman" panose="02020603050405020304" pitchFamily="18" charset="0"/>
              </a:rPr>
              <a:t>think that employees in their organization are not skilled, motivated, and productive.</a:t>
            </a:r>
            <a:endParaRPr lang="en-IN" sz="2400">
              <a:latin typeface="ITC Franklin Gothic LT" panose="020B0604020202020204" charset="0"/>
              <a:ea typeface="Calibri" panose="020F0502020204030204" pitchFamily="34" charset="0"/>
              <a:cs typeface="Times New Roman" panose="02020603050405020304" pitchFamily="18" charset="0"/>
            </a:endParaRPr>
          </a:p>
          <a:p>
            <a:pPr marL="342900" lvl="0" indent="-342900">
              <a:lnSpc>
                <a:spcPct val="106000"/>
              </a:lnSpc>
              <a:buFont typeface="Wingdings" panose="05000000000000000000" pitchFamily="2" charset="2"/>
              <a:buChar char=""/>
            </a:pPr>
            <a:r>
              <a:rPr lang="en-IN" sz="2400" kern="100">
                <a:effectLst/>
                <a:latin typeface="ITC Franklin Gothic LT" panose="020B0604020202020204" charset="0"/>
                <a:ea typeface="Calibri" panose="020F0502020204030204" pitchFamily="34" charset="0"/>
                <a:cs typeface="Times New Roman" panose="02020603050405020304" pitchFamily="18" charset="0"/>
              </a:rPr>
              <a:t> According to the table</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a:lnSpc>
                <a:spcPct val="106000"/>
              </a:lnSpc>
              <a:spcAft>
                <a:spcPts val="800"/>
              </a:spcAft>
            </a:pPr>
            <a:r>
              <a:rPr lang="en-IN" sz="2400" b="1">
                <a:effectLst/>
                <a:latin typeface="ITC Franklin Gothic LT" panose="020B0604020202020204" charset="0"/>
                <a:ea typeface="Calibri" panose="020F0502020204030204" pitchFamily="34" charset="0"/>
                <a:cs typeface="Times New Roman" panose="02020603050405020304" pitchFamily="18" charset="0"/>
              </a:rPr>
              <a:t>       Most of the respondents agreed that:</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342900" lvl="0" indent="-342900">
              <a:lnSpc>
                <a:spcPct val="106000"/>
              </a:lnSpc>
              <a:buFont typeface="Arial" panose="020B0604020202020204" pitchFamily="34" charset="0"/>
              <a:buChar char="•"/>
            </a:pPr>
            <a:r>
              <a:rPr lang="en-IN" sz="2400">
                <a:solidFill>
                  <a:srgbClr val="000000"/>
                </a:solidFill>
                <a:effectLst/>
                <a:latin typeface="ITC Franklin Gothic LT" panose="020B0604020202020204" charset="0"/>
                <a:ea typeface="Times New Roman" panose="02020603050405020304" pitchFamily="18" charset="0"/>
                <a:cs typeface="Times New Roman" panose="02020603050405020304" pitchFamily="18" charset="0"/>
              </a:rPr>
              <a:t>My job requires that I keep learning new things. (mean =3.76)</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342900" lvl="0" indent="-342900">
              <a:lnSpc>
                <a:spcPct val="106000"/>
              </a:lnSpc>
              <a:buFont typeface="Arial" panose="020B0604020202020204" pitchFamily="34" charset="0"/>
              <a:buChar char="•"/>
            </a:pPr>
            <a:r>
              <a:rPr lang="en-IN" sz="2400">
                <a:solidFill>
                  <a:srgbClr val="000000"/>
                </a:solidFill>
                <a:effectLst/>
                <a:latin typeface="ITC Franklin Gothic LT" panose="020B0604020202020204" charset="0"/>
                <a:ea typeface="Times New Roman" panose="02020603050405020304" pitchFamily="18" charset="0"/>
                <a:cs typeface="Times New Roman" panose="02020603050405020304" pitchFamily="18" charset="0"/>
              </a:rPr>
              <a:t>The safety and health conditions where I work are good. (mean =3.63)</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342900" lvl="0" indent="-342900">
              <a:lnSpc>
                <a:spcPct val="106000"/>
              </a:lnSpc>
              <a:buFont typeface="Arial" panose="020B0604020202020204" pitchFamily="34" charset="0"/>
              <a:buChar char="•"/>
            </a:pPr>
            <a:r>
              <a:rPr lang="en-IN" sz="2400">
                <a:solidFill>
                  <a:srgbClr val="000000"/>
                </a:solidFill>
                <a:effectLst/>
                <a:latin typeface="ITC Franklin Gothic LT" panose="020B0604020202020204" charset="0"/>
                <a:ea typeface="Times New Roman" panose="02020603050405020304" pitchFamily="18" charset="0"/>
                <a:cs typeface="Times New Roman" panose="02020603050405020304" pitchFamily="18" charset="0"/>
              </a:rPr>
              <a:t>My job lets me use my skills and abilities. (mean =3.51)</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342900" lvl="0" indent="-342900">
              <a:lnSpc>
                <a:spcPct val="106000"/>
              </a:lnSpc>
              <a:buFont typeface="Arial" panose="020B0604020202020204" pitchFamily="34" charset="0"/>
              <a:buChar char="•"/>
            </a:pPr>
            <a:r>
              <a:rPr lang="en-IN" sz="2400">
                <a:solidFill>
                  <a:srgbClr val="000000"/>
                </a:solidFill>
                <a:effectLst/>
                <a:latin typeface="ITC Franklin Gothic LT" panose="020B0604020202020204" charset="0"/>
                <a:ea typeface="Times New Roman" panose="02020603050405020304" pitchFamily="18" charset="0"/>
                <a:cs typeface="Times New Roman" panose="02020603050405020304" pitchFamily="18" charset="0"/>
              </a:rPr>
              <a:t>My supervisor treats me fairly. (mean =3.39)</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342900" lvl="0" indent="-342900">
              <a:lnSpc>
                <a:spcPct val="106000"/>
              </a:lnSpc>
              <a:buFont typeface="Arial" panose="020B0604020202020204" pitchFamily="34" charset="0"/>
              <a:buChar char="•"/>
            </a:pPr>
            <a:r>
              <a:rPr lang="en-IN" sz="2400">
                <a:solidFill>
                  <a:srgbClr val="000000"/>
                </a:solidFill>
                <a:effectLst/>
                <a:latin typeface="ITC Franklin Gothic LT" panose="020B0604020202020204" charset="0"/>
                <a:ea typeface="Times New Roman" panose="02020603050405020304" pitchFamily="18" charset="0"/>
                <a:cs typeface="Times New Roman" panose="02020603050405020304" pitchFamily="18" charset="0"/>
              </a:rPr>
              <a:t>Promotions are handled fairly. (mean =3.37)</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342900" lvl="0" indent="-342900">
              <a:lnSpc>
                <a:spcPct val="106000"/>
              </a:lnSpc>
              <a:buFont typeface="Arial" panose="020B0604020202020204" pitchFamily="34" charset="0"/>
              <a:buChar char="•"/>
            </a:pPr>
            <a:r>
              <a:rPr lang="en-IN" sz="2400">
                <a:solidFill>
                  <a:srgbClr val="000000"/>
                </a:solidFill>
                <a:effectLst/>
                <a:latin typeface="ITC Franklin Gothic LT" panose="020B0604020202020204" charset="0"/>
                <a:ea typeface="Times New Roman" panose="02020603050405020304" pitchFamily="18" charset="0"/>
                <a:cs typeface="Times New Roman" panose="02020603050405020304" pitchFamily="18" charset="0"/>
              </a:rPr>
              <a:t>My employer provides adequate facilities and flexibility for me to fit work around my family life. (mean =3.31)</a:t>
            </a:r>
            <a:endParaRPr lang="en-IN" sz="2400">
              <a:solidFill>
                <a:srgbClr val="000000"/>
              </a:solidFill>
              <a:latin typeface="ITC Franklin Gothic LT" panose="020B0604020202020204" charset="0"/>
              <a:ea typeface="Calibri" panose="020F0502020204030204" pitchFamily="34" charset="0"/>
              <a:cs typeface="Times New Roman" panose="02020603050405020304" pitchFamily="18" charset="0"/>
            </a:endParaRPr>
          </a:p>
          <a:p>
            <a:pPr lvl="0">
              <a:lnSpc>
                <a:spcPct val="106000"/>
              </a:lnSpc>
            </a:pPr>
            <a:r>
              <a:rPr lang="en-IN" sz="2400" b="1">
                <a:solidFill>
                  <a:srgbClr val="000000"/>
                </a:solidFill>
                <a:effectLst/>
                <a:latin typeface="ITC Franklin Gothic LT" panose="020B0604020202020204" charset="0"/>
                <a:ea typeface="Calibri" panose="020F0502020204030204" pitchFamily="34" charset="0"/>
                <a:cs typeface="Times New Roman" panose="02020603050405020304" pitchFamily="18" charset="0"/>
              </a:rPr>
              <a:t>       </a:t>
            </a:r>
            <a:r>
              <a:rPr lang="en-IN" sz="2400" b="1">
                <a:effectLst/>
                <a:latin typeface="ITC Franklin Gothic LT" panose="020B0604020202020204" charset="0"/>
                <a:ea typeface="Calibri" panose="020F0502020204030204" pitchFamily="34" charset="0"/>
                <a:cs typeface="Times New Roman" panose="02020603050405020304" pitchFamily="18" charset="0"/>
              </a:rPr>
              <a:t>Most of the respondents disagreed that:</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342900" lvl="0" indent="-342900">
              <a:lnSpc>
                <a:spcPct val="106000"/>
              </a:lnSpc>
              <a:spcAft>
                <a:spcPts val="800"/>
              </a:spcAft>
              <a:buFont typeface="Wingdings" panose="05000000000000000000" pitchFamily="2" charset="2"/>
              <a:buChar char=""/>
            </a:pPr>
            <a:r>
              <a:rPr lang="en-IN" sz="2400">
                <a:solidFill>
                  <a:srgbClr val="000000"/>
                </a:solidFill>
                <a:effectLst/>
                <a:latin typeface="ITC Franklin Gothic LT" panose="020B0604020202020204" charset="0"/>
                <a:ea typeface="Times New Roman" panose="02020603050405020304" pitchFamily="18" charset="0"/>
                <a:cs typeface="Times New Roman" panose="02020603050405020304" pitchFamily="18" charset="0"/>
              </a:rPr>
              <a:t>Work Load is less as compared to other companies. (mean =3.25)</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402420478"/>
      </p:ext>
    </p:extLst>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7EF"/>
        </a:solidFill>
        <a:effectLst/>
      </p:bgPr>
    </p:bg>
    <p:spTree>
      <p:nvGrpSpPr>
        <p:cNvPr id="1" name="">
          <a:extLst>
            <a:ext uri="{FF2B5EF4-FFF2-40B4-BE49-F238E27FC236}">
              <a16:creationId xmlns:a16="http://schemas.microsoft.com/office/drawing/2014/main" id="{FB1A8258-54F6-0A1F-F246-2D14808BFB6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1AA78EA-B382-9085-ABE4-39DA37DF15B3}"/>
              </a:ext>
            </a:extLst>
          </p:cNvPr>
          <p:cNvGrpSpPr/>
          <p:nvPr/>
        </p:nvGrpSpPr>
        <p:grpSpPr>
          <a:xfrm>
            <a:off x="4917956" y="5085847"/>
            <a:ext cx="3827651" cy="3827651"/>
            <a:chOff x="0" y="0"/>
            <a:chExt cx="812800" cy="812800"/>
          </a:xfrm>
        </p:grpSpPr>
        <p:sp>
          <p:nvSpPr>
            <p:cNvPr id="3" name="Freeform 3">
              <a:extLst>
                <a:ext uri="{FF2B5EF4-FFF2-40B4-BE49-F238E27FC236}">
                  <a16:creationId xmlns:a16="http://schemas.microsoft.com/office/drawing/2014/main" id="{4266BDEF-4CE1-800B-EBFA-1A0437D4F0C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DAFA8">
                <a:alpha val="40000"/>
              </a:srgbClr>
            </a:solidFill>
          </p:spPr>
        </p:sp>
        <p:sp>
          <p:nvSpPr>
            <p:cNvPr id="4" name="TextBox 4">
              <a:extLst>
                <a:ext uri="{FF2B5EF4-FFF2-40B4-BE49-F238E27FC236}">
                  <a16:creationId xmlns:a16="http://schemas.microsoft.com/office/drawing/2014/main" id="{7987D69A-1085-F0E0-7ACC-7BEFBB9CA33F}"/>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 name="Group 5">
            <a:extLst>
              <a:ext uri="{FF2B5EF4-FFF2-40B4-BE49-F238E27FC236}">
                <a16:creationId xmlns:a16="http://schemas.microsoft.com/office/drawing/2014/main" id="{769D9D80-CC9D-CDD8-4C9D-88375740ED48}"/>
              </a:ext>
            </a:extLst>
          </p:cNvPr>
          <p:cNvGrpSpPr/>
          <p:nvPr/>
        </p:nvGrpSpPr>
        <p:grpSpPr>
          <a:xfrm>
            <a:off x="714039" y="1672355"/>
            <a:ext cx="3389171" cy="3389171"/>
            <a:chOff x="0" y="0"/>
            <a:chExt cx="812800" cy="812800"/>
          </a:xfrm>
        </p:grpSpPr>
        <p:sp>
          <p:nvSpPr>
            <p:cNvPr id="6" name="Freeform 6">
              <a:extLst>
                <a:ext uri="{FF2B5EF4-FFF2-40B4-BE49-F238E27FC236}">
                  <a16:creationId xmlns:a16="http://schemas.microsoft.com/office/drawing/2014/main" id="{7FE306C2-22BC-3A81-176B-99AF796D3AD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DAFA8">
                <a:alpha val="40000"/>
              </a:srgbClr>
            </a:solidFill>
          </p:spPr>
        </p:sp>
        <p:sp>
          <p:nvSpPr>
            <p:cNvPr id="7" name="TextBox 7">
              <a:extLst>
                <a:ext uri="{FF2B5EF4-FFF2-40B4-BE49-F238E27FC236}">
                  <a16:creationId xmlns:a16="http://schemas.microsoft.com/office/drawing/2014/main" id="{CF416DF5-08A1-A334-D5EF-04CAF62F8709}"/>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8" name="Group 8">
            <a:extLst>
              <a:ext uri="{FF2B5EF4-FFF2-40B4-BE49-F238E27FC236}">
                <a16:creationId xmlns:a16="http://schemas.microsoft.com/office/drawing/2014/main" id="{6CCBD6AF-0690-C464-2360-916184ACD644}"/>
              </a:ext>
            </a:extLst>
          </p:cNvPr>
          <p:cNvGrpSpPr/>
          <p:nvPr/>
        </p:nvGrpSpPr>
        <p:grpSpPr>
          <a:xfrm>
            <a:off x="1004805" y="4038431"/>
            <a:ext cx="2094831" cy="2094831"/>
            <a:chOff x="0" y="0"/>
            <a:chExt cx="812800" cy="812800"/>
          </a:xfrm>
        </p:grpSpPr>
        <p:sp>
          <p:nvSpPr>
            <p:cNvPr id="9" name="Freeform 9">
              <a:extLst>
                <a:ext uri="{FF2B5EF4-FFF2-40B4-BE49-F238E27FC236}">
                  <a16:creationId xmlns:a16="http://schemas.microsoft.com/office/drawing/2014/main" id="{E01794DB-7894-A8D6-995B-88D812D0164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6A160">
                <a:alpha val="40000"/>
              </a:srgbClr>
            </a:solidFill>
          </p:spPr>
        </p:sp>
        <p:sp>
          <p:nvSpPr>
            <p:cNvPr id="10" name="TextBox 10">
              <a:extLst>
                <a:ext uri="{FF2B5EF4-FFF2-40B4-BE49-F238E27FC236}">
                  <a16:creationId xmlns:a16="http://schemas.microsoft.com/office/drawing/2014/main" id="{0BD0953F-29DC-09AD-07DD-E63FF5468CE4}"/>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11" name="Group 11">
            <a:extLst>
              <a:ext uri="{FF2B5EF4-FFF2-40B4-BE49-F238E27FC236}">
                <a16:creationId xmlns:a16="http://schemas.microsoft.com/office/drawing/2014/main" id="{2FB20307-9961-E77E-E7B5-3A18207F418F}"/>
              </a:ext>
            </a:extLst>
          </p:cNvPr>
          <p:cNvGrpSpPr/>
          <p:nvPr/>
        </p:nvGrpSpPr>
        <p:grpSpPr>
          <a:xfrm>
            <a:off x="5784365" y="2991016"/>
            <a:ext cx="2094831" cy="2094831"/>
            <a:chOff x="0" y="0"/>
            <a:chExt cx="812800" cy="812800"/>
          </a:xfrm>
        </p:grpSpPr>
        <p:sp>
          <p:nvSpPr>
            <p:cNvPr id="12" name="Freeform 12">
              <a:extLst>
                <a:ext uri="{FF2B5EF4-FFF2-40B4-BE49-F238E27FC236}">
                  <a16:creationId xmlns:a16="http://schemas.microsoft.com/office/drawing/2014/main" id="{64B2BCAB-0FB7-FCC5-8516-B020377677F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6A160">
                <a:alpha val="40000"/>
              </a:srgbClr>
            </a:solidFill>
          </p:spPr>
        </p:sp>
        <p:sp>
          <p:nvSpPr>
            <p:cNvPr id="13" name="TextBox 13">
              <a:extLst>
                <a:ext uri="{FF2B5EF4-FFF2-40B4-BE49-F238E27FC236}">
                  <a16:creationId xmlns:a16="http://schemas.microsoft.com/office/drawing/2014/main" id="{65B67EF0-3A5B-33F6-7F8E-847B2907E169}"/>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15" name="Group 15">
            <a:extLst>
              <a:ext uri="{FF2B5EF4-FFF2-40B4-BE49-F238E27FC236}">
                <a16:creationId xmlns:a16="http://schemas.microsoft.com/office/drawing/2014/main" id="{F2D431BA-D6E8-F9D2-10C8-62FE8B5BBC9B}"/>
              </a:ext>
            </a:extLst>
          </p:cNvPr>
          <p:cNvGrpSpPr/>
          <p:nvPr/>
        </p:nvGrpSpPr>
        <p:grpSpPr>
          <a:xfrm>
            <a:off x="-557510" y="-889891"/>
            <a:ext cx="19403020" cy="1779782"/>
            <a:chOff x="0" y="0"/>
            <a:chExt cx="5110260" cy="468749"/>
          </a:xfrm>
        </p:grpSpPr>
        <p:sp>
          <p:nvSpPr>
            <p:cNvPr id="16" name="Freeform 16">
              <a:extLst>
                <a:ext uri="{FF2B5EF4-FFF2-40B4-BE49-F238E27FC236}">
                  <a16:creationId xmlns:a16="http://schemas.microsoft.com/office/drawing/2014/main" id="{591E60B1-C0F6-A22B-E621-0FC828283087}"/>
                </a:ext>
              </a:extLst>
            </p:cNvPr>
            <p:cNvSpPr/>
            <p:nvPr/>
          </p:nvSpPr>
          <p:spPr>
            <a:xfrm>
              <a:off x="0" y="0"/>
              <a:ext cx="5110261" cy="468749"/>
            </a:xfrm>
            <a:custGeom>
              <a:avLst/>
              <a:gdLst/>
              <a:ahLst/>
              <a:cxnLst/>
              <a:rect l="l" t="t" r="r" b="b"/>
              <a:pathLst>
                <a:path w="5110261" h="468749">
                  <a:moveTo>
                    <a:pt x="0" y="0"/>
                  </a:moveTo>
                  <a:lnTo>
                    <a:pt x="5110261" y="0"/>
                  </a:lnTo>
                  <a:lnTo>
                    <a:pt x="5110261" y="468749"/>
                  </a:lnTo>
                  <a:lnTo>
                    <a:pt x="0" y="468749"/>
                  </a:lnTo>
                  <a:close/>
                </a:path>
              </a:pathLst>
            </a:custGeom>
            <a:solidFill>
              <a:srgbClr val="8DAFA8"/>
            </a:solidFill>
          </p:spPr>
        </p:sp>
        <p:sp>
          <p:nvSpPr>
            <p:cNvPr id="17" name="TextBox 17">
              <a:extLst>
                <a:ext uri="{FF2B5EF4-FFF2-40B4-BE49-F238E27FC236}">
                  <a16:creationId xmlns:a16="http://schemas.microsoft.com/office/drawing/2014/main" id="{798E53A9-DBC8-62AF-3005-BACC06E4658E}"/>
                </a:ext>
              </a:extLst>
            </p:cNvPr>
            <p:cNvSpPr txBox="1"/>
            <p:nvPr/>
          </p:nvSpPr>
          <p:spPr>
            <a:xfrm>
              <a:off x="0" y="-47625"/>
              <a:ext cx="5110260" cy="516374"/>
            </a:xfrm>
            <a:prstGeom prst="rect">
              <a:avLst/>
            </a:prstGeom>
          </p:spPr>
          <p:txBody>
            <a:bodyPr lIns="50800" tIns="50800" rIns="50800" bIns="50800" rtlCol="0" anchor="ctr"/>
            <a:lstStyle/>
            <a:p>
              <a:pPr algn="ctr">
                <a:lnSpc>
                  <a:spcPts val="2659"/>
                </a:lnSpc>
              </a:pPr>
              <a:endParaRPr/>
            </a:p>
          </p:txBody>
        </p:sp>
      </p:grpSp>
      <p:grpSp>
        <p:nvGrpSpPr>
          <p:cNvPr id="18" name="Group 18">
            <a:extLst>
              <a:ext uri="{FF2B5EF4-FFF2-40B4-BE49-F238E27FC236}">
                <a16:creationId xmlns:a16="http://schemas.microsoft.com/office/drawing/2014/main" id="{9EC765FE-6F74-533D-1B3D-A8FABFB85ED3}"/>
              </a:ext>
            </a:extLst>
          </p:cNvPr>
          <p:cNvGrpSpPr/>
          <p:nvPr/>
        </p:nvGrpSpPr>
        <p:grpSpPr>
          <a:xfrm>
            <a:off x="-557510" y="9397109"/>
            <a:ext cx="19403020" cy="1779782"/>
            <a:chOff x="0" y="0"/>
            <a:chExt cx="5110260" cy="468749"/>
          </a:xfrm>
        </p:grpSpPr>
        <p:sp>
          <p:nvSpPr>
            <p:cNvPr id="19" name="Freeform 19">
              <a:extLst>
                <a:ext uri="{FF2B5EF4-FFF2-40B4-BE49-F238E27FC236}">
                  <a16:creationId xmlns:a16="http://schemas.microsoft.com/office/drawing/2014/main" id="{1DF7CE5A-376D-0AF7-4AD0-952DAF05A98F}"/>
                </a:ext>
              </a:extLst>
            </p:cNvPr>
            <p:cNvSpPr/>
            <p:nvPr/>
          </p:nvSpPr>
          <p:spPr>
            <a:xfrm>
              <a:off x="0" y="0"/>
              <a:ext cx="5110261" cy="468749"/>
            </a:xfrm>
            <a:custGeom>
              <a:avLst/>
              <a:gdLst/>
              <a:ahLst/>
              <a:cxnLst/>
              <a:rect l="l" t="t" r="r" b="b"/>
              <a:pathLst>
                <a:path w="5110261" h="468749">
                  <a:moveTo>
                    <a:pt x="0" y="0"/>
                  </a:moveTo>
                  <a:lnTo>
                    <a:pt x="5110261" y="0"/>
                  </a:lnTo>
                  <a:lnTo>
                    <a:pt x="5110261" y="468749"/>
                  </a:lnTo>
                  <a:lnTo>
                    <a:pt x="0" y="468749"/>
                  </a:lnTo>
                  <a:close/>
                </a:path>
              </a:pathLst>
            </a:custGeom>
            <a:solidFill>
              <a:srgbClr val="8DAFA8"/>
            </a:solidFill>
          </p:spPr>
        </p:sp>
        <p:sp>
          <p:nvSpPr>
            <p:cNvPr id="20" name="TextBox 20">
              <a:extLst>
                <a:ext uri="{FF2B5EF4-FFF2-40B4-BE49-F238E27FC236}">
                  <a16:creationId xmlns:a16="http://schemas.microsoft.com/office/drawing/2014/main" id="{1BDE178F-4BB5-2AC0-A72E-EC6EE188473A}"/>
                </a:ext>
              </a:extLst>
            </p:cNvPr>
            <p:cNvSpPr txBox="1"/>
            <p:nvPr/>
          </p:nvSpPr>
          <p:spPr>
            <a:xfrm>
              <a:off x="0" y="-47625"/>
              <a:ext cx="5110260" cy="516374"/>
            </a:xfrm>
            <a:prstGeom prst="rect">
              <a:avLst/>
            </a:prstGeom>
          </p:spPr>
          <p:txBody>
            <a:bodyPr lIns="50800" tIns="50800" rIns="50800" bIns="50800" rtlCol="0" anchor="ctr"/>
            <a:lstStyle/>
            <a:p>
              <a:pPr algn="ctr">
                <a:lnSpc>
                  <a:spcPts val="2659"/>
                </a:lnSpc>
              </a:pPr>
              <a:endParaRPr/>
            </a:p>
          </p:txBody>
        </p:sp>
      </p:grpSp>
      <p:sp>
        <p:nvSpPr>
          <p:cNvPr id="23" name="TextBox 23">
            <a:extLst>
              <a:ext uri="{FF2B5EF4-FFF2-40B4-BE49-F238E27FC236}">
                <a16:creationId xmlns:a16="http://schemas.microsoft.com/office/drawing/2014/main" id="{A030F3E4-0FED-E18B-495E-C1FAD6B0F78C}"/>
              </a:ext>
            </a:extLst>
          </p:cNvPr>
          <p:cNvSpPr txBox="1"/>
          <p:nvPr/>
        </p:nvSpPr>
        <p:spPr>
          <a:xfrm>
            <a:off x="11827243" y="1505984"/>
            <a:ext cx="5253409" cy="912089"/>
          </a:xfrm>
          <a:prstGeom prst="rect">
            <a:avLst/>
          </a:prstGeom>
        </p:spPr>
        <p:txBody>
          <a:bodyPr lIns="50800" tIns="50800" rIns="50800" bIns="50800" rtlCol="0" anchor="ctr"/>
          <a:lstStyle/>
          <a:p>
            <a:pPr algn="r">
              <a:lnSpc>
                <a:spcPts val="2659"/>
              </a:lnSpc>
            </a:pPr>
            <a:endParaRPr/>
          </a:p>
        </p:txBody>
      </p:sp>
      <p:sp>
        <p:nvSpPr>
          <p:cNvPr id="24" name="Freeform 24">
            <a:extLst>
              <a:ext uri="{FF2B5EF4-FFF2-40B4-BE49-F238E27FC236}">
                <a16:creationId xmlns:a16="http://schemas.microsoft.com/office/drawing/2014/main" id="{613CEE62-E225-6E41-6F6A-F40455FD35E0}"/>
              </a:ext>
            </a:extLst>
          </p:cNvPr>
          <p:cNvSpPr/>
          <p:nvPr/>
        </p:nvSpPr>
        <p:spPr>
          <a:xfrm rot="1627902">
            <a:off x="6335051" y="2326537"/>
            <a:ext cx="2254244" cy="971374"/>
          </a:xfrm>
          <a:custGeom>
            <a:avLst/>
            <a:gdLst/>
            <a:ahLst/>
            <a:cxnLst/>
            <a:rect l="l" t="t" r="r" b="b"/>
            <a:pathLst>
              <a:path w="2254244" h="971374">
                <a:moveTo>
                  <a:pt x="0" y="0"/>
                </a:moveTo>
                <a:lnTo>
                  <a:pt x="2254244" y="0"/>
                </a:lnTo>
                <a:lnTo>
                  <a:pt x="2254244" y="971375"/>
                </a:lnTo>
                <a:lnTo>
                  <a:pt x="0" y="9713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5" name="Freeform 25">
            <a:extLst>
              <a:ext uri="{FF2B5EF4-FFF2-40B4-BE49-F238E27FC236}">
                <a16:creationId xmlns:a16="http://schemas.microsoft.com/office/drawing/2014/main" id="{9955AAD2-2300-CBBC-B740-61A3AFCE7C80}"/>
              </a:ext>
            </a:extLst>
          </p:cNvPr>
          <p:cNvSpPr/>
          <p:nvPr/>
        </p:nvSpPr>
        <p:spPr>
          <a:xfrm rot="1627902" flipV="1">
            <a:off x="747928" y="7642829"/>
            <a:ext cx="2254244" cy="971374"/>
          </a:xfrm>
          <a:custGeom>
            <a:avLst/>
            <a:gdLst/>
            <a:ahLst/>
            <a:cxnLst/>
            <a:rect l="l" t="t" r="r" b="b"/>
            <a:pathLst>
              <a:path w="2254244" h="971374">
                <a:moveTo>
                  <a:pt x="0" y="971374"/>
                </a:moveTo>
                <a:lnTo>
                  <a:pt x="2254244" y="971374"/>
                </a:lnTo>
                <a:lnTo>
                  <a:pt x="2254244" y="0"/>
                </a:lnTo>
                <a:lnTo>
                  <a:pt x="0" y="0"/>
                </a:lnTo>
                <a:lnTo>
                  <a:pt x="0" y="971374"/>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6" name="Freeform 26">
            <a:extLst>
              <a:ext uri="{FF2B5EF4-FFF2-40B4-BE49-F238E27FC236}">
                <a16:creationId xmlns:a16="http://schemas.microsoft.com/office/drawing/2014/main" id="{8ACEE460-37E2-6221-99FA-62F27C13769E}"/>
              </a:ext>
            </a:extLst>
          </p:cNvPr>
          <p:cNvSpPr/>
          <p:nvPr/>
        </p:nvSpPr>
        <p:spPr>
          <a:xfrm>
            <a:off x="824566" y="6133262"/>
            <a:ext cx="632667" cy="675664"/>
          </a:xfrm>
          <a:custGeom>
            <a:avLst/>
            <a:gdLst/>
            <a:ahLst/>
            <a:cxnLst/>
            <a:rect l="l" t="t" r="r" b="b"/>
            <a:pathLst>
              <a:path w="632667" h="675664">
                <a:moveTo>
                  <a:pt x="0" y="0"/>
                </a:moveTo>
                <a:lnTo>
                  <a:pt x="632667" y="0"/>
                </a:lnTo>
                <a:lnTo>
                  <a:pt x="632667" y="675664"/>
                </a:lnTo>
                <a:lnTo>
                  <a:pt x="0" y="67566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7" name="Freeform 24">
            <a:extLst>
              <a:ext uri="{FF2B5EF4-FFF2-40B4-BE49-F238E27FC236}">
                <a16:creationId xmlns:a16="http://schemas.microsoft.com/office/drawing/2014/main" id="{C1E9D95A-5996-8993-2719-6DA49E45BA37}"/>
              </a:ext>
            </a:extLst>
          </p:cNvPr>
          <p:cNvSpPr/>
          <p:nvPr/>
        </p:nvSpPr>
        <p:spPr>
          <a:xfrm>
            <a:off x="1443627" y="2860851"/>
            <a:ext cx="6120306" cy="4965962"/>
          </a:xfrm>
          <a:custGeom>
            <a:avLst/>
            <a:gdLst/>
            <a:ahLst/>
            <a:cxnLst/>
            <a:rect l="l" t="t" r="r" b="b"/>
            <a:pathLst>
              <a:path w="5550107" h="4763001">
                <a:moveTo>
                  <a:pt x="0" y="0"/>
                </a:moveTo>
                <a:lnTo>
                  <a:pt x="5550106" y="0"/>
                </a:lnTo>
                <a:lnTo>
                  <a:pt x="5550106" y="4763001"/>
                </a:lnTo>
                <a:lnTo>
                  <a:pt x="0" y="476300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9" name="TextBox 28">
            <a:extLst>
              <a:ext uri="{FF2B5EF4-FFF2-40B4-BE49-F238E27FC236}">
                <a16:creationId xmlns:a16="http://schemas.microsoft.com/office/drawing/2014/main" id="{D6520801-19A5-4B19-AA0B-77CF10360E3F}"/>
              </a:ext>
            </a:extLst>
          </p:cNvPr>
          <p:cNvSpPr txBox="1"/>
          <p:nvPr/>
        </p:nvSpPr>
        <p:spPr>
          <a:xfrm>
            <a:off x="9677400" y="5659671"/>
            <a:ext cx="9705529" cy="947182"/>
          </a:xfrm>
          <a:prstGeom prst="rect">
            <a:avLst/>
          </a:prstGeom>
          <a:noFill/>
        </p:spPr>
        <p:txBody>
          <a:bodyPr wrap="square">
            <a:spAutoFit/>
          </a:bodyPr>
          <a:lstStyle/>
          <a:p>
            <a:pPr>
              <a:lnSpc>
                <a:spcPts val="3806"/>
              </a:lnSpc>
              <a:spcBef>
                <a:spcPct val="0"/>
              </a:spcBef>
            </a:pPr>
            <a:r>
              <a:rPr lang="en-US" sz="14400">
                <a:solidFill>
                  <a:srgbClr val="996633"/>
                </a:solidFill>
                <a:latin typeface="League Gothic" panose="020B0604020202020204" charset="0"/>
              </a:rPr>
              <a:t>Project Report</a:t>
            </a:r>
          </a:p>
        </p:txBody>
      </p:sp>
    </p:spTree>
    <p:extLst>
      <p:ext uri="{BB962C8B-B14F-4D97-AF65-F5344CB8AC3E}">
        <p14:creationId xmlns:p14="http://schemas.microsoft.com/office/powerpoint/2010/main" val="105641447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7EF"/>
        </a:solidFill>
        <a:effectLst/>
      </p:bgPr>
    </p:bg>
    <p:spTree>
      <p:nvGrpSpPr>
        <p:cNvPr id="1" name="">
          <a:extLst>
            <a:ext uri="{FF2B5EF4-FFF2-40B4-BE49-F238E27FC236}">
              <a16:creationId xmlns:a16="http://schemas.microsoft.com/office/drawing/2014/main" id="{A94B0DD3-C1DA-6B8B-FB07-75ED216F2800}"/>
            </a:ext>
          </a:extLst>
        </p:cNvPr>
        <p:cNvGrpSpPr/>
        <p:nvPr/>
      </p:nvGrpSpPr>
      <p:grpSpPr>
        <a:xfrm>
          <a:off x="0" y="0"/>
          <a:ext cx="0" cy="0"/>
          <a:chOff x="0" y="0"/>
          <a:chExt cx="0" cy="0"/>
        </a:xfrm>
      </p:grpSpPr>
      <p:grpSp>
        <p:nvGrpSpPr>
          <p:cNvPr id="15" name="Group 15">
            <a:extLst>
              <a:ext uri="{FF2B5EF4-FFF2-40B4-BE49-F238E27FC236}">
                <a16:creationId xmlns:a16="http://schemas.microsoft.com/office/drawing/2014/main" id="{D34F8C7A-B0E9-2530-2EEF-B58F355E4C2E}"/>
              </a:ext>
            </a:extLst>
          </p:cNvPr>
          <p:cNvGrpSpPr/>
          <p:nvPr/>
        </p:nvGrpSpPr>
        <p:grpSpPr>
          <a:xfrm>
            <a:off x="-557510" y="-889891"/>
            <a:ext cx="19403020" cy="1779782"/>
            <a:chOff x="0" y="0"/>
            <a:chExt cx="5110260" cy="468749"/>
          </a:xfrm>
        </p:grpSpPr>
        <p:sp>
          <p:nvSpPr>
            <p:cNvPr id="16" name="Freeform 16">
              <a:extLst>
                <a:ext uri="{FF2B5EF4-FFF2-40B4-BE49-F238E27FC236}">
                  <a16:creationId xmlns:a16="http://schemas.microsoft.com/office/drawing/2014/main" id="{830057C5-945C-F2AB-390F-574B698A2562}"/>
                </a:ext>
              </a:extLst>
            </p:cNvPr>
            <p:cNvSpPr/>
            <p:nvPr/>
          </p:nvSpPr>
          <p:spPr>
            <a:xfrm>
              <a:off x="0" y="0"/>
              <a:ext cx="5110261" cy="468749"/>
            </a:xfrm>
            <a:custGeom>
              <a:avLst/>
              <a:gdLst/>
              <a:ahLst/>
              <a:cxnLst/>
              <a:rect l="l" t="t" r="r" b="b"/>
              <a:pathLst>
                <a:path w="5110261" h="468749">
                  <a:moveTo>
                    <a:pt x="0" y="0"/>
                  </a:moveTo>
                  <a:lnTo>
                    <a:pt x="5110261" y="0"/>
                  </a:lnTo>
                  <a:lnTo>
                    <a:pt x="5110261" y="468749"/>
                  </a:lnTo>
                  <a:lnTo>
                    <a:pt x="0" y="468749"/>
                  </a:lnTo>
                  <a:close/>
                </a:path>
              </a:pathLst>
            </a:custGeom>
            <a:solidFill>
              <a:srgbClr val="8DAFA8"/>
            </a:solidFill>
          </p:spPr>
        </p:sp>
        <p:sp>
          <p:nvSpPr>
            <p:cNvPr id="17" name="TextBox 17">
              <a:extLst>
                <a:ext uri="{FF2B5EF4-FFF2-40B4-BE49-F238E27FC236}">
                  <a16:creationId xmlns:a16="http://schemas.microsoft.com/office/drawing/2014/main" id="{27AE0E88-744F-3F29-2E2C-3307986D2BBF}"/>
                </a:ext>
              </a:extLst>
            </p:cNvPr>
            <p:cNvSpPr txBox="1"/>
            <p:nvPr/>
          </p:nvSpPr>
          <p:spPr>
            <a:xfrm>
              <a:off x="0" y="-47625"/>
              <a:ext cx="5110260" cy="516374"/>
            </a:xfrm>
            <a:prstGeom prst="rect">
              <a:avLst/>
            </a:prstGeom>
          </p:spPr>
          <p:txBody>
            <a:bodyPr lIns="50800" tIns="50800" rIns="50800" bIns="50800" rtlCol="0" anchor="ctr"/>
            <a:lstStyle/>
            <a:p>
              <a:pPr algn="ctr">
                <a:lnSpc>
                  <a:spcPts val="2659"/>
                </a:lnSpc>
              </a:pPr>
              <a:endParaRPr/>
            </a:p>
          </p:txBody>
        </p:sp>
      </p:grpSp>
      <p:grpSp>
        <p:nvGrpSpPr>
          <p:cNvPr id="18" name="Group 18">
            <a:extLst>
              <a:ext uri="{FF2B5EF4-FFF2-40B4-BE49-F238E27FC236}">
                <a16:creationId xmlns:a16="http://schemas.microsoft.com/office/drawing/2014/main" id="{F7DA3F81-318D-B64A-CA2E-819A453DE618}"/>
              </a:ext>
            </a:extLst>
          </p:cNvPr>
          <p:cNvGrpSpPr/>
          <p:nvPr/>
        </p:nvGrpSpPr>
        <p:grpSpPr>
          <a:xfrm>
            <a:off x="-557510" y="9397109"/>
            <a:ext cx="19403020" cy="1779782"/>
            <a:chOff x="0" y="0"/>
            <a:chExt cx="5110260" cy="468749"/>
          </a:xfrm>
        </p:grpSpPr>
        <p:sp>
          <p:nvSpPr>
            <p:cNvPr id="19" name="Freeform 19">
              <a:extLst>
                <a:ext uri="{FF2B5EF4-FFF2-40B4-BE49-F238E27FC236}">
                  <a16:creationId xmlns:a16="http://schemas.microsoft.com/office/drawing/2014/main" id="{65D8F2C2-9791-1715-BD37-5FF5A678CF12}"/>
                </a:ext>
              </a:extLst>
            </p:cNvPr>
            <p:cNvSpPr/>
            <p:nvPr/>
          </p:nvSpPr>
          <p:spPr>
            <a:xfrm>
              <a:off x="0" y="0"/>
              <a:ext cx="5110261" cy="468749"/>
            </a:xfrm>
            <a:custGeom>
              <a:avLst/>
              <a:gdLst/>
              <a:ahLst/>
              <a:cxnLst/>
              <a:rect l="l" t="t" r="r" b="b"/>
              <a:pathLst>
                <a:path w="5110261" h="468749">
                  <a:moveTo>
                    <a:pt x="0" y="0"/>
                  </a:moveTo>
                  <a:lnTo>
                    <a:pt x="5110261" y="0"/>
                  </a:lnTo>
                  <a:lnTo>
                    <a:pt x="5110261" y="468749"/>
                  </a:lnTo>
                  <a:lnTo>
                    <a:pt x="0" y="468749"/>
                  </a:lnTo>
                  <a:close/>
                </a:path>
              </a:pathLst>
            </a:custGeom>
            <a:solidFill>
              <a:srgbClr val="8DAFA8"/>
            </a:solidFill>
          </p:spPr>
        </p:sp>
        <p:sp>
          <p:nvSpPr>
            <p:cNvPr id="20" name="TextBox 20">
              <a:extLst>
                <a:ext uri="{FF2B5EF4-FFF2-40B4-BE49-F238E27FC236}">
                  <a16:creationId xmlns:a16="http://schemas.microsoft.com/office/drawing/2014/main" id="{E1136D64-BD2B-26ED-E918-10D07724BFA6}"/>
                </a:ext>
              </a:extLst>
            </p:cNvPr>
            <p:cNvSpPr txBox="1"/>
            <p:nvPr/>
          </p:nvSpPr>
          <p:spPr>
            <a:xfrm>
              <a:off x="0" y="-47625"/>
              <a:ext cx="5110260" cy="516374"/>
            </a:xfrm>
            <a:prstGeom prst="rect">
              <a:avLst/>
            </a:prstGeom>
          </p:spPr>
          <p:txBody>
            <a:bodyPr lIns="50800" tIns="50800" rIns="50800" bIns="50800" rtlCol="0" anchor="ctr"/>
            <a:lstStyle/>
            <a:p>
              <a:pPr algn="ctr">
                <a:lnSpc>
                  <a:spcPts val="2659"/>
                </a:lnSpc>
              </a:pPr>
              <a:endParaRPr/>
            </a:p>
          </p:txBody>
        </p:sp>
      </p:grpSp>
      <p:sp>
        <p:nvSpPr>
          <p:cNvPr id="23" name="TextBox 23">
            <a:extLst>
              <a:ext uri="{FF2B5EF4-FFF2-40B4-BE49-F238E27FC236}">
                <a16:creationId xmlns:a16="http://schemas.microsoft.com/office/drawing/2014/main" id="{C865787F-4A03-13A4-AAAC-EC8044F76978}"/>
              </a:ext>
            </a:extLst>
          </p:cNvPr>
          <p:cNvSpPr txBox="1"/>
          <p:nvPr/>
        </p:nvSpPr>
        <p:spPr>
          <a:xfrm>
            <a:off x="11827243" y="1505984"/>
            <a:ext cx="5253409" cy="912089"/>
          </a:xfrm>
          <a:prstGeom prst="rect">
            <a:avLst/>
          </a:prstGeom>
        </p:spPr>
        <p:txBody>
          <a:bodyPr lIns="50800" tIns="50800" rIns="50800" bIns="50800" rtlCol="0" anchor="ctr"/>
          <a:lstStyle/>
          <a:p>
            <a:pPr algn="r">
              <a:lnSpc>
                <a:spcPts val="2659"/>
              </a:lnSpc>
            </a:pPr>
            <a:endParaRPr/>
          </a:p>
        </p:txBody>
      </p:sp>
      <p:sp>
        <p:nvSpPr>
          <p:cNvPr id="3" name="TextBox 2">
            <a:extLst>
              <a:ext uri="{FF2B5EF4-FFF2-40B4-BE49-F238E27FC236}">
                <a16:creationId xmlns:a16="http://schemas.microsoft.com/office/drawing/2014/main" id="{659FB26D-57F8-AE07-47F5-179B7D6916A4}"/>
              </a:ext>
            </a:extLst>
          </p:cNvPr>
          <p:cNvSpPr txBox="1"/>
          <p:nvPr/>
        </p:nvSpPr>
        <p:spPr>
          <a:xfrm>
            <a:off x="2209800" y="1771239"/>
            <a:ext cx="13004369" cy="8138446"/>
          </a:xfrm>
          <a:prstGeom prst="rect">
            <a:avLst/>
          </a:prstGeom>
          <a:noFill/>
        </p:spPr>
        <p:txBody>
          <a:bodyPr wrap="square">
            <a:spAutoFit/>
          </a:bodyPr>
          <a:lstStyle/>
          <a:p>
            <a:pPr marL="342900" lvl="0" indent="-342900">
              <a:lnSpc>
                <a:spcPct val="105000"/>
              </a:lnSpc>
              <a:buFont typeface="Symbol" panose="05050102010706020507" pitchFamily="18" charset="2"/>
              <a:buChar char=""/>
            </a:pPr>
            <a:r>
              <a:rPr lang="en-IN" sz="2400">
                <a:effectLst/>
                <a:latin typeface="ITC Franklin Gothic LT" panose="020B0604020202020204" charset="0"/>
                <a:ea typeface="Calibri" panose="020F0502020204030204" pitchFamily="34" charset="0"/>
                <a:cs typeface="Times New Roman" panose="02020603050405020304" pitchFamily="18" charset="0"/>
              </a:rPr>
              <a:t>It can be concluded from the response that 53.7% of the respondents are private employees.</a:t>
            </a:r>
          </a:p>
          <a:p>
            <a:pPr marL="342900" lvl="0" indent="-342900">
              <a:lnSpc>
                <a:spcPct val="105000"/>
              </a:lnSpc>
              <a:buFont typeface="Symbol" panose="05050102010706020507" pitchFamily="18" charset="2"/>
              <a:buChar char=""/>
            </a:pPr>
            <a:r>
              <a:rPr lang="en-IN" sz="2400">
                <a:effectLst/>
                <a:latin typeface="ITC Franklin Gothic LT" panose="020B0604020202020204" charset="0"/>
                <a:ea typeface="Calibri" panose="020F0502020204030204" pitchFamily="34" charset="0"/>
                <a:cs typeface="Times New Roman" panose="02020603050405020304" pitchFamily="18" charset="0"/>
              </a:rPr>
              <a:t>Majority of the respondents work between 6-10 hours and most of them are somewhat satisfied with their working hours.</a:t>
            </a:r>
          </a:p>
          <a:p>
            <a:pPr marL="342900" lvl="0" indent="-342900">
              <a:lnSpc>
                <a:spcPct val="105000"/>
              </a:lnSpc>
              <a:buFont typeface="Symbol" panose="05050102010706020507" pitchFamily="18" charset="2"/>
              <a:buChar char=""/>
            </a:pPr>
            <a:r>
              <a:rPr lang="en-IN" sz="2400">
                <a:effectLst/>
                <a:latin typeface="ITC Franklin Gothic LT" panose="020B0604020202020204" charset="0"/>
                <a:ea typeface="Calibri" panose="020F0502020204030204" pitchFamily="34" charset="0"/>
                <a:cs typeface="Times New Roman" panose="02020603050405020304" pitchFamily="18" charset="0"/>
              </a:rPr>
              <a:t>From the study, it can be observed that the common causes of work stress are majorly working overtime and workload.</a:t>
            </a:r>
          </a:p>
          <a:p>
            <a:pPr marL="342900" lvl="0" indent="-342900">
              <a:lnSpc>
                <a:spcPct val="105000"/>
              </a:lnSpc>
              <a:buFont typeface="Symbol" panose="05050102010706020507" pitchFamily="18" charset="2"/>
              <a:buChar char=""/>
            </a:pPr>
            <a:r>
              <a:rPr lang="en-IN" sz="2400">
                <a:effectLst/>
                <a:latin typeface="ITC Franklin Gothic LT" panose="020B0604020202020204" charset="0"/>
                <a:ea typeface="Calibri" panose="020F0502020204030204" pitchFamily="34" charset="0"/>
                <a:cs typeface="Times New Roman" panose="02020603050405020304" pitchFamily="18" charset="0"/>
              </a:rPr>
              <a:t>It can be evident from the study that only 58% of the respondents are able to meet their family usual monthly’s expenses and bills with their incomes.</a:t>
            </a:r>
          </a:p>
          <a:p>
            <a:pPr marL="342900" lvl="0" indent="-342900">
              <a:lnSpc>
                <a:spcPct val="105000"/>
              </a:lnSpc>
              <a:buFont typeface="Symbol" panose="05050102010706020507" pitchFamily="18" charset="2"/>
              <a:buChar char=""/>
            </a:pPr>
            <a:r>
              <a:rPr lang="en-IN" sz="2400">
                <a:effectLst/>
                <a:latin typeface="ITC Franklin Gothic LT" panose="020B0604020202020204" charset="0"/>
                <a:ea typeface="Calibri" panose="020F0502020204030204" pitchFamily="34" charset="0"/>
                <a:cs typeface="Times New Roman" panose="02020603050405020304" pitchFamily="18" charset="0"/>
              </a:rPr>
              <a:t>Educational level and job satisfaction are positively associated.</a:t>
            </a:r>
          </a:p>
          <a:p>
            <a:pPr marL="342900" lvl="0" indent="-342900">
              <a:lnSpc>
                <a:spcPct val="105000"/>
              </a:lnSpc>
              <a:buFont typeface="Symbol" panose="05050102010706020507" pitchFamily="18" charset="2"/>
              <a:buChar char=""/>
            </a:pPr>
            <a:r>
              <a:rPr lang="en-IN" sz="2400">
                <a:effectLst/>
                <a:latin typeface="ITC Franklin Gothic LT" panose="020B0604020202020204" charset="0"/>
                <a:ea typeface="Calibri" panose="020F0502020204030204" pitchFamily="34" charset="0"/>
                <a:cs typeface="Times New Roman" panose="02020603050405020304" pitchFamily="18" charset="0"/>
              </a:rPr>
              <a:t>57% of the respondents have less than 1 hour to relax or pursue activities after an average work day.</a:t>
            </a:r>
          </a:p>
          <a:p>
            <a:pPr marL="342900" lvl="0" indent="-342900">
              <a:lnSpc>
                <a:spcPct val="105000"/>
              </a:lnSpc>
              <a:buFont typeface="Symbol" panose="05050102010706020507" pitchFamily="18" charset="2"/>
              <a:buChar char=""/>
            </a:pPr>
            <a:r>
              <a:rPr lang="en-IN" sz="2400">
                <a:effectLst/>
                <a:latin typeface="ITC Franklin Gothic LT" panose="020B0604020202020204" charset="0"/>
                <a:ea typeface="Calibri" panose="020F0502020204030204" pitchFamily="34" charset="0"/>
                <a:cs typeface="Times New Roman" panose="02020603050405020304" pitchFamily="18" charset="0"/>
              </a:rPr>
              <a:t>It can be concluded that 47.3% of the respondents have lost emotional hygiene as a consequence of work-life stress.</a:t>
            </a:r>
          </a:p>
          <a:p>
            <a:pPr marL="342900" lvl="0" indent="-342900">
              <a:lnSpc>
                <a:spcPct val="105000"/>
              </a:lnSpc>
              <a:buFont typeface="Symbol" panose="05050102010706020507" pitchFamily="18" charset="2"/>
              <a:buChar char=""/>
            </a:pPr>
            <a:r>
              <a:rPr lang="en-IN" sz="2400">
                <a:effectLst/>
                <a:latin typeface="ITC Franklin Gothic LT" panose="020B0604020202020204" charset="0"/>
                <a:ea typeface="Calibri" panose="020F0502020204030204" pitchFamily="34" charset="0"/>
                <a:cs typeface="Times New Roman" panose="02020603050405020304" pitchFamily="18" charset="0"/>
              </a:rPr>
              <a:t>There is a 24.06% association between the occupational sector and health benefits provided by the organization.</a:t>
            </a:r>
          </a:p>
          <a:p>
            <a:pPr marL="342900" lvl="0" indent="-342900">
              <a:lnSpc>
                <a:spcPct val="105000"/>
              </a:lnSpc>
              <a:spcAft>
                <a:spcPts val="800"/>
              </a:spcAft>
              <a:buFont typeface="Symbol" panose="05050102010706020507" pitchFamily="18" charset="2"/>
              <a:buChar char=""/>
            </a:pPr>
            <a:r>
              <a:rPr lang="en-IN" sz="2400">
                <a:effectLst/>
                <a:latin typeface="ITC Franklin Gothic LT" panose="020B0604020202020204" charset="0"/>
                <a:ea typeface="Calibri" panose="020F0502020204030204" pitchFamily="34" charset="0"/>
                <a:cs typeface="Times New Roman" panose="02020603050405020304" pitchFamily="18" charset="0"/>
              </a:rPr>
              <a:t>Number of working hours and current working hours satisfaction are positively associated.</a:t>
            </a:r>
          </a:p>
          <a:p>
            <a:pPr marL="342900" indent="-342900">
              <a:lnSpc>
                <a:spcPct val="105000"/>
              </a:lnSpc>
              <a:spcAft>
                <a:spcPts val="800"/>
              </a:spcAft>
              <a:buFont typeface="Symbol" panose="05050102010706020507" pitchFamily="18" charset="2"/>
              <a:buChar char=""/>
            </a:pPr>
            <a:r>
              <a:rPr lang="en-IN" sz="2400">
                <a:effectLst/>
                <a:latin typeface="ITC Franklin Gothic LT" panose="020B0604020202020204" charset="0"/>
                <a:ea typeface="Calibri" panose="020F0502020204030204" pitchFamily="34" charset="0"/>
                <a:cs typeface="Times New Roman" panose="02020603050405020304" pitchFamily="18" charset="0"/>
              </a:rPr>
              <a:t>From the survey, it can be concluded that the majority of the respondents agree that </a:t>
            </a:r>
            <a:r>
              <a:rPr lang="en-IN" sz="2400" kern="100">
                <a:effectLst/>
                <a:latin typeface="ITC Franklin Gothic LT" panose="020B0604020202020204" charset="0"/>
                <a:ea typeface="Calibri" panose="020F0502020204030204" pitchFamily="34" charset="0"/>
                <a:cs typeface="Times New Roman" panose="02020603050405020304" pitchFamily="18" charset="0"/>
              </a:rPr>
              <a:t>prioritizing tasks can be the reason to manage their workload effectively for task organization and select allocating tasks smartly and fairly for efficient distribution.</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342900" lvl="0" indent="-342900">
              <a:lnSpc>
                <a:spcPct val="105000"/>
              </a:lnSpc>
              <a:spcAft>
                <a:spcPts val="800"/>
              </a:spcAft>
              <a:buFont typeface="Symbol" panose="05050102010706020507" pitchFamily="18" charset="2"/>
              <a:buChar char=""/>
            </a:pP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lvl="0">
              <a:lnSpc>
                <a:spcPct val="105000"/>
              </a:lnSpc>
              <a:spcAft>
                <a:spcPts val="800"/>
              </a:spcAft>
            </a:pPr>
            <a:endParaRPr lang="en-IN" sz="2400">
              <a:effectLst/>
              <a:latin typeface="ITC Franklin Gothic LT" panose="020B060402020202020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048798514"/>
      </p:ext>
    </p:extLst>
  </p:cSld>
  <p:clrMapOvr>
    <a:masterClrMapping/>
  </p:clrMapOvr>
  <p:transition spd="slow">
    <p:push dir="u"/>
  </p:transition>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7EF"/>
        </a:solidFill>
        <a:effectLst/>
      </p:bgPr>
    </p:bg>
    <p:spTree>
      <p:nvGrpSpPr>
        <p:cNvPr id="1" name="">
          <a:extLst>
            <a:ext uri="{FF2B5EF4-FFF2-40B4-BE49-F238E27FC236}">
              <a16:creationId xmlns:a16="http://schemas.microsoft.com/office/drawing/2014/main" id="{420F967C-E82D-A5A9-8EE8-8DAD831E1079}"/>
            </a:ext>
          </a:extLst>
        </p:cNvPr>
        <p:cNvGrpSpPr/>
        <p:nvPr/>
      </p:nvGrpSpPr>
      <p:grpSpPr>
        <a:xfrm>
          <a:off x="0" y="0"/>
          <a:ext cx="0" cy="0"/>
          <a:chOff x="0" y="0"/>
          <a:chExt cx="0" cy="0"/>
        </a:xfrm>
      </p:grpSpPr>
      <p:grpSp>
        <p:nvGrpSpPr>
          <p:cNvPr id="15" name="Group 15">
            <a:extLst>
              <a:ext uri="{FF2B5EF4-FFF2-40B4-BE49-F238E27FC236}">
                <a16:creationId xmlns:a16="http://schemas.microsoft.com/office/drawing/2014/main" id="{0170EB9F-4F53-9F96-B47C-07971C119417}"/>
              </a:ext>
            </a:extLst>
          </p:cNvPr>
          <p:cNvGrpSpPr/>
          <p:nvPr/>
        </p:nvGrpSpPr>
        <p:grpSpPr>
          <a:xfrm>
            <a:off x="-557510" y="-889891"/>
            <a:ext cx="19403020" cy="1779782"/>
            <a:chOff x="0" y="0"/>
            <a:chExt cx="5110260" cy="468749"/>
          </a:xfrm>
        </p:grpSpPr>
        <p:sp>
          <p:nvSpPr>
            <p:cNvPr id="16" name="Freeform 16">
              <a:extLst>
                <a:ext uri="{FF2B5EF4-FFF2-40B4-BE49-F238E27FC236}">
                  <a16:creationId xmlns:a16="http://schemas.microsoft.com/office/drawing/2014/main" id="{8EDD3C7B-B73A-B458-9E4B-3B5CB92A551B}"/>
                </a:ext>
              </a:extLst>
            </p:cNvPr>
            <p:cNvSpPr/>
            <p:nvPr/>
          </p:nvSpPr>
          <p:spPr>
            <a:xfrm>
              <a:off x="0" y="0"/>
              <a:ext cx="5110261" cy="468749"/>
            </a:xfrm>
            <a:custGeom>
              <a:avLst/>
              <a:gdLst/>
              <a:ahLst/>
              <a:cxnLst/>
              <a:rect l="l" t="t" r="r" b="b"/>
              <a:pathLst>
                <a:path w="5110261" h="468749">
                  <a:moveTo>
                    <a:pt x="0" y="0"/>
                  </a:moveTo>
                  <a:lnTo>
                    <a:pt x="5110261" y="0"/>
                  </a:lnTo>
                  <a:lnTo>
                    <a:pt x="5110261" y="468749"/>
                  </a:lnTo>
                  <a:lnTo>
                    <a:pt x="0" y="468749"/>
                  </a:lnTo>
                  <a:close/>
                </a:path>
              </a:pathLst>
            </a:custGeom>
            <a:solidFill>
              <a:srgbClr val="8DAFA8"/>
            </a:solidFill>
          </p:spPr>
        </p:sp>
        <p:sp>
          <p:nvSpPr>
            <p:cNvPr id="17" name="TextBox 17">
              <a:extLst>
                <a:ext uri="{FF2B5EF4-FFF2-40B4-BE49-F238E27FC236}">
                  <a16:creationId xmlns:a16="http://schemas.microsoft.com/office/drawing/2014/main" id="{775AD758-2935-54C3-DE7E-996F75616DEE}"/>
                </a:ext>
              </a:extLst>
            </p:cNvPr>
            <p:cNvSpPr txBox="1"/>
            <p:nvPr/>
          </p:nvSpPr>
          <p:spPr>
            <a:xfrm>
              <a:off x="0" y="-47625"/>
              <a:ext cx="5110260" cy="516374"/>
            </a:xfrm>
            <a:prstGeom prst="rect">
              <a:avLst/>
            </a:prstGeom>
          </p:spPr>
          <p:txBody>
            <a:bodyPr lIns="50800" tIns="50800" rIns="50800" bIns="50800" rtlCol="0" anchor="ctr"/>
            <a:lstStyle/>
            <a:p>
              <a:pPr algn="ctr">
                <a:lnSpc>
                  <a:spcPts val="2659"/>
                </a:lnSpc>
              </a:pPr>
              <a:endParaRPr/>
            </a:p>
          </p:txBody>
        </p:sp>
      </p:grpSp>
      <p:grpSp>
        <p:nvGrpSpPr>
          <p:cNvPr id="18" name="Group 18">
            <a:extLst>
              <a:ext uri="{FF2B5EF4-FFF2-40B4-BE49-F238E27FC236}">
                <a16:creationId xmlns:a16="http://schemas.microsoft.com/office/drawing/2014/main" id="{34FA08DC-E6F8-9B0F-2AA3-CCA52E3428F1}"/>
              </a:ext>
            </a:extLst>
          </p:cNvPr>
          <p:cNvGrpSpPr/>
          <p:nvPr/>
        </p:nvGrpSpPr>
        <p:grpSpPr>
          <a:xfrm>
            <a:off x="-557510" y="9397109"/>
            <a:ext cx="19403020" cy="1779782"/>
            <a:chOff x="0" y="0"/>
            <a:chExt cx="5110260" cy="468749"/>
          </a:xfrm>
        </p:grpSpPr>
        <p:sp>
          <p:nvSpPr>
            <p:cNvPr id="19" name="Freeform 19">
              <a:extLst>
                <a:ext uri="{FF2B5EF4-FFF2-40B4-BE49-F238E27FC236}">
                  <a16:creationId xmlns:a16="http://schemas.microsoft.com/office/drawing/2014/main" id="{B1BC5F39-A35C-6203-C0B9-E664DAE594FD}"/>
                </a:ext>
              </a:extLst>
            </p:cNvPr>
            <p:cNvSpPr/>
            <p:nvPr/>
          </p:nvSpPr>
          <p:spPr>
            <a:xfrm>
              <a:off x="0" y="0"/>
              <a:ext cx="5110261" cy="468749"/>
            </a:xfrm>
            <a:custGeom>
              <a:avLst/>
              <a:gdLst/>
              <a:ahLst/>
              <a:cxnLst/>
              <a:rect l="l" t="t" r="r" b="b"/>
              <a:pathLst>
                <a:path w="5110261" h="468749">
                  <a:moveTo>
                    <a:pt x="0" y="0"/>
                  </a:moveTo>
                  <a:lnTo>
                    <a:pt x="5110261" y="0"/>
                  </a:lnTo>
                  <a:lnTo>
                    <a:pt x="5110261" y="468749"/>
                  </a:lnTo>
                  <a:lnTo>
                    <a:pt x="0" y="468749"/>
                  </a:lnTo>
                  <a:close/>
                </a:path>
              </a:pathLst>
            </a:custGeom>
            <a:solidFill>
              <a:srgbClr val="8DAFA8"/>
            </a:solidFill>
          </p:spPr>
        </p:sp>
        <p:sp>
          <p:nvSpPr>
            <p:cNvPr id="20" name="TextBox 20">
              <a:extLst>
                <a:ext uri="{FF2B5EF4-FFF2-40B4-BE49-F238E27FC236}">
                  <a16:creationId xmlns:a16="http://schemas.microsoft.com/office/drawing/2014/main" id="{7D3E522E-02BC-413D-E602-296295DEB1C9}"/>
                </a:ext>
              </a:extLst>
            </p:cNvPr>
            <p:cNvSpPr txBox="1"/>
            <p:nvPr/>
          </p:nvSpPr>
          <p:spPr>
            <a:xfrm>
              <a:off x="0" y="-47625"/>
              <a:ext cx="5110260" cy="516374"/>
            </a:xfrm>
            <a:prstGeom prst="rect">
              <a:avLst/>
            </a:prstGeom>
          </p:spPr>
          <p:txBody>
            <a:bodyPr lIns="50800" tIns="50800" rIns="50800" bIns="50800" rtlCol="0" anchor="ctr"/>
            <a:lstStyle/>
            <a:p>
              <a:pPr algn="ctr">
                <a:lnSpc>
                  <a:spcPts val="2659"/>
                </a:lnSpc>
              </a:pPr>
              <a:endParaRPr/>
            </a:p>
          </p:txBody>
        </p:sp>
      </p:grpSp>
      <p:sp>
        <p:nvSpPr>
          <p:cNvPr id="23" name="TextBox 23">
            <a:extLst>
              <a:ext uri="{FF2B5EF4-FFF2-40B4-BE49-F238E27FC236}">
                <a16:creationId xmlns:a16="http://schemas.microsoft.com/office/drawing/2014/main" id="{AD7CDF41-CE11-DB8C-2B56-D21E652EE196}"/>
              </a:ext>
            </a:extLst>
          </p:cNvPr>
          <p:cNvSpPr txBox="1"/>
          <p:nvPr/>
        </p:nvSpPr>
        <p:spPr>
          <a:xfrm>
            <a:off x="11827243" y="1505984"/>
            <a:ext cx="5253409" cy="912089"/>
          </a:xfrm>
          <a:prstGeom prst="rect">
            <a:avLst/>
          </a:prstGeom>
        </p:spPr>
        <p:txBody>
          <a:bodyPr lIns="50800" tIns="50800" rIns="50800" bIns="50800" rtlCol="0" anchor="ctr"/>
          <a:lstStyle/>
          <a:p>
            <a:pPr algn="r">
              <a:lnSpc>
                <a:spcPts val="2659"/>
              </a:lnSpc>
            </a:pPr>
            <a:endParaRPr/>
          </a:p>
        </p:txBody>
      </p:sp>
      <p:sp>
        <p:nvSpPr>
          <p:cNvPr id="3" name="TextBox 2">
            <a:extLst>
              <a:ext uri="{FF2B5EF4-FFF2-40B4-BE49-F238E27FC236}">
                <a16:creationId xmlns:a16="http://schemas.microsoft.com/office/drawing/2014/main" id="{697592CD-4536-4DD2-CAD1-974293DE1B2C}"/>
              </a:ext>
            </a:extLst>
          </p:cNvPr>
          <p:cNvSpPr txBox="1"/>
          <p:nvPr/>
        </p:nvSpPr>
        <p:spPr>
          <a:xfrm>
            <a:off x="2281852" y="2053644"/>
            <a:ext cx="13724295" cy="6279476"/>
          </a:xfrm>
          <a:prstGeom prst="rect">
            <a:avLst/>
          </a:prstGeom>
          <a:noFill/>
        </p:spPr>
        <p:txBody>
          <a:bodyPr wrap="square">
            <a:spAutoFit/>
          </a:bodyPr>
          <a:lstStyle/>
          <a:p>
            <a:pPr marL="342900" lvl="0" indent="-342900">
              <a:lnSpc>
                <a:spcPct val="105000"/>
              </a:lnSpc>
              <a:buFont typeface="Symbol" panose="05050102010706020507" pitchFamily="18" charset="2"/>
              <a:buChar char=""/>
            </a:pP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342900" lvl="0" indent="-342900">
              <a:lnSpc>
                <a:spcPct val="105000"/>
              </a:lnSpc>
              <a:buFont typeface="Symbol" panose="05050102010706020507" pitchFamily="18" charset="2"/>
              <a:buChar char=""/>
            </a:pPr>
            <a:r>
              <a:rPr lang="en-IN" sz="2400">
                <a:effectLst/>
                <a:latin typeface="ITC Franklin Gothic LT" panose="020B0604020202020204" charset="0"/>
                <a:ea typeface="Calibri" panose="020F0502020204030204" pitchFamily="34" charset="0"/>
                <a:cs typeface="Times New Roman" panose="02020603050405020304" pitchFamily="18" charset="0"/>
              </a:rPr>
              <a:t>42% of the respondents say that unrealistic demands are the biggest threat to their work-life balance.</a:t>
            </a:r>
          </a:p>
          <a:p>
            <a:pPr marL="342900" lvl="0" indent="-342900">
              <a:lnSpc>
                <a:spcPct val="105000"/>
              </a:lnSpc>
              <a:buFont typeface="Symbol" panose="05050102010706020507" pitchFamily="18" charset="2"/>
              <a:buChar char=""/>
            </a:pPr>
            <a:r>
              <a:rPr lang="en-IN" sz="2400" kern="100">
                <a:effectLst/>
                <a:latin typeface="ITC Franklin Gothic LT" panose="020B0604020202020204" charset="0"/>
                <a:ea typeface="Calibri" panose="020F0502020204030204" pitchFamily="34" charset="0"/>
                <a:cs typeface="Times New Roman" panose="02020603050405020304" pitchFamily="18" charset="0"/>
              </a:rPr>
              <a:t>According to the survey, 50% of the population selected salary increase as the most motivating factor in their organization due to financial incentives, and 44.7% chose recognition due to acknowledgment of their efforts.</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342900" lvl="0" indent="-342900">
              <a:lnSpc>
                <a:spcPct val="105000"/>
              </a:lnSpc>
              <a:buFont typeface="Symbol" panose="05050102010706020507" pitchFamily="18" charset="2"/>
              <a:buChar char=""/>
            </a:pPr>
            <a:r>
              <a:rPr lang="en-IN" sz="2400">
                <a:effectLst/>
                <a:latin typeface="ITC Franklin Gothic LT" panose="020B0604020202020204" charset="0"/>
                <a:ea typeface="Calibri" panose="020F0502020204030204" pitchFamily="34" charset="0"/>
                <a:cs typeface="Times New Roman" panose="02020603050405020304" pitchFamily="18" charset="0"/>
              </a:rPr>
              <a:t>It can be concluded that appreciation for your work, learning, and career development gives job satisfaction to the majority of the respondents.</a:t>
            </a:r>
          </a:p>
          <a:p>
            <a:pPr marL="342900" lvl="0" indent="-342900">
              <a:lnSpc>
                <a:spcPct val="105000"/>
              </a:lnSpc>
              <a:buFont typeface="Symbol" panose="05050102010706020507" pitchFamily="18" charset="2"/>
              <a:buChar char=""/>
            </a:pPr>
            <a:r>
              <a:rPr lang="en-IN" sz="2400">
                <a:effectLst/>
                <a:latin typeface="ITC Franklin Gothic LT" panose="020B0604020202020204" charset="0"/>
                <a:ea typeface="Calibri" panose="020F0502020204030204" pitchFamily="34" charset="0"/>
                <a:cs typeface="Times New Roman" panose="02020603050405020304" pitchFamily="18" charset="0"/>
              </a:rPr>
              <a:t>82% of the responses say that employees in their organization are skilled, motivated, and productive.</a:t>
            </a:r>
          </a:p>
          <a:p>
            <a:pPr marL="342900" lvl="0" indent="-342900">
              <a:lnSpc>
                <a:spcPct val="105000"/>
              </a:lnSpc>
              <a:buFont typeface="Symbol" panose="05050102010706020507" pitchFamily="18" charset="2"/>
              <a:buChar char=""/>
            </a:pPr>
            <a:r>
              <a:rPr lang="en-IN" sz="2400">
                <a:effectLst/>
                <a:latin typeface="ITC Franklin Gothic LT" panose="020B0604020202020204" charset="0"/>
                <a:ea typeface="Calibri" panose="020F0502020204030204" pitchFamily="34" charset="0"/>
                <a:cs typeface="Times New Roman" panose="02020603050405020304" pitchFamily="18" charset="0"/>
              </a:rPr>
              <a:t>From the survey, half of the respondents need 1 to 2 hours for their daily commute.</a:t>
            </a:r>
          </a:p>
          <a:p>
            <a:pPr marL="342900" lvl="0" indent="-342900">
              <a:lnSpc>
                <a:spcPct val="105000"/>
              </a:lnSpc>
              <a:buFont typeface="Symbol" panose="05050102010706020507" pitchFamily="18" charset="2"/>
              <a:buChar char=""/>
            </a:pPr>
            <a:r>
              <a:rPr lang="en-IN" sz="2400">
                <a:effectLst/>
                <a:latin typeface="ITC Franklin Gothic LT" panose="020B0604020202020204" charset="0"/>
                <a:ea typeface="Calibri" panose="020F0502020204030204" pitchFamily="34" charset="0"/>
                <a:cs typeface="Times New Roman" panose="02020603050405020304" pitchFamily="18" charset="0"/>
              </a:rPr>
              <a:t>67.3% of the respondents have missed personal events due to work.</a:t>
            </a:r>
          </a:p>
          <a:p>
            <a:pPr marL="342900" lvl="0" indent="-342900">
              <a:lnSpc>
                <a:spcPct val="105000"/>
              </a:lnSpc>
              <a:buFont typeface="Symbol" panose="05050102010706020507" pitchFamily="18" charset="2"/>
              <a:buChar char=""/>
            </a:pPr>
            <a:r>
              <a:rPr lang="en-IN" sz="2400">
                <a:effectLst/>
                <a:latin typeface="ITC Franklin Gothic LT" panose="020B0604020202020204" charset="0"/>
                <a:ea typeface="Calibri" panose="020F0502020204030204" pitchFamily="34" charset="0"/>
                <a:cs typeface="Times New Roman" panose="02020603050405020304" pitchFamily="18" charset="0"/>
              </a:rPr>
              <a:t>Majority of the respondents say that the quality of the work life of the organization improves the productivity of the employees.</a:t>
            </a:r>
          </a:p>
          <a:p>
            <a:pPr marL="342900" lvl="0" indent="-342900">
              <a:lnSpc>
                <a:spcPct val="105000"/>
              </a:lnSpc>
              <a:spcAft>
                <a:spcPts val="800"/>
              </a:spcAft>
              <a:buFont typeface="Symbol" panose="05050102010706020507" pitchFamily="18" charset="2"/>
              <a:buChar char=""/>
            </a:pPr>
            <a:r>
              <a:rPr lang="en-US" sz="2400">
                <a:effectLst/>
                <a:latin typeface="ITC Franklin Gothic LT" panose="020B0604020202020204" charset="0"/>
                <a:ea typeface="Calibri" panose="020F0502020204030204" pitchFamily="34" charset="0"/>
                <a:cs typeface="Times New Roman" panose="02020603050405020304" pitchFamily="18" charset="0"/>
              </a:rPr>
              <a:t>According to the survey, there is an association between number of working hours and period of working overtime.</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96257273"/>
      </p:ext>
    </p:extLst>
  </p:cSld>
  <p:clrMapOvr>
    <a:masterClrMapping/>
  </p:clrMapOvr>
  <p:transition spd="slow">
    <p:cover/>
  </p:transition>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7EF"/>
        </a:solidFill>
        <a:effectLst/>
      </p:bgPr>
    </p:bg>
    <p:spTree>
      <p:nvGrpSpPr>
        <p:cNvPr id="1" name="">
          <a:extLst>
            <a:ext uri="{FF2B5EF4-FFF2-40B4-BE49-F238E27FC236}">
              <a16:creationId xmlns:a16="http://schemas.microsoft.com/office/drawing/2014/main" id="{FB1A8258-54F6-0A1F-F246-2D14808BFB6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1AA78EA-B382-9085-ABE4-39DA37DF15B3}"/>
              </a:ext>
            </a:extLst>
          </p:cNvPr>
          <p:cNvGrpSpPr/>
          <p:nvPr/>
        </p:nvGrpSpPr>
        <p:grpSpPr>
          <a:xfrm>
            <a:off x="4859108" y="4883522"/>
            <a:ext cx="3827651" cy="3827651"/>
            <a:chOff x="0" y="0"/>
            <a:chExt cx="812800" cy="812800"/>
          </a:xfrm>
        </p:grpSpPr>
        <p:sp>
          <p:nvSpPr>
            <p:cNvPr id="3" name="Freeform 3">
              <a:extLst>
                <a:ext uri="{FF2B5EF4-FFF2-40B4-BE49-F238E27FC236}">
                  <a16:creationId xmlns:a16="http://schemas.microsoft.com/office/drawing/2014/main" id="{4266BDEF-4CE1-800B-EBFA-1A0437D4F0C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DAFA8">
                <a:alpha val="40000"/>
              </a:srgbClr>
            </a:solidFill>
          </p:spPr>
        </p:sp>
        <p:sp>
          <p:nvSpPr>
            <p:cNvPr id="4" name="TextBox 4">
              <a:extLst>
                <a:ext uri="{FF2B5EF4-FFF2-40B4-BE49-F238E27FC236}">
                  <a16:creationId xmlns:a16="http://schemas.microsoft.com/office/drawing/2014/main" id="{7987D69A-1085-F0E0-7ACC-7BEFBB9CA33F}"/>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 name="Group 5">
            <a:extLst>
              <a:ext uri="{FF2B5EF4-FFF2-40B4-BE49-F238E27FC236}">
                <a16:creationId xmlns:a16="http://schemas.microsoft.com/office/drawing/2014/main" id="{769D9D80-CC9D-CDD8-4C9D-88375740ED48}"/>
              </a:ext>
            </a:extLst>
          </p:cNvPr>
          <p:cNvGrpSpPr/>
          <p:nvPr/>
        </p:nvGrpSpPr>
        <p:grpSpPr>
          <a:xfrm>
            <a:off x="714039" y="1672355"/>
            <a:ext cx="3389171" cy="3389171"/>
            <a:chOff x="0" y="0"/>
            <a:chExt cx="812800" cy="812800"/>
          </a:xfrm>
        </p:grpSpPr>
        <p:sp>
          <p:nvSpPr>
            <p:cNvPr id="6" name="Freeform 6">
              <a:extLst>
                <a:ext uri="{FF2B5EF4-FFF2-40B4-BE49-F238E27FC236}">
                  <a16:creationId xmlns:a16="http://schemas.microsoft.com/office/drawing/2014/main" id="{7FE306C2-22BC-3A81-176B-99AF796D3AD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DAFA8">
                <a:alpha val="40000"/>
              </a:srgbClr>
            </a:solidFill>
          </p:spPr>
        </p:sp>
        <p:sp>
          <p:nvSpPr>
            <p:cNvPr id="7" name="TextBox 7">
              <a:extLst>
                <a:ext uri="{FF2B5EF4-FFF2-40B4-BE49-F238E27FC236}">
                  <a16:creationId xmlns:a16="http://schemas.microsoft.com/office/drawing/2014/main" id="{CF416DF5-08A1-A334-D5EF-04CAF62F8709}"/>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8" name="Group 8">
            <a:extLst>
              <a:ext uri="{FF2B5EF4-FFF2-40B4-BE49-F238E27FC236}">
                <a16:creationId xmlns:a16="http://schemas.microsoft.com/office/drawing/2014/main" id="{6CCBD6AF-0690-C464-2360-916184ACD644}"/>
              </a:ext>
            </a:extLst>
          </p:cNvPr>
          <p:cNvGrpSpPr/>
          <p:nvPr/>
        </p:nvGrpSpPr>
        <p:grpSpPr>
          <a:xfrm>
            <a:off x="1004805" y="4038431"/>
            <a:ext cx="2094831" cy="2094831"/>
            <a:chOff x="0" y="0"/>
            <a:chExt cx="812800" cy="812800"/>
          </a:xfrm>
        </p:grpSpPr>
        <p:sp>
          <p:nvSpPr>
            <p:cNvPr id="9" name="Freeform 9">
              <a:extLst>
                <a:ext uri="{FF2B5EF4-FFF2-40B4-BE49-F238E27FC236}">
                  <a16:creationId xmlns:a16="http://schemas.microsoft.com/office/drawing/2014/main" id="{E01794DB-7894-A8D6-995B-88D812D0164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6A160">
                <a:alpha val="40000"/>
              </a:srgbClr>
            </a:solidFill>
          </p:spPr>
        </p:sp>
        <p:sp>
          <p:nvSpPr>
            <p:cNvPr id="10" name="TextBox 10">
              <a:extLst>
                <a:ext uri="{FF2B5EF4-FFF2-40B4-BE49-F238E27FC236}">
                  <a16:creationId xmlns:a16="http://schemas.microsoft.com/office/drawing/2014/main" id="{0BD0953F-29DC-09AD-07DD-E63FF5468CE4}"/>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11" name="Group 11">
            <a:extLst>
              <a:ext uri="{FF2B5EF4-FFF2-40B4-BE49-F238E27FC236}">
                <a16:creationId xmlns:a16="http://schemas.microsoft.com/office/drawing/2014/main" id="{2FB20307-9961-E77E-E7B5-3A18207F418F}"/>
              </a:ext>
            </a:extLst>
          </p:cNvPr>
          <p:cNvGrpSpPr/>
          <p:nvPr/>
        </p:nvGrpSpPr>
        <p:grpSpPr>
          <a:xfrm>
            <a:off x="5784365" y="2991016"/>
            <a:ext cx="2094831" cy="2094831"/>
            <a:chOff x="0" y="0"/>
            <a:chExt cx="812800" cy="812800"/>
          </a:xfrm>
        </p:grpSpPr>
        <p:sp>
          <p:nvSpPr>
            <p:cNvPr id="12" name="Freeform 12">
              <a:extLst>
                <a:ext uri="{FF2B5EF4-FFF2-40B4-BE49-F238E27FC236}">
                  <a16:creationId xmlns:a16="http://schemas.microsoft.com/office/drawing/2014/main" id="{64B2BCAB-0FB7-FCC5-8516-B020377677F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6A160">
                <a:alpha val="40000"/>
              </a:srgbClr>
            </a:solidFill>
          </p:spPr>
        </p:sp>
        <p:sp>
          <p:nvSpPr>
            <p:cNvPr id="13" name="TextBox 13">
              <a:extLst>
                <a:ext uri="{FF2B5EF4-FFF2-40B4-BE49-F238E27FC236}">
                  <a16:creationId xmlns:a16="http://schemas.microsoft.com/office/drawing/2014/main" id="{65B67EF0-3A5B-33F6-7F8E-847B2907E169}"/>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15" name="Group 15">
            <a:extLst>
              <a:ext uri="{FF2B5EF4-FFF2-40B4-BE49-F238E27FC236}">
                <a16:creationId xmlns:a16="http://schemas.microsoft.com/office/drawing/2014/main" id="{F2D431BA-D6E8-F9D2-10C8-62FE8B5BBC9B}"/>
              </a:ext>
            </a:extLst>
          </p:cNvPr>
          <p:cNvGrpSpPr/>
          <p:nvPr/>
        </p:nvGrpSpPr>
        <p:grpSpPr>
          <a:xfrm>
            <a:off x="-557510" y="-889891"/>
            <a:ext cx="19403020" cy="1779782"/>
            <a:chOff x="0" y="0"/>
            <a:chExt cx="5110260" cy="468749"/>
          </a:xfrm>
        </p:grpSpPr>
        <p:sp>
          <p:nvSpPr>
            <p:cNvPr id="16" name="Freeform 16">
              <a:extLst>
                <a:ext uri="{FF2B5EF4-FFF2-40B4-BE49-F238E27FC236}">
                  <a16:creationId xmlns:a16="http://schemas.microsoft.com/office/drawing/2014/main" id="{591E60B1-C0F6-A22B-E621-0FC828283087}"/>
                </a:ext>
              </a:extLst>
            </p:cNvPr>
            <p:cNvSpPr/>
            <p:nvPr/>
          </p:nvSpPr>
          <p:spPr>
            <a:xfrm>
              <a:off x="0" y="0"/>
              <a:ext cx="5110261" cy="468749"/>
            </a:xfrm>
            <a:custGeom>
              <a:avLst/>
              <a:gdLst/>
              <a:ahLst/>
              <a:cxnLst/>
              <a:rect l="l" t="t" r="r" b="b"/>
              <a:pathLst>
                <a:path w="5110261" h="468749">
                  <a:moveTo>
                    <a:pt x="0" y="0"/>
                  </a:moveTo>
                  <a:lnTo>
                    <a:pt x="5110261" y="0"/>
                  </a:lnTo>
                  <a:lnTo>
                    <a:pt x="5110261" y="468749"/>
                  </a:lnTo>
                  <a:lnTo>
                    <a:pt x="0" y="468749"/>
                  </a:lnTo>
                  <a:close/>
                </a:path>
              </a:pathLst>
            </a:custGeom>
            <a:solidFill>
              <a:srgbClr val="8DAFA8"/>
            </a:solidFill>
          </p:spPr>
        </p:sp>
        <p:sp>
          <p:nvSpPr>
            <p:cNvPr id="17" name="TextBox 17">
              <a:extLst>
                <a:ext uri="{FF2B5EF4-FFF2-40B4-BE49-F238E27FC236}">
                  <a16:creationId xmlns:a16="http://schemas.microsoft.com/office/drawing/2014/main" id="{798E53A9-DBC8-62AF-3005-BACC06E4658E}"/>
                </a:ext>
              </a:extLst>
            </p:cNvPr>
            <p:cNvSpPr txBox="1"/>
            <p:nvPr/>
          </p:nvSpPr>
          <p:spPr>
            <a:xfrm>
              <a:off x="0" y="-47625"/>
              <a:ext cx="5110260" cy="516374"/>
            </a:xfrm>
            <a:prstGeom prst="rect">
              <a:avLst/>
            </a:prstGeom>
          </p:spPr>
          <p:txBody>
            <a:bodyPr lIns="50800" tIns="50800" rIns="50800" bIns="50800" rtlCol="0" anchor="ctr"/>
            <a:lstStyle/>
            <a:p>
              <a:pPr algn="ctr">
                <a:lnSpc>
                  <a:spcPts val="2659"/>
                </a:lnSpc>
              </a:pPr>
              <a:endParaRPr/>
            </a:p>
          </p:txBody>
        </p:sp>
      </p:grpSp>
      <p:grpSp>
        <p:nvGrpSpPr>
          <p:cNvPr id="18" name="Group 18">
            <a:extLst>
              <a:ext uri="{FF2B5EF4-FFF2-40B4-BE49-F238E27FC236}">
                <a16:creationId xmlns:a16="http://schemas.microsoft.com/office/drawing/2014/main" id="{9EC765FE-6F74-533D-1B3D-A8FABFB85ED3}"/>
              </a:ext>
            </a:extLst>
          </p:cNvPr>
          <p:cNvGrpSpPr/>
          <p:nvPr/>
        </p:nvGrpSpPr>
        <p:grpSpPr>
          <a:xfrm>
            <a:off x="-557510" y="9397109"/>
            <a:ext cx="19403020" cy="1779782"/>
            <a:chOff x="0" y="0"/>
            <a:chExt cx="5110260" cy="468749"/>
          </a:xfrm>
        </p:grpSpPr>
        <p:sp>
          <p:nvSpPr>
            <p:cNvPr id="19" name="Freeform 19">
              <a:extLst>
                <a:ext uri="{FF2B5EF4-FFF2-40B4-BE49-F238E27FC236}">
                  <a16:creationId xmlns:a16="http://schemas.microsoft.com/office/drawing/2014/main" id="{1DF7CE5A-376D-0AF7-4AD0-952DAF05A98F}"/>
                </a:ext>
              </a:extLst>
            </p:cNvPr>
            <p:cNvSpPr/>
            <p:nvPr/>
          </p:nvSpPr>
          <p:spPr>
            <a:xfrm>
              <a:off x="0" y="0"/>
              <a:ext cx="5110261" cy="468749"/>
            </a:xfrm>
            <a:custGeom>
              <a:avLst/>
              <a:gdLst/>
              <a:ahLst/>
              <a:cxnLst/>
              <a:rect l="l" t="t" r="r" b="b"/>
              <a:pathLst>
                <a:path w="5110261" h="468749">
                  <a:moveTo>
                    <a:pt x="0" y="0"/>
                  </a:moveTo>
                  <a:lnTo>
                    <a:pt x="5110261" y="0"/>
                  </a:lnTo>
                  <a:lnTo>
                    <a:pt x="5110261" y="468749"/>
                  </a:lnTo>
                  <a:lnTo>
                    <a:pt x="0" y="468749"/>
                  </a:lnTo>
                  <a:close/>
                </a:path>
              </a:pathLst>
            </a:custGeom>
            <a:solidFill>
              <a:srgbClr val="8DAFA8"/>
            </a:solidFill>
          </p:spPr>
        </p:sp>
        <p:sp>
          <p:nvSpPr>
            <p:cNvPr id="20" name="TextBox 20">
              <a:extLst>
                <a:ext uri="{FF2B5EF4-FFF2-40B4-BE49-F238E27FC236}">
                  <a16:creationId xmlns:a16="http://schemas.microsoft.com/office/drawing/2014/main" id="{1BDE178F-4BB5-2AC0-A72E-EC6EE188473A}"/>
                </a:ext>
              </a:extLst>
            </p:cNvPr>
            <p:cNvSpPr txBox="1"/>
            <p:nvPr/>
          </p:nvSpPr>
          <p:spPr>
            <a:xfrm>
              <a:off x="0" y="-47625"/>
              <a:ext cx="5110260" cy="516374"/>
            </a:xfrm>
            <a:prstGeom prst="rect">
              <a:avLst/>
            </a:prstGeom>
          </p:spPr>
          <p:txBody>
            <a:bodyPr lIns="50800" tIns="50800" rIns="50800" bIns="50800" rtlCol="0" anchor="ctr"/>
            <a:lstStyle/>
            <a:p>
              <a:pPr algn="ctr">
                <a:lnSpc>
                  <a:spcPts val="2659"/>
                </a:lnSpc>
              </a:pPr>
              <a:endParaRPr/>
            </a:p>
          </p:txBody>
        </p:sp>
      </p:grpSp>
      <p:sp>
        <p:nvSpPr>
          <p:cNvPr id="23" name="TextBox 23">
            <a:extLst>
              <a:ext uri="{FF2B5EF4-FFF2-40B4-BE49-F238E27FC236}">
                <a16:creationId xmlns:a16="http://schemas.microsoft.com/office/drawing/2014/main" id="{A030F3E4-0FED-E18B-495E-C1FAD6B0F78C}"/>
              </a:ext>
            </a:extLst>
          </p:cNvPr>
          <p:cNvSpPr txBox="1"/>
          <p:nvPr/>
        </p:nvSpPr>
        <p:spPr>
          <a:xfrm>
            <a:off x="11827243" y="1505984"/>
            <a:ext cx="5253409" cy="912089"/>
          </a:xfrm>
          <a:prstGeom prst="rect">
            <a:avLst/>
          </a:prstGeom>
        </p:spPr>
        <p:txBody>
          <a:bodyPr lIns="50800" tIns="50800" rIns="50800" bIns="50800" rtlCol="0" anchor="ctr"/>
          <a:lstStyle/>
          <a:p>
            <a:pPr algn="r">
              <a:lnSpc>
                <a:spcPts val="2659"/>
              </a:lnSpc>
            </a:pPr>
            <a:endParaRPr/>
          </a:p>
        </p:txBody>
      </p:sp>
      <p:sp>
        <p:nvSpPr>
          <p:cNvPr id="24" name="Freeform 24">
            <a:extLst>
              <a:ext uri="{FF2B5EF4-FFF2-40B4-BE49-F238E27FC236}">
                <a16:creationId xmlns:a16="http://schemas.microsoft.com/office/drawing/2014/main" id="{613CEE62-E225-6E41-6F6A-F40455FD35E0}"/>
              </a:ext>
            </a:extLst>
          </p:cNvPr>
          <p:cNvSpPr/>
          <p:nvPr/>
        </p:nvSpPr>
        <p:spPr>
          <a:xfrm rot="1627902">
            <a:off x="5996373" y="2077603"/>
            <a:ext cx="2254244" cy="971374"/>
          </a:xfrm>
          <a:custGeom>
            <a:avLst/>
            <a:gdLst/>
            <a:ahLst/>
            <a:cxnLst/>
            <a:rect l="l" t="t" r="r" b="b"/>
            <a:pathLst>
              <a:path w="2254244" h="971374">
                <a:moveTo>
                  <a:pt x="0" y="0"/>
                </a:moveTo>
                <a:lnTo>
                  <a:pt x="2254244" y="0"/>
                </a:lnTo>
                <a:lnTo>
                  <a:pt x="2254244" y="971375"/>
                </a:lnTo>
                <a:lnTo>
                  <a:pt x="0" y="9713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5" name="Freeform 25">
            <a:extLst>
              <a:ext uri="{FF2B5EF4-FFF2-40B4-BE49-F238E27FC236}">
                <a16:creationId xmlns:a16="http://schemas.microsoft.com/office/drawing/2014/main" id="{9955AAD2-2300-CBBC-B740-61A3AFCE7C80}"/>
              </a:ext>
            </a:extLst>
          </p:cNvPr>
          <p:cNvSpPr/>
          <p:nvPr/>
        </p:nvSpPr>
        <p:spPr>
          <a:xfrm rot="1627902" flipV="1">
            <a:off x="747928" y="7642829"/>
            <a:ext cx="2254244" cy="971374"/>
          </a:xfrm>
          <a:custGeom>
            <a:avLst/>
            <a:gdLst/>
            <a:ahLst/>
            <a:cxnLst/>
            <a:rect l="l" t="t" r="r" b="b"/>
            <a:pathLst>
              <a:path w="2254244" h="971374">
                <a:moveTo>
                  <a:pt x="0" y="971374"/>
                </a:moveTo>
                <a:lnTo>
                  <a:pt x="2254244" y="971374"/>
                </a:lnTo>
                <a:lnTo>
                  <a:pt x="2254244" y="0"/>
                </a:lnTo>
                <a:lnTo>
                  <a:pt x="0" y="0"/>
                </a:lnTo>
                <a:lnTo>
                  <a:pt x="0" y="971374"/>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6" name="Freeform 26">
            <a:extLst>
              <a:ext uri="{FF2B5EF4-FFF2-40B4-BE49-F238E27FC236}">
                <a16:creationId xmlns:a16="http://schemas.microsoft.com/office/drawing/2014/main" id="{8ACEE460-37E2-6221-99FA-62F27C13769E}"/>
              </a:ext>
            </a:extLst>
          </p:cNvPr>
          <p:cNvSpPr/>
          <p:nvPr/>
        </p:nvSpPr>
        <p:spPr>
          <a:xfrm>
            <a:off x="824566" y="6133262"/>
            <a:ext cx="632667" cy="675664"/>
          </a:xfrm>
          <a:custGeom>
            <a:avLst/>
            <a:gdLst/>
            <a:ahLst/>
            <a:cxnLst/>
            <a:rect l="l" t="t" r="r" b="b"/>
            <a:pathLst>
              <a:path w="632667" h="675664">
                <a:moveTo>
                  <a:pt x="0" y="0"/>
                </a:moveTo>
                <a:lnTo>
                  <a:pt x="632667" y="0"/>
                </a:lnTo>
                <a:lnTo>
                  <a:pt x="632667" y="675664"/>
                </a:lnTo>
                <a:lnTo>
                  <a:pt x="0" y="67566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9" name="TextBox 28">
            <a:extLst>
              <a:ext uri="{FF2B5EF4-FFF2-40B4-BE49-F238E27FC236}">
                <a16:creationId xmlns:a16="http://schemas.microsoft.com/office/drawing/2014/main" id="{D6520801-19A5-4B19-AA0B-77CF10360E3F}"/>
              </a:ext>
            </a:extLst>
          </p:cNvPr>
          <p:cNvSpPr txBox="1"/>
          <p:nvPr/>
        </p:nvSpPr>
        <p:spPr>
          <a:xfrm>
            <a:off x="10477228" y="5622289"/>
            <a:ext cx="9705529" cy="1021946"/>
          </a:xfrm>
          <a:prstGeom prst="rect">
            <a:avLst/>
          </a:prstGeom>
          <a:noFill/>
        </p:spPr>
        <p:txBody>
          <a:bodyPr wrap="square">
            <a:spAutoFit/>
          </a:bodyPr>
          <a:lstStyle/>
          <a:p>
            <a:pPr>
              <a:lnSpc>
                <a:spcPts val="3806"/>
              </a:lnSpc>
              <a:spcBef>
                <a:spcPct val="0"/>
              </a:spcBef>
            </a:pPr>
            <a:r>
              <a:rPr lang="en-US" sz="16600">
                <a:solidFill>
                  <a:srgbClr val="996633"/>
                </a:solidFill>
                <a:latin typeface="League Gothic" panose="020B0604020202020204" charset="0"/>
              </a:rPr>
              <a:t>Conclusion</a:t>
            </a:r>
            <a:endParaRPr lang="en-US" sz="8000">
              <a:solidFill>
                <a:srgbClr val="996633"/>
              </a:solidFill>
              <a:latin typeface="League Gothic" panose="020B0604020202020204" charset="0"/>
            </a:endParaRPr>
          </a:p>
        </p:txBody>
      </p:sp>
      <p:sp>
        <p:nvSpPr>
          <p:cNvPr id="14" name="Freeform 24">
            <a:extLst>
              <a:ext uri="{FF2B5EF4-FFF2-40B4-BE49-F238E27FC236}">
                <a16:creationId xmlns:a16="http://schemas.microsoft.com/office/drawing/2014/main" id="{354FCDBD-7F81-FE78-DB58-ECF5B59EC65F}"/>
              </a:ext>
            </a:extLst>
          </p:cNvPr>
          <p:cNvSpPr/>
          <p:nvPr/>
        </p:nvSpPr>
        <p:spPr>
          <a:xfrm>
            <a:off x="1941570" y="2812224"/>
            <a:ext cx="5708635" cy="4914860"/>
          </a:xfrm>
          <a:custGeom>
            <a:avLst/>
            <a:gdLst/>
            <a:ahLst/>
            <a:cxnLst/>
            <a:rect l="l" t="t" r="r" b="b"/>
            <a:pathLst>
              <a:path w="4628098" h="4114800">
                <a:moveTo>
                  <a:pt x="0" y="0"/>
                </a:moveTo>
                <a:lnTo>
                  <a:pt x="4628098" y="0"/>
                </a:lnTo>
                <a:lnTo>
                  <a:pt x="4628098"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Tree>
    <p:extLst>
      <p:ext uri="{BB962C8B-B14F-4D97-AF65-F5344CB8AC3E}">
        <p14:creationId xmlns:p14="http://schemas.microsoft.com/office/powerpoint/2010/main" val="97538675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7EF"/>
        </a:solidFill>
        <a:effectLst/>
      </p:bgPr>
    </p:bg>
    <p:spTree>
      <p:nvGrpSpPr>
        <p:cNvPr id="1" name="">
          <a:extLst>
            <a:ext uri="{FF2B5EF4-FFF2-40B4-BE49-F238E27FC236}">
              <a16:creationId xmlns:a16="http://schemas.microsoft.com/office/drawing/2014/main" id="{420F967C-E82D-A5A9-8EE8-8DAD831E1079}"/>
            </a:ext>
          </a:extLst>
        </p:cNvPr>
        <p:cNvGrpSpPr/>
        <p:nvPr/>
      </p:nvGrpSpPr>
      <p:grpSpPr>
        <a:xfrm>
          <a:off x="0" y="0"/>
          <a:ext cx="0" cy="0"/>
          <a:chOff x="0" y="0"/>
          <a:chExt cx="0" cy="0"/>
        </a:xfrm>
      </p:grpSpPr>
      <p:grpSp>
        <p:nvGrpSpPr>
          <p:cNvPr id="15" name="Group 15">
            <a:extLst>
              <a:ext uri="{FF2B5EF4-FFF2-40B4-BE49-F238E27FC236}">
                <a16:creationId xmlns:a16="http://schemas.microsoft.com/office/drawing/2014/main" id="{0170EB9F-4F53-9F96-B47C-07971C119417}"/>
              </a:ext>
            </a:extLst>
          </p:cNvPr>
          <p:cNvGrpSpPr/>
          <p:nvPr/>
        </p:nvGrpSpPr>
        <p:grpSpPr>
          <a:xfrm>
            <a:off x="-557510" y="-889891"/>
            <a:ext cx="19403020" cy="1779782"/>
            <a:chOff x="0" y="0"/>
            <a:chExt cx="5110260" cy="468749"/>
          </a:xfrm>
        </p:grpSpPr>
        <p:sp>
          <p:nvSpPr>
            <p:cNvPr id="16" name="Freeform 16">
              <a:extLst>
                <a:ext uri="{FF2B5EF4-FFF2-40B4-BE49-F238E27FC236}">
                  <a16:creationId xmlns:a16="http://schemas.microsoft.com/office/drawing/2014/main" id="{8EDD3C7B-B73A-B458-9E4B-3B5CB92A551B}"/>
                </a:ext>
              </a:extLst>
            </p:cNvPr>
            <p:cNvSpPr/>
            <p:nvPr/>
          </p:nvSpPr>
          <p:spPr>
            <a:xfrm>
              <a:off x="0" y="0"/>
              <a:ext cx="5110261" cy="468749"/>
            </a:xfrm>
            <a:custGeom>
              <a:avLst/>
              <a:gdLst/>
              <a:ahLst/>
              <a:cxnLst/>
              <a:rect l="l" t="t" r="r" b="b"/>
              <a:pathLst>
                <a:path w="5110261" h="468749">
                  <a:moveTo>
                    <a:pt x="0" y="0"/>
                  </a:moveTo>
                  <a:lnTo>
                    <a:pt x="5110261" y="0"/>
                  </a:lnTo>
                  <a:lnTo>
                    <a:pt x="5110261" y="468749"/>
                  </a:lnTo>
                  <a:lnTo>
                    <a:pt x="0" y="468749"/>
                  </a:lnTo>
                  <a:close/>
                </a:path>
              </a:pathLst>
            </a:custGeom>
            <a:solidFill>
              <a:srgbClr val="8DAFA8"/>
            </a:solidFill>
          </p:spPr>
        </p:sp>
        <p:sp>
          <p:nvSpPr>
            <p:cNvPr id="17" name="TextBox 17">
              <a:extLst>
                <a:ext uri="{FF2B5EF4-FFF2-40B4-BE49-F238E27FC236}">
                  <a16:creationId xmlns:a16="http://schemas.microsoft.com/office/drawing/2014/main" id="{775AD758-2935-54C3-DE7E-996F75616DEE}"/>
                </a:ext>
              </a:extLst>
            </p:cNvPr>
            <p:cNvSpPr txBox="1"/>
            <p:nvPr/>
          </p:nvSpPr>
          <p:spPr>
            <a:xfrm>
              <a:off x="0" y="-47625"/>
              <a:ext cx="5110260" cy="516374"/>
            </a:xfrm>
            <a:prstGeom prst="rect">
              <a:avLst/>
            </a:prstGeom>
          </p:spPr>
          <p:txBody>
            <a:bodyPr lIns="50800" tIns="50800" rIns="50800" bIns="50800" rtlCol="0" anchor="ctr"/>
            <a:lstStyle/>
            <a:p>
              <a:pPr algn="ctr">
                <a:lnSpc>
                  <a:spcPts val="2659"/>
                </a:lnSpc>
              </a:pPr>
              <a:endParaRPr/>
            </a:p>
          </p:txBody>
        </p:sp>
      </p:grpSp>
      <p:grpSp>
        <p:nvGrpSpPr>
          <p:cNvPr id="18" name="Group 18">
            <a:extLst>
              <a:ext uri="{FF2B5EF4-FFF2-40B4-BE49-F238E27FC236}">
                <a16:creationId xmlns:a16="http://schemas.microsoft.com/office/drawing/2014/main" id="{34FA08DC-E6F8-9B0F-2AA3-CCA52E3428F1}"/>
              </a:ext>
            </a:extLst>
          </p:cNvPr>
          <p:cNvGrpSpPr/>
          <p:nvPr/>
        </p:nvGrpSpPr>
        <p:grpSpPr>
          <a:xfrm>
            <a:off x="-557510" y="9397109"/>
            <a:ext cx="19403020" cy="1779782"/>
            <a:chOff x="0" y="0"/>
            <a:chExt cx="5110260" cy="468749"/>
          </a:xfrm>
        </p:grpSpPr>
        <p:sp>
          <p:nvSpPr>
            <p:cNvPr id="19" name="Freeform 19">
              <a:extLst>
                <a:ext uri="{FF2B5EF4-FFF2-40B4-BE49-F238E27FC236}">
                  <a16:creationId xmlns:a16="http://schemas.microsoft.com/office/drawing/2014/main" id="{B1BC5F39-A35C-6203-C0B9-E664DAE594FD}"/>
                </a:ext>
              </a:extLst>
            </p:cNvPr>
            <p:cNvSpPr/>
            <p:nvPr/>
          </p:nvSpPr>
          <p:spPr>
            <a:xfrm>
              <a:off x="0" y="0"/>
              <a:ext cx="5110261" cy="468749"/>
            </a:xfrm>
            <a:custGeom>
              <a:avLst/>
              <a:gdLst/>
              <a:ahLst/>
              <a:cxnLst/>
              <a:rect l="l" t="t" r="r" b="b"/>
              <a:pathLst>
                <a:path w="5110261" h="468749">
                  <a:moveTo>
                    <a:pt x="0" y="0"/>
                  </a:moveTo>
                  <a:lnTo>
                    <a:pt x="5110261" y="0"/>
                  </a:lnTo>
                  <a:lnTo>
                    <a:pt x="5110261" y="468749"/>
                  </a:lnTo>
                  <a:lnTo>
                    <a:pt x="0" y="468749"/>
                  </a:lnTo>
                  <a:close/>
                </a:path>
              </a:pathLst>
            </a:custGeom>
            <a:solidFill>
              <a:srgbClr val="8DAFA8"/>
            </a:solidFill>
          </p:spPr>
        </p:sp>
        <p:sp>
          <p:nvSpPr>
            <p:cNvPr id="20" name="TextBox 20">
              <a:extLst>
                <a:ext uri="{FF2B5EF4-FFF2-40B4-BE49-F238E27FC236}">
                  <a16:creationId xmlns:a16="http://schemas.microsoft.com/office/drawing/2014/main" id="{7D3E522E-02BC-413D-E602-296295DEB1C9}"/>
                </a:ext>
              </a:extLst>
            </p:cNvPr>
            <p:cNvSpPr txBox="1"/>
            <p:nvPr/>
          </p:nvSpPr>
          <p:spPr>
            <a:xfrm>
              <a:off x="0" y="-47625"/>
              <a:ext cx="5110260" cy="516374"/>
            </a:xfrm>
            <a:prstGeom prst="rect">
              <a:avLst/>
            </a:prstGeom>
          </p:spPr>
          <p:txBody>
            <a:bodyPr lIns="50800" tIns="50800" rIns="50800" bIns="50800" rtlCol="0" anchor="ctr"/>
            <a:lstStyle/>
            <a:p>
              <a:pPr algn="ctr">
                <a:lnSpc>
                  <a:spcPts val="2659"/>
                </a:lnSpc>
              </a:pPr>
              <a:endParaRPr/>
            </a:p>
          </p:txBody>
        </p:sp>
      </p:grpSp>
      <p:sp>
        <p:nvSpPr>
          <p:cNvPr id="23" name="TextBox 23">
            <a:extLst>
              <a:ext uri="{FF2B5EF4-FFF2-40B4-BE49-F238E27FC236}">
                <a16:creationId xmlns:a16="http://schemas.microsoft.com/office/drawing/2014/main" id="{AD7CDF41-CE11-DB8C-2B56-D21E652EE196}"/>
              </a:ext>
            </a:extLst>
          </p:cNvPr>
          <p:cNvSpPr txBox="1"/>
          <p:nvPr/>
        </p:nvSpPr>
        <p:spPr>
          <a:xfrm>
            <a:off x="11827243" y="1505984"/>
            <a:ext cx="5253409" cy="912089"/>
          </a:xfrm>
          <a:prstGeom prst="rect">
            <a:avLst/>
          </a:prstGeom>
        </p:spPr>
        <p:txBody>
          <a:bodyPr lIns="50800" tIns="50800" rIns="50800" bIns="50800" rtlCol="0" anchor="ctr"/>
          <a:lstStyle/>
          <a:p>
            <a:pPr algn="r">
              <a:lnSpc>
                <a:spcPts val="2659"/>
              </a:lnSpc>
            </a:pPr>
            <a:endParaRPr/>
          </a:p>
        </p:txBody>
      </p:sp>
      <p:sp>
        <p:nvSpPr>
          <p:cNvPr id="4" name="TextBox 3">
            <a:extLst>
              <a:ext uri="{FF2B5EF4-FFF2-40B4-BE49-F238E27FC236}">
                <a16:creationId xmlns:a16="http://schemas.microsoft.com/office/drawing/2014/main" id="{6BD576EF-8BCF-77B3-C408-6E77740E8DEE}"/>
              </a:ext>
            </a:extLst>
          </p:cNvPr>
          <p:cNvSpPr txBox="1"/>
          <p:nvPr/>
        </p:nvSpPr>
        <p:spPr>
          <a:xfrm>
            <a:off x="2286000" y="1950606"/>
            <a:ext cx="13232969" cy="6385787"/>
          </a:xfrm>
          <a:prstGeom prst="rect">
            <a:avLst/>
          </a:prstGeom>
          <a:noFill/>
        </p:spPr>
        <p:txBody>
          <a:bodyPr wrap="square">
            <a:spAutoFit/>
          </a:bodyPr>
          <a:lstStyle/>
          <a:p>
            <a:pPr marL="228600">
              <a:lnSpc>
                <a:spcPct val="106000"/>
              </a:lnSpc>
              <a:spcAft>
                <a:spcPts val="800"/>
              </a:spcAft>
            </a:pPr>
            <a:r>
              <a:rPr lang="en-IN" sz="2400">
                <a:effectLst/>
                <a:latin typeface="ITC Franklin Gothic LT" panose="020B0604020202020204" charset="0"/>
                <a:ea typeface="Calibri" panose="020F0502020204030204" pitchFamily="34" charset="0"/>
                <a:cs typeface="Times New Roman" panose="02020603050405020304" pitchFamily="18" charset="0"/>
              </a:rPr>
              <a:t>From the survey, it can be concluded that,</a:t>
            </a:r>
          </a:p>
          <a:p>
            <a:pPr marL="342900" lvl="0" indent="-342900">
              <a:lnSpc>
                <a:spcPct val="105000"/>
              </a:lnSpc>
              <a:buFont typeface="Wingdings" panose="05000000000000000000" pitchFamily="2" charset="2"/>
              <a:buChar char=""/>
            </a:pPr>
            <a:r>
              <a:rPr lang="en-IN" sz="2400">
                <a:effectLst/>
                <a:latin typeface="ITC Franklin Gothic LT" panose="020B0604020202020204" charset="0"/>
                <a:ea typeface="Calibri" panose="020F0502020204030204" pitchFamily="34" charset="0"/>
                <a:cs typeface="Times New Roman" panose="02020603050405020304" pitchFamily="18" charset="0"/>
              </a:rPr>
              <a:t>Number of working hours and current working hours satisfaction is 35.64% positively associated.</a:t>
            </a:r>
          </a:p>
          <a:p>
            <a:pPr marL="342900" lvl="0" indent="-342900">
              <a:lnSpc>
                <a:spcPct val="105000"/>
              </a:lnSpc>
              <a:buFont typeface="Wingdings" panose="05000000000000000000" pitchFamily="2" charset="2"/>
              <a:buChar char=""/>
            </a:pPr>
            <a:r>
              <a:rPr lang="en-IN" sz="2400">
                <a:effectLst/>
                <a:latin typeface="ITC Franklin Gothic LT" panose="020B0604020202020204" charset="0"/>
                <a:ea typeface="Calibri" panose="020F0502020204030204" pitchFamily="34" charset="0"/>
                <a:cs typeface="Times New Roman" panose="02020603050405020304" pitchFamily="18" charset="0"/>
              </a:rPr>
              <a:t>Half of the respondents need 1 to 2 hours for their daily commute.</a:t>
            </a:r>
          </a:p>
          <a:p>
            <a:pPr marL="342900" lvl="0" indent="-342900">
              <a:lnSpc>
                <a:spcPct val="105000"/>
              </a:lnSpc>
              <a:buFont typeface="Wingdings" panose="05000000000000000000" pitchFamily="2" charset="2"/>
              <a:buChar char=""/>
            </a:pPr>
            <a:r>
              <a:rPr lang="en-IN" sz="2400">
                <a:effectLst/>
                <a:latin typeface="ITC Franklin Gothic LT" panose="020B0604020202020204" charset="0"/>
                <a:ea typeface="Calibri" panose="020F0502020204030204" pitchFamily="34" charset="0"/>
                <a:cs typeface="Times New Roman" panose="02020603050405020304" pitchFamily="18" charset="0"/>
              </a:rPr>
              <a:t>Majority of the respondents work between 6-10 hours and most of them are somewhat satisfied with their working hours.</a:t>
            </a:r>
          </a:p>
          <a:p>
            <a:pPr marL="342900" lvl="0" indent="-342900">
              <a:lnSpc>
                <a:spcPct val="105000"/>
              </a:lnSpc>
              <a:buFont typeface="Wingdings" panose="05000000000000000000" pitchFamily="2" charset="2"/>
              <a:buChar char=""/>
            </a:pPr>
            <a:r>
              <a:rPr lang="en-IN" sz="2400">
                <a:effectLst/>
                <a:latin typeface="ITC Franklin Gothic LT" panose="020B0604020202020204" charset="0"/>
                <a:ea typeface="Calibri" panose="020F0502020204030204" pitchFamily="34" charset="0"/>
                <a:cs typeface="Times New Roman" panose="02020603050405020304" pitchFamily="18" charset="0"/>
              </a:rPr>
              <a:t>Educational level and job satisfaction are 38.70% positively associated.</a:t>
            </a:r>
          </a:p>
          <a:p>
            <a:pPr marL="342900" lvl="0" indent="-342900">
              <a:lnSpc>
                <a:spcPct val="105000"/>
              </a:lnSpc>
              <a:buFont typeface="Wingdings" panose="05000000000000000000" pitchFamily="2" charset="2"/>
              <a:buChar char=""/>
            </a:pPr>
            <a:r>
              <a:rPr lang="en-IN" sz="2400">
                <a:effectLst/>
                <a:latin typeface="ITC Franklin Gothic LT" panose="020B0604020202020204" charset="0"/>
                <a:ea typeface="Calibri" panose="020F0502020204030204" pitchFamily="34" charset="0"/>
                <a:cs typeface="Times New Roman" panose="02020603050405020304" pitchFamily="18" charset="0"/>
              </a:rPr>
              <a:t>Most of the respondents have less than 1 hour to relax or pursue activities after an average work day.</a:t>
            </a:r>
          </a:p>
          <a:p>
            <a:pPr marL="342900" lvl="0" indent="-342900">
              <a:lnSpc>
                <a:spcPct val="105000"/>
              </a:lnSpc>
              <a:buFont typeface="Wingdings" panose="05000000000000000000" pitchFamily="2" charset="2"/>
              <a:buChar char=""/>
            </a:pPr>
            <a:r>
              <a:rPr lang="en-IN" sz="2400">
                <a:effectLst/>
                <a:latin typeface="ITC Franklin Gothic LT" panose="020B0604020202020204" charset="0"/>
                <a:ea typeface="Calibri" panose="020F0502020204030204" pitchFamily="34" charset="0"/>
                <a:cs typeface="Times New Roman" panose="02020603050405020304" pitchFamily="18" charset="0"/>
              </a:rPr>
              <a:t>From the study, it can be observed that the common causes of work stress are majorly working overtime and workload.</a:t>
            </a:r>
          </a:p>
          <a:p>
            <a:pPr marL="342900" lvl="0" indent="-342900">
              <a:lnSpc>
                <a:spcPct val="105000"/>
              </a:lnSpc>
              <a:buFont typeface="Wingdings" panose="05000000000000000000" pitchFamily="2" charset="2"/>
              <a:buChar char=""/>
            </a:pPr>
            <a:r>
              <a:rPr lang="en-IN" sz="2400">
                <a:effectLst/>
                <a:latin typeface="ITC Franklin Gothic LT" panose="020B0604020202020204" charset="0"/>
                <a:ea typeface="Calibri" panose="020F0502020204030204" pitchFamily="34" charset="0"/>
                <a:cs typeface="Times New Roman" panose="02020603050405020304" pitchFamily="18" charset="0"/>
              </a:rPr>
              <a:t>There is a 24.06% association between the occupational sector and health benefits provided by the organization.</a:t>
            </a:r>
          </a:p>
          <a:p>
            <a:pPr marL="342900" lvl="0" indent="-342900">
              <a:lnSpc>
                <a:spcPct val="105000"/>
              </a:lnSpc>
              <a:buFont typeface="Wingdings" panose="05000000000000000000" pitchFamily="2" charset="2"/>
              <a:buChar char=""/>
            </a:pPr>
            <a:r>
              <a:rPr lang="en-IN" sz="2400">
                <a:effectLst/>
                <a:latin typeface="ITC Franklin Gothic LT" panose="020B0604020202020204" charset="0"/>
                <a:ea typeface="Calibri" panose="020F0502020204030204" pitchFamily="34" charset="0"/>
                <a:cs typeface="Times New Roman" panose="02020603050405020304" pitchFamily="18" charset="0"/>
              </a:rPr>
              <a:t>42% of the respondents say that unrealistic demands are the biggest threat to their work-life balance.</a:t>
            </a:r>
          </a:p>
          <a:p>
            <a:pPr marL="342900" lvl="0" indent="-342900">
              <a:lnSpc>
                <a:spcPct val="105000"/>
              </a:lnSpc>
              <a:spcAft>
                <a:spcPts val="800"/>
              </a:spcAft>
              <a:buFont typeface="Wingdings" panose="05000000000000000000" pitchFamily="2" charset="2"/>
              <a:buChar char=""/>
            </a:pPr>
            <a:r>
              <a:rPr lang="en-IN" sz="2400">
                <a:solidFill>
                  <a:srgbClr val="000000"/>
                </a:solidFill>
                <a:effectLst/>
                <a:latin typeface="ITC Franklin Gothic LT" panose="020B0604020202020204" charset="0"/>
                <a:ea typeface="Times New Roman" panose="02020603050405020304" pitchFamily="18" charset="0"/>
                <a:cs typeface="Times New Roman" panose="02020603050405020304" pitchFamily="18" charset="0"/>
              </a:rPr>
              <a:t>Least employees have access to stress management programs at their current workplace.</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6321058"/>
      </p:ext>
    </p:extLst>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7EF"/>
        </a:solidFill>
        <a:effectLst/>
      </p:bgPr>
    </p:bg>
    <p:spTree>
      <p:nvGrpSpPr>
        <p:cNvPr id="1" name="">
          <a:extLst>
            <a:ext uri="{FF2B5EF4-FFF2-40B4-BE49-F238E27FC236}">
              <a16:creationId xmlns:a16="http://schemas.microsoft.com/office/drawing/2014/main" id="{FB1A8258-54F6-0A1F-F246-2D14808BFB6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1AA78EA-B382-9085-ABE4-39DA37DF15B3}"/>
              </a:ext>
            </a:extLst>
          </p:cNvPr>
          <p:cNvGrpSpPr/>
          <p:nvPr/>
        </p:nvGrpSpPr>
        <p:grpSpPr>
          <a:xfrm>
            <a:off x="4420945" y="4662830"/>
            <a:ext cx="4759444" cy="4553453"/>
            <a:chOff x="0" y="0"/>
            <a:chExt cx="812800" cy="812800"/>
          </a:xfrm>
        </p:grpSpPr>
        <p:sp>
          <p:nvSpPr>
            <p:cNvPr id="3" name="Freeform 3">
              <a:extLst>
                <a:ext uri="{FF2B5EF4-FFF2-40B4-BE49-F238E27FC236}">
                  <a16:creationId xmlns:a16="http://schemas.microsoft.com/office/drawing/2014/main" id="{4266BDEF-4CE1-800B-EBFA-1A0437D4F0C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DAFA8">
                <a:alpha val="40000"/>
              </a:srgbClr>
            </a:solidFill>
          </p:spPr>
        </p:sp>
        <p:sp>
          <p:nvSpPr>
            <p:cNvPr id="4" name="TextBox 4">
              <a:extLst>
                <a:ext uri="{FF2B5EF4-FFF2-40B4-BE49-F238E27FC236}">
                  <a16:creationId xmlns:a16="http://schemas.microsoft.com/office/drawing/2014/main" id="{7987D69A-1085-F0E0-7ACC-7BEFBB9CA33F}"/>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 name="Group 5">
            <a:extLst>
              <a:ext uri="{FF2B5EF4-FFF2-40B4-BE49-F238E27FC236}">
                <a16:creationId xmlns:a16="http://schemas.microsoft.com/office/drawing/2014/main" id="{769D9D80-CC9D-CDD8-4C9D-88375740ED48}"/>
              </a:ext>
            </a:extLst>
          </p:cNvPr>
          <p:cNvGrpSpPr/>
          <p:nvPr/>
        </p:nvGrpSpPr>
        <p:grpSpPr>
          <a:xfrm>
            <a:off x="714039" y="1672355"/>
            <a:ext cx="4153104" cy="3950109"/>
            <a:chOff x="0" y="0"/>
            <a:chExt cx="812800" cy="812800"/>
          </a:xfrm>
        </p:grpSpPr>
        <p:sp>
          <p:nvSpPr>
            <p:cNvPr id="6" name="Freeform 6">
              <a:extLst>
                <a:ext uri="{FF2B5EF4-FFF2-40B4-BE49-F238E27FC236}">
                  <a16:creationId xmlns:a16="http://schemas.microsoft.com/office/drawing/2014/main" id="{7FE306C2-22BC-3A81-176B-99AF796D3AD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DAFA8">
                <a:alpha val="40000"/>
              </a:srgbClr>
            </a:solidFill>
          </p:spPr>
        </p:sp>
        <p:sp>
          <p:nvSpPr>
            <p:cNvPr id="7" name="TextBox 7">
              <a:extLst>
                <a:ext uri="{FF2B5EF4-FFF2-40B4-BE49-F238E27FC236}">
                  <a16:creationId xmlns:a16="http://schemas.microsoft.com/office/drawing/2014/main" id="{CF416DF5-08A1-A334-D5EF-04CAF62F8709}"/>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8" name="Group 8">
            <a:extLst>
              <a:ext uri="{FF2B5EF4-FFF2-40B4-BE49-F238E27FC236}">
                <a16:creationId xmlns:a16="http://schemas.microsoft.com/office/drawing/2014/main" id="{6CCBD6AF-0690-C464-2360-916184ACD644}"/>
              </a:ext>
            </a:extLst>
          </p:cNvPr>
          <p:cNvGrpSpPr/>
          <p:nvPr/>
        </p:nvGrpSpPr>
        <p:grpSpPr>
          <a:xfrm>
            <a:off x="1004805" y="4038431"/>
            <a:ext cx="2094831" cy="2094831"/>
            <a:chOff x="0" y="0"/>
            <a:chExt cx="812800" cy="812800"/>
          </a:xfrm>
        </p:grpSpPr>
        <p:sp>
          <p:nvSpPr>
            <p:cNvPr id="9" name="Freeform 9">
              <a:extLst>
                <a:ext uri="{FF2B5EF4-FFF2-40B4-BE49-F238E27FC236}">
                  <a16:creationId xmlns:a16="http://schemas.microsoft.com/office/drawing/2014/main" id="{E01794DB-7894-A8D6-995B-88D812D0164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6A160">
                <a:alpha val="40000"/>
              </a:srgbClr>
            </a:solidFill>
          </p:spPr>
        </p:sp>
        <p:sp>
          <p:nvSpPr>
            <p:cNvPr id="10" name="TextBox 10">
              <a:extLst>
                <a:ext uri="{FF2B5EF4-FFF2-40B4-BE49-F238E27FC236}">
                  <a16:creationId xmlns:a16="http://schemas.microsoft.com/office/drawing/2014/main" id="{0BD0953F-29DC-09AD-07DD-E63FF5468CE4}"/>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11" name="Group 11">
            <a:extLst>
              <a:ext uri="{FF2B5EF4-FFF2-40B4-BE49-F238E27FC236}">
                <a16:creationId xmlns:a16="http://schemas.microsoft.com/office/drawing/2014/main" id="{2FB20307-9961-E77E-E7B5-3A18207F418F}"/>
              </a:ext>
            </a:extLst>
          </p:cNvPr>
          <p:cNvGrpSpPr/>
          <p:nvPr/>
        </p:nvGrpSpPr>
        <p:grpSpPr>
          <a:xfrm>
            <a:off x="5784366" y="2991016"/>
            <a:ext cx="2902394" cy="2631448"/>
            <a:chOff x="0" y="0"/>
            <a:chExt cx="812800" cy="812800"/>
          </a:xfrm>
        </p:grpSpPr>
        <p:sp>
          <p:nvSpPr>
            <p:cNvPr id="12" name="Freeform 12">
              <a:extLst>
                <a:ext uri="{FF2B5EF4-FFF2-40B4-BE49-F238E27FC236}">
                  <a16:creationId xmlns:a16="http://schemas.microsoft.com/office/drawing/2014/main" id="{64B2BCAB-0FB7-FCC5-8516-B020377677F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6A160">
                <a:alpha val="40000"/>
              </a:srgbClr>
            </a:solidFill>
          </p:spPr>
        </p:sp>
        <p:sp>
          <p:nvSpPr>
            <p:cNvPr id="13" name="TextBox 13">
              <a:extLst>
                <a:ext uri="{FF2B5EF4-FFF2-40B4-BE49-F238E27FC236}">
                  <a16:creationId xmlns:a16="http://schemas.microsoft.com/office/drawing/2014/main" id="{65B67EF0-3A5B-33F6-7F8E-847B2907E169}"/>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15" name="Group 15">
            <a:extLst>
              <a:ext uri="{FF2B5EF4-FFF2-40B4-BE49-F238E27FC236}">
                <a16:creationId xmlns:a16="http://schemas.microsoft.com/office/drawing/2014/main" id="{F2D431BA-D6E8-F9D2-10C8-62FE8B5BBC9B}"/>
              </a:ext>
            </a:extLst>
          </p:cNvPr>
          <p:cNvGrpSpPr/>
          <p:nvPr/>
        </p:nvGrpSpPr>
        <p:grpSpPr>
          <a:xfrm>
            <a:off x="-557510" y="-889891"/>
            <a:ext cx="19403020" cy="1779782"/>
            <a:chOff x="0" y="0"/>
            <a:chExt cx="5110260" cy="468749"/>
          </a:xfrm>
        </p:grpSpPr>
        <p:sp>
          <p:nvSpPr>
            <p:cNvPr id="16" name="Freeform 16">
              <a:extLst>
                <a:ext uri="{FF2B5EF4-FFF2-40B4-BE49-F238E27FC236}">
                  <a16:creationId xmlns:a16="http://schemas.microsoft.com/office/drawing/2014/main" id="{591E60B1-C0F6-A22B-E621-0FC828283087}"/>
                </a:ext>
              </a:extLst>
            </p:cNvPr>
            <p:cNvSpPr/>
            <p:nvPr/>
          </p:nvSpPr>
          <p:spPr>
            <a:xfrm>
              <a:off x="0" y="0"/>
              <a:ext cx="5110261" cy="468749"/>
            </a:xfrm>
            <a:custGeom>
              <a:avLst/>
              <a:gdLst/>
              <a:ahLst/>
              <a:cxnLst/>
              <a:rect l="l" t="t" r="r" b="b"/>
              <a:pathLst>
                <a:path w="5110261" h="468749">
                  <a:moveTo>
                    <a:pt x="0" y="0"/>
                  </a:moveTo>
                  <a:lnTo>
                    <a:pt x="5110261" y="0"/>
                  </a:lnTo>
                  <a:lnTo>
                    <a:pt x="5110261" y="468749"/>
                  </a:lnTo>
                  <a:lnTo>
                    <a:pt x="0" y="468749"/>
                  </a:lnTo>
                  <a:close/>
                </a:path>
              </a:pathLst>
            </a:custGeom>
            <a:solidFill>
              <a:srgbClr val="8DAFA8"/>
            </a:solidFill>
          </p:spPr>
        </p:sp>
        <p:sp>
          <p:nvSpPr>
            <p:cNvPr id="17" name="TextBox 17">
              <a:extLst>
                <a:ext uri="{FF2B5EF4-FFF2-40B4-BE49-F238E27FC236}">
                  <a16:creationId xmlns:a16="http://schemas.microsoft.com/office/drawing/2014/main" id="{798E53A9-DBC8-62AF-3005-BACC06E4658E}"/>
                </a:ext>
              </a:extLst>
            </p:cNvPr>
            <p:cNvSpPr txBox="1"/>
            <p:nvPr/>
          </p:nvSpPr>
          <p:spPr>
            <a:xfrm>
              <a:off x="0" y="-47625"/>
              <a:ext cx="5110260" cy="516374"/>
            </a:xfrm>
            <a:prstGeom prst="rect">
              <a:avLst/>
            </a:prstGeom>
          </p:spPr>
          <p:txBody>
            <a:bodyPr lIns="50800" tIns="50800" rIns="50800" bIns="50800" rtlCol="0" anchor="ctr"/>
            <a:lstStyle/>
            <a:p>
              <a:pPr algn="ctr">
                <a:lnSpc>
                  <a:spcPts val="2659"/>
                </a:lnSpc>
              </a:pPr>
              <a:endParaRPr/>
            </a:p>
          </p:txBody>
        </p:sp>
      </p:grpSp>
      <p:grpSp>
        <p:nvGrpSpPr>
          <p:cNvPr id="18" name="Group 18">
            <a:extLst>
              <a:ext uri="{FF2B5EF4-FFF2-40B4-BE49-F238E27FC236}">
                <a16:creationId xmlns:a16="http://schemas.microsoft.com/office/drawing/2014/main" id="{9EC765FE-6F74-533D-1B3D-A8FABFB85ED3}"/>
              </a:ext>
            </a:extLst>
          </p:cNvPr>
          <p:cNvGrpSpPr/>
          <p:nvPr/>
        </p:nvGrpSpPr>
        <p:grpSpPr>
          <a:xfrm>
            <a:off x="-557510" y="9397109"/>
            <a:ext cx="19403020" cy="1779782"/>
            <a:chOff x="0" y="0"/>
            <a:chExt cx="5110260" cy="468749"/>
          </a:xfrm>
        </p:grpSpPr>
        <p:sp>
          <p:nvSpPr>
            <p:cNvPr id="19" name="Freeform 19">
              <a:extLst>
                <a:ext uri="{FF2B5EF4-FFF2-40B4-BE49-F238E27FC236}">
                  <a16:creationId xmlns:a16="http://schemas.microsoft.com/office/drawing/2014/main" id="{1DF7CE5A-376D-0AF7-4AD0-952DAF05A98F}"/>
                </a:ext>
              </a:extLst>
            </p:cNvPr>
            <p:cNvSpPr/>
            <p:nvPr/>
          </p:nvSpPr>
          <p:spPr>
            <a:xfrm>
              <a:off x="0" y="0"/>
              <a:ext cx="5110261" cy="468749"/>
            </a:xfrm>
            <a:custGeom>
              <a:avLst/>
              <a:gdLst/>
              <a:ahLst/>
              <a:cxnLst/>
              <a:rect l="l" t="t" r="r" b="b"/>
              <a:pathLst>
                <a:path w="5110261" h="468749">
                  <a:moveTo>
                    <a:pt x="0" y="0"/>
                  </a:moveTo>
                  <a:lnTo>
                    <a:pt x="5110261" y="0"/>
                  </a:lnTo>
                  <a:lnTo>
                    <a:pt x="5110261" y="468749"/>
                  </a:lnTo>
                  <a:lnTo>
                    <a:pt x="0" y="468749"/>
                  </a:lnTo>
                  <a:close/>
                </a:path>
              </a:pathLst>
            </a:custGeom>
            <a:solidFill>
              <a:srgbClr val="8DAFA8"/>
            </a:solidFill>
          </p:spPr>
        </p:sp>
        <p:sp>
          <p:nvSpPr>
            <p:cNvPr id="20" name="TextBox 20">
              <a:extLst>
                <a:ext uri="{FF2B5EF4-FFF2-40B4-BE49-F238E27FC236}">
                  <a16:creationId xmlns:a16="http://schemas.microsoft.com/office/drawing/2014/main" id="{1BDE178F-4BB5-2AC0-A72E-EC6EE188473A}"/>
                </a:ext>
              </a:extLst>
            </p:cNvPr>
            <p:cNvSpPr txBox="1"/>
            <p:nvPr/>
          </p:nvSpPr>
          <p:spPr>
            <a:xfrm>
              <a:off x="0" y="-47625"/>
              <a:ext cx="5110260" cy="516374"/>
            </a:xfrm>
            <a:prstGeom prst="rect">
              <a:avLst/>
            </a:prstGeom>
          </p:spPr>
          <p:txBody>
            <a:bodyPr lIns="50800" tIns="50800" rIns="50800" bIns="50800" rtlCol="0" anchor="ctr"/>
            <a:lstStyle/>
            <a:p>
              <a:pPr algn="ctr">
                <a:lnSpc>
                  <a:spcPts val="2659"/>
                </a:lnSpc>
              </a:pPr>
              <a:endParaRPr/>
            </a:p>
          </p:txBody>
        </p:sp>
      </p:grpSp>
      <p:sp>
        <p:nvSpPr>
          <p:cNvPr id="23" name="TextBox 23">
            <a:extLst>
              <a:ext uri="{FF2B5EF4-FFF2-40B4-BE49-F238E27FC236}">
                <a16:creationId xmlns:a16="http://schemas.microsoft.com/office/drawing/2014/main" id="{A030F3E4-0FED-E18B-495E-C1FAD6B0F78C}"/>
              </a:ext>
            </a:extLst>
          </p:cNvPr>
          <p:cNvSpPr txBox="1"/>
          <p:nvPr/>
        </p:nvSpPr>
        <p:spPr>
          <a:xfrm>
            <a:off x="11827243" y="1505984"/>
            <a:ext cx="5253409" cy="912089"/>
          </a:xfrm>
          <a:prstGeom prst="rect">
            <a:avLst/>
          </a:prstGeom>
        </p:spPr>
        <p:txBody>
          <a:bodyPr lIns="50800" tIns="50800" rIns="50800" bIns="50800" rtlCol="0" anchor="ctr"/>
          <a:lstStyle/>
          <a:p>
            <a:pPr algn="r">
              <a:lnSpc>
                <a:spcPts val="2659"/>
              </a:lnSpc>
            </a:pPr>
            <a:endParaRPr/>
          </a:p>
        </p:txBody>
      </p:sp>
      <p:sp>
        <p:nvSpPr>
          <p:cNvPr id="24" name="Freeform 24">
            <a:extLst>
              <a:ext uri="{FF2B5EF4-FFF2-40B4-BE49-F238E27FC236}">
                <a16:creationId xmlns:a16="http://schemas.microsoft.com/office/drawing/2014/main" id="{613CEE62-E225-6E41-6F6A-F40455FD35E0}"/>
              </a:ext>
            </a:extLst>
          </p:cNvPr>
          <p:cNvSpPr/>
          <p:nvPr/>
        </p:nvSpPr>
        <p:spPr>
          <a:xfrm rot="1627902">
            <a:off x="7495801" y="1987669"/>
            <a:ext cx="2254244" cy="971374"/>
          </a:xfrm>
          <a:custGeom>
            <a:avLst/>
            <a:gdLst/>
            <a:ahLst/>
            <a:cxnLst/>
            <a:rect l="l" t="t" r="r" b="b"/>
            <a:pathLst>
              <a:path w="2254244" h="971374">
                <a:moveTo>
                  <a:pt x="0" y="0"/>
                </a:moveTo>
                <a:lnTo>
                  <a:pt x="2254244" y="0"/>
                </a:lnTo>
                <a:lnTo>
                  <a:pt x="2254244" y="971375"/>
                </a:lnTo>
                <a:lnTo>
                  <a:pt x="0" y="9713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5" name="Freeform 25">
            <a:extLst>
              <a:ext uri="{FF2B5EF4-FFF2-40B4-BE49-F238E27FC236}">
                <a16:creationId xmlns:a16="http://schemas.microsoft.com/office/drawing/2014/main" id="{9955AAD2-2300-CBBC-B740-61A3AFCE7C80}"/>
              </a:ext>
            </a:extLst>
          </p:cNvPr>
          <p:cNvSpPr/>
          <p:nvPr/>
        </p:nvSpPr>
        <p:spPr>
          <a:xfrm rot="1627902" flipV="1">
            <a:off x="649976" y="7965170"/>
            <a:ext cx="2254244" cy="971374"/>
          </a:xfrm>
          <a:custGeom>
            <a:avLst/>
            <a:gdLst/>
            <a:ahLst/>
            <a:cxnLst/>
            <a:rect l="l" t="t" r="r" b="b"/>
            <a:pathLst>
              <a:path w="2254244" h="971374">
                <a:moveTo>
                  <a:pt x="0" y="971374"/>
                </a:moveTo>
                <a:lnTo>
                  <a:pt x="2254244" y="971374"/>
                </a:lnTo>
                <a:lnTo>
                  <a:pt x="2254244" y="0"/>
                </a:lnTo>
                <a:lnTo>
                  <a:pt x="0" y="0"/>
                </a:lnTo>
                <a:lnTo>
                  <a:pt x="0" y="971374"/>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6" name="Freeform 26">
            <a:extLst>
              <a:ext uri="{FF2B5EF4-FFF2-40B4-BE49-F238E27FC236}">
                <a16:creationId xmlns:a16="http://schemas.microsoft.com/office/drawing/2014/main" id="{8ACEE460-37E2-6221-99FA-62F27C13769E}"/>
              </a:ext>
            </a:extLst>
          </p:cNvPr>
          <p:cNvSpPr/>
          <p:nvPr/>
        </p:nvSpPr>
        <p:spPr>
          <a:xfrm>
            <a:off x="824566" y="6133262"/>
            <a:ext cx="632667" cy="675664"/>
          </a:xfrm>
          <a:custGeom>
            <a:avLst/>
            <a:gdLst/>
            <a:ahLst/>
            <a:cxnLst/>
            <a:rect l="l" t="t" r="r" b="b"/>
            <a:pathLst>
              <a:path w="632667" h="675664">
                <a:moveTo>
                  <a:pt x="0" y="0"/>
                </a:moveTo>
                <a:lnTo>
                  <a:pt x="632667" y="0"/>
                </a:lnTo>
                <a:lnTo>
                  <a:pt x="632667" y="675664"/>
                </a:lnTo>
                <a:lnTo>
                  <a:pt x="0" y="67566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9" name="TextBox 28">
            <a:extLst>
              <a:ext uri="{FF2B5EF4-FFF2-40B4-BE49-F238E27FC236}">
                <a16:creationId xmlns:a16="http://schemas.microsoft.com/office/drawing/2014/main" id="{D6520801-19A5-4B19-AA0B-77CF10360E3F}"/>
              </a:ext>
            </a:extLst>
          </p:cNvPr>
          <p:cNvSpPr txBox="1"/>
          <p:nvPr/>
        </p:nvSpPr>
        <p:spPr>
          <a:xfrm>
            <a:off x="10363200" y="5391154"/>
            <a:ext cx="9705529" cy="926792"/>
          </a:xfrm>
          <a:prstGeom prst="rect">
            <a:avLst/>
          </a:prstGeom>
          <a:noFill/>
        </p:spPr>
        <p:txBody>
          <a:bodyPr wrap="square">
            <a:spAutoFit/>
          </a:bodyPr>
          <a:lstStyle/>
          <a:p>
            <a:pPr>
              <a:lnSpc>
                <a:spcPts val="3806"/>
              </a:lnSpc>
              <a:spcBef>
                <a:spcPct val="0"/>
              </a:spcBef>
            </a:pPr>
            <a:r>
              <a:rPr lang="en-US" sz="13800">
                <a:solidFill>
                  <a:srgbClr val="996633"/>
                </a:solidFill>
                <a:latin typeface="League Gothic" panose="020B0604020202020204" charset="0"/>
              </a:rPr>
              <a:t>Questionnaire</a:t>
            </a:r>
            <a:endParaRPr lang="en-US" sz="8000">
              <a:solidFill>
                <a:srgbClr val="996633"/>
              </a:solidFill>
              <a:latin typeface="League Gothic" panose="020B0604020202020204" charset="0"/>
            </a:endParaRPr>
          </a:p>
        </p:txBody>
      </p:sp>
      <p:sp>
        <p:nvSpPr>
          <p:cNvPr id="14" name="Freeform 17">
            <a:extLst>
              <a:ext uri="{FF2B5EF4-FFF2-40B4-BE49-F238E27FC236}">
                <a16:creationId xmlns:a16="http://schemas.microsoft.com/office/drawing/2014/main" id="{195DCD62-EC3A-C3EF-70E0-2444587D1E9C}"/>
              </a:ext>
            </a:extLst>
          </p:cNvPr>
          <p:cNvSpPr/>
          <p:nvPr/>
        </p:nvSpPr>
        <p:spPr>
          <a:xfrm>
            <a:off x="1958745" y="2411581"/>
            <a:ext cx="6252542" cy="5792039"/>
          </a:xfrm>
          <a:custGeom>
            <a:avLst/>
            <a:gdLst/>
            <a:ahLst/>
            <a:cxnLst/>
            <a:rect l="l" t="t" r="r" b="b"/>
            <a:pathLst>
              <a:path w="8030218" h="6803785">
                <a:moveTo>
                  <a:pt x="0" y="0"/>
                </a:moveTo>
                <a:lnTo>
                  <a:pt x="8030218" y="0"/>
                </a:lnTo>
                <a:lnTo>
                  <a:pt x="8030218" y="6803784"/>
                </a:lnTo>
                <a:lnTo>
                  <a:pt x="0" y="68037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Tree>
    <p:extLst>
      <p:ext uri="{BB962C8B-B14F-4D97-AF65-F5344CB8AC3E}">
        <p14:creationId xmlns:p14="http://schemas.microsoft.com/office/powerpoint/2010/main" val="2599142628"/>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7EF"/>
        </a:solidFill>
        <a:effectLst/>
      </p:bgPr>
    </p:bg>
    <p:spTree>
      <p:nvGrpSpPr>
        <p:cNvPr id="1" name="">
          <a:extLst>
            <a:ext uri="{FF2B5EF4-FFF2-40B4-BE49-F238E27FC236}">
              <a16:creationId xmlns:a16="http://schemas.microsoft.com/office/drawing/2014/main" id="{420F967C-E82D-A5A9-8EE8-8DAD831E1079}"/>
            </a:ext>
          </a:extLst>
        </p:cNvPr>
        <p:cNvGrpSpPr/>
        <p:nvPr/>
      </p:nvGrpSpPr>
      <p:grpSpPr>
        <a:xfrm>
          <a:off x="0" y="0"/>
          <a:ext cx="0" cy="0"/>
          <a:chOff x="0" y="0"/>
          <a:chExt cx="0" cy="0"/>
        </a:xfrm>
      </p:grpSpPr>
      <p:grpSp>
        <p:nvGrpSpPr>
          <p:cNvPr id="15" name="Group 15">
            <a:extLst>
              <a:ext uri="{FF2B5EF4-FFF2-40B4-BE49-F238E27FC236}">
                <a16:creationId xmlns:a16="http://schemas.microsoft.com/office/drawing/2014/main" id="{0170EB9F-4F53-9F96-B47C-07971C119417}"/>
              </a:ext>
            </a:extLst>
          </p:cNvPr>
          <p:cNvGrpSpPr/>
          <p:nvPr/>
        </p:nvGrpSpPr>
        <p:grpSpPr>
          <a:xfrm>
            <a:off x="-557510" y="-889891"/>
            <a:ext cx="19403020" cy="1779782"/>
            <a:chOff x="0" y="0"/>
            <a:chExt cx="5110260" cy="468749"/>
          </a:xfrm>
        </p:grpSpPr>
        <p:sp>
          <p:nvSpPr>
            <p:cNvPr id="16" name="Freeform 16">
              <a:extLst>
                <a:ext uri="{FF2B5EF4-FFF2-40B4-BE49-F238E27FC236}">
                  <a16:creationId xmlns:a16="http://schemas.microsoft.com/office/drawing/2014/main" id="{8EDD3C7B-B73A-B458-9E4B-3B5CB92A551B}"/>
                </a:ext>
              </a:extLst>
            </p:cNvPr>
            <p:cNvSpPr/>
            <p:nvPr/>
          </p:nvSpPr>
          <p:spPr>
            <a:xfrm>
              <a:off x="0" y="0"/>
              <a:ext cx="5110261" cy="468749"/>
            </a:xfrm>
            <a:custGeom>
              <a:avLst/>
              <a:gdLst/>
              <a:ahLst/>
              <a:cxnLst/>
              <a:rect l="l" t="t" r="r" b="b"/>
              <a:pathLst>
                <a:path w="5110261" h="468749">
                  <a:moveTo>
                    <a:pt x="0" y="0"/>
                  </a:moveTo>
                  <a:lnTo>
                    <a:pt x="5110261" y="0"/>
                  </a:lnTo>
                  <a:lnTo>
                    <a:pt x="5110261" y="468749"/>
                  </a:lnTo>
                  <a:lnTo>
                    <a:pt x="0" y="468749"/>
                  </a:lnTo>
                  <a:close/>
                </a:path>
              </a:pathLst>
            </a:custGeom>
            <a:solidFill>
              <a:srgbClr val="8DAFA8"/>
            </a:solidFill>
          </p:spPr>
        </p:sp>
        <p:sp>
          <p:nvSpPr>
            <p:cNvPr id="17" name="TextBox 17">
              <a:extLst>
                <a:ext uri="{FF2B5EF4-FFF2-40B4-BE49-F238E27FC236}">
                  <a16:creationId xmlns:a16="http://schemas.microsoft.com/office/drawing/2014/main" id="{775AD758-2935-54C3-DE7E-996F75616DEE}"/>
                </a:ext>
              </a:extLst>
            </p:cNvPr>
            <p:cNvSpPr txBox="1"/>
            <p:nvPr/>
          </p:nvSpPr>
          <p:spPr>
            <a:xfrm>
              <a:off x="0" y="-47625"/>
              <a:ext cx="5110260" cy="516374"/>
            </a:xfrm>
            <a:prstGeom prst="rect">
              <a:avLst/>
            </a:prstGeom>
          </p:spPr>
          <p:txBody>
            <a:bodyPr lIns="50800" tIns="50800" rIns="50800" bIns="50800" rtlCol="0" anchor="ctr"/>
            <a:lstStyle/>
            <a:p>
              <a:pPr algn="ctr">
                <a:lnSpc>
                  <a:spcPts val="2659"/>
                </a:lnSpc>
              </a:pPr>
              <a:endParaRPr/>
            </a:p>
          </p:txBody>
        </p:sp>
      </p:grpSp>
      <p:grpSp>
        <p:nvGrpSpPr>
          <p:cNvPr id="18" name="Group 18">
            <a:extLst>
              <a:ext uri="{FF2B5EF4-FFF2-40B4-BE49-F238E27FC236}">
                <a16:creationId xmlns:a16="http://schemas.microsoft.com/office/drawing/2014/main" id="{34FA08DC-E6F8-9B0F-2AA3-CCA52E3428F1}"/>
              </a:ext>
            </a:extLst>
          </p:cNvPr>
          <p:cNvGrpSpPr/>
          <p:nvPr/>
        </p:nvGrpSpPr>
        <p:grpSpPr>
          <a:xfrm>
            <a:off x="-557510" y="9397109"/>
            <a:ext cx="19403020" cy="1779782"/>
            <a:chOff x="0" y="0"/>
            <a:chExt cx="5110260" cy="468749"/>
          </a:xfrm>
        </p:grpSpPr>
        <p:sp>
          <p:nvSpPr>
            <p:cNvPr id="19" name="Freeform 19">
              <a:extLst>
                <a:ext uri="{FF2B5EF4-FFF2-40B4-BE49-F238E27FC236}">
                  <a16:creationId xmlns:a16="http://schemas.microsoft.com/office/drawing/2014/main" id="{B1BC5F39-A35C-6203-C0B9-E664DAE594FD}"/>
                </a:ext>
              </a:extLst>
            </p:cNvPr>
            <p:cNvSpPr/>
            <p:nvPr/>
          </p:nvSpPr>
          <p:spPr>
            <a:xfrm>
              <a:off x="0" y="0"/>
              <a:ext cx="5110261" cy="468749"/>
            </a:xfrm>
            <a:custGeom>
              <a:avLst/>
              <a:gdLst/>
              <a:ahLst/>
              <a:cxnLst/>
              <a:rect l="l" t="t" r="r" b="b"/>
              <a:pathLst>
                <a:path w="5110261" h="468749">
                  <a:moveTo>
                    <a:pt x="0" y="0"/>
                  </a:moveTo>
                  <a:lnTo>
                    <a:pt x="5110261" y="0"/>
                  </a:lnTo>
                  <a:lnTo>
                    <a:pt x="5110261" y="468749"/>
                  </a:lnTo>
                  <a:lnTo>
                    <a:pt x="0" y="468749"/>
                  </a:lnTo>
                  <a:close/>
                </a:path>
              </a:pathLst>
            </a:custGeom>
            <a:solidFill>
              <a:srgbClr val="8DAFA8"/>
            </a:solidFill>
          </p:spPr>
        </p:sp>
        <p:sp>
          <p:nvSpPr>
            <p:cNvPr id="20" name="TextBox 20">
              <a:extLst>
                <a:ext uri="{FF2B5EF4-FFF2-40B4-BE49-F238E27FC236}">
                  <a16:creationId xmlns:a16="http://schemas.microsoft.com/office/drawing/2014/main" id="{7D3E522E-02BC-413D-E602-296295DEB1C9}"/>
                </a:ext>
              </a:extLst>
            </p:cNvPr>
            <p:cNvSpPr txBox="1"/>
            <p:nvPr/>
          </p:nvSpPr>
          <p:spPr>
            <a:xfrm>
              <a:off x="0" y="-47625"/>
              <a:ext cx="5110260" cy="516374"/>
            </a:xfrm>
            <a:prstGeom prst="rect">
              <a:avLst/>
            </a:prstGeom>
          </p:spPr>
          <p:txBody>
            <a:bodyPr lIns="50800" tIns="50800" rIns="50800" bIns="50800" rtlCol="0" anchor="ctr"/>
            <a:lstStyle/>
            <a:p>
              <a:pPr algn="ctr">
                <a:lnSpc>
                  <a:spcPts val="2659"/>
                </a:lnSpc>
              </a:pPr>
              <a:endParaRPr/>
            </a:p>
          </p:txBody>
        </p:sp>
      </p:grpSp>
      <p:sp>
        <p:nvSpPr>
          <p:cNvPr id="23" name="TextBox 23">
            <a:extLst>
              <a:ext uri="{FF2B5EF4-FFF2-40B4-BE49-F238E27FC236}">
                <a16:creationId xmlns:a16="http://schemas.microsoft.com/office/drawing/2014/main" id="{AD7CDF41-CE11-DB8C-2B56-D21E652EE196}"/>
              </a:ext>
            </a:extLst>
          </p:cNvPr>
          <p:cNvSpPr txBox="1"/>
          <p:nvPr/>
        </p:nvSpPr>
        <p:spPr>
          <a:xfrm>
            <a:off x="11827243" y="1505984"/>
            <a:ext cx="5253409" cy="912089"/>
          </a:xfrm>
          <a:prstGeom prst="rect">
            <a:avLst/>
          </a:prstGeom>
        </p:spPr>
        <p:txBody>
          <a:bodyPr lIns="50800" tIns="50800" rIns="50800" bIns="50800" rtlCol="0" anchor="ctr"/>
          <a:lstStyle/>
          <a:p>
            <a:pPr algn="r">
              <a:lnSpc>
                <a:spcPts val="2659"/>
              </a:lnSpc>
            </a:pPr>
            <a:endParaRPr/>
          </a:p>
        </p:txBody>
      </p:sp>
      <p:sp>
        <p:nvSpPr>
          <p:cNvPr id="3" name="TextBox 2">
            <a:extLst>
              <a:ext uri="{FF2B5EF4-FFF2-40B4-BE49-F238E27FC236}">
                <a16:creationId xmlns:a16="http://schemas.microsoft.com/office/drawing/2014/main" id="{F952B869-18DC-C4A5-FE99-CCFC69CF7AEC}"/>
              </a:ext>
            </a:extLst>
          </p:cNvPr>
          <p:cNvSpPr txBox="1"/>
          <p:nvPr/>
        </p:nvSpPr>
        <p:spPr>
          <a:xfrm>
            <a:off x="1714083" y="843316"/>
            <a:ext cx="15392400" cy="8600368"/>
          </a:xfrm>
          <a:prstGeom prst="rect">
            <a:avLst/>
          </a:prstGeom>
          <a:noFill/>
        </p:spPr>
        <p:txBody>
          <a:bodyPr wrap="square">
            <a:spAutoFit/>
          </a:bodyPr>
          <a:lstStyle/>
          <a:p>
            <a:pPr>
              <a:spcAft>
                <a:spcPts val="800"/>
              </a:spcAft>
            </a:pPr>
            <a:r>
              <a:rPr lang="en-IN" sz="2400" b="1">
                <a:effectLst/>
                <a:latin typeface="ITC Franklin Gothic LT" panose="020B0604020202020204" charset="0"/>
                <a:ea typeface="Calibri" panose="020F0502020204030204" pitchFamily="34" charset="0"/>
                <a:cs typeface="Times New Roman" panose="02020603050405020304" pitchFamily="18" charset="0"/>
              </a:rPr>
              <a:t>1. Age group  </a:t>
            </a:r>
          </a:p>
          <a:p>
            <a:pPr marL="457200" indent="-457200">
              <a:spcAft>
                <a:spcPts val="185"/>
              </a:spcAft>
              <a:buAutoNum type="alphaLcParenR"/>
            </a:pPr>
            <a:r>
              <a:rPr lang="en-IN" sz="2400">
                <a:effectLst/>
                <a:latin typeface="ITC Franklin Gothic LT" panose="020B0604020202020204" charset="0"/>
                <a:ea typeface="Calibri" panose="020F0502020204030204" pitchFamily="34" charset="0"/>
                <a:cs typeface="Times New Roman" panose="02020603050405020304" pitchFamily="18" charset="0"/>
              </a:rPr>
              <a:t>Under 18               b) 18-25                c) 25-40          d) 40 &amp; above  </a:t>
            </a:r>
          </a:p>
          <a:p>
            <a:pPr>
              <a:spcAft>
                <a:spcPts val="185"/>
              </a:spcAft>
            </a:pP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a:spcAft>
                <a:spcPts val="800"/>
              </a:spcAft>
            </a:pPr>
            <a:r>
              <a:rPr lang="en-IN" sz="2400" b="1">
                <a:effectLst/>
                <a:latin typeface="ITC Franklin Gothic LT" panose="020B0604020202020204" charset="0"/>
                <a:ea typeface="Calibri" panose="020F0502020204030204" pitchFamily="34" charset="0"/>
                <a:cs typeface="Times New Roman" panose="02020603050405020304" pitchFamily="18" charset="0"/>
              </a:rPr>
              <a:t>2. Gender  </a:t>
            </a:r>
          </a:p>
          <a:p>
            <a:pPr>
              <a:spcAft>
                <a:spcPts val="775"/>
              </a:spcAft>
            </a:pPr>
            <a:r>
              <a:rPr lang="en-IN" sz="2400">
                <a:effectLst/>
                <a:latin typeface="ITC Franklin Gothic LT" panose="020B0604020202020204" charset="0"/>
                <a:ea typeface="Calibri" panose="020F0502020204030204" pitchFamily="34" charset="0"/>
                <a:cs typeface="Times New Roman" panose="02020603050405020304" pitchFamily="18" charset="0"/>
              </a:rPr>
              <a:t>a) Male                b) Female    </a:t>
            </a:r>
          </a:p>
          <a:p>
            <a:pPr>
              <a:lnSpc>
                <a:spcPct val="106000"/>
              </a:lnSpc>
              <a:spcAft>
                <a:spcPts val="800"/>
              </a:spcAft>
            </a:pP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a:lnSpc>
                <a:spcPct val="106000"/>
              </a:lnSpc>
              <a:spcAft>
                <a:spcPts val="800"/>
              </a:spcAft>
            </a:pPr>
            <a:r>
              <a:rPr lang="en-IN" sz="2400" b="1">
                <a:effectLst/>
                <a:latin typeface="ITC Franklin Gothic LT" panose="020B0604020202020204" charset="0"/>
                <a:ea typeface="Calibri" panose="020F0502020204030204" pitchFamily="34" charset="0"/>
                <a:cs typeface="Times New Roman" panose="02020603050405020304" pitchFamily="18" charset="0"/>
              </a:rPr>
              <a:t>3. Education level: </a:t>
            </a:r>
          </a:p>
          <a:p>
            <a:pPr>
              <a:lnSpc>
                <a:spcPct val="106000"/>
              </a:lnSpc>
              <a:spcAft>
                <a:spcPts val="775"/>
              </a:spcAft>
            </a:pPr>
            <a:r>
              <a:rPr lang="en-IN" sz="2400">
                <a:effectLst/>
                <a:latin typeface="ITC Franklin Gothic LT" panose="020B0604020202020204" charset="0"/>
                <a:ea typeface="Calibri" panose="020F0502020204030204" pitchFamily="34" charset="0"/>
                <a:cs typeface="Times New Roman" panose="02020603050405020304" pitchFamily="18" charset="0"/>
              </a:rPr>
              <a:t>a) Intermediate             b) Graduation       c) Post Graduation         d) Others </a:t>
            </a:r>
          </a:p>
          <a:p>
            <a:pPr>
              <a:lnSpc>
                <a:spcPct val="106000"/>
              </a:lnSpc>
              <a:spcAft>
                <a:spcPts val="800"/>
              </a:spcAft>
            </a:pP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a:lnSpc>
                <a:spcPct val="106000"/>
              </a:lnSpc>
              <a:spcAft>
                <a:spcPts val="800"/>
              </a:spcAft>
            </a:pPr>
            <a:r>
              <a:rPr lang="en-IN" sz="2400" b="1">
                <a:effectLst/>
                <a:latin typeface="ITC Franklin Gothic LT" panose="020B0604020202020204" charset="0"/>
                <a:ea typeface="Calibri" panose="020F0502020204030204" pitchFamily="34" charset="0"/>
                <a:cs typeface="Times New Roman" panose="02020603050405020304" pitchFamily="18" charset="0"/>
              </a:rPr>
              <a:t>4. Occupational sector: </a:t>
            </a:r>
          </a:p>
          <a:p>
            <a:pPr>
              <a:lnSpc>
                <a:spcPct val="106000"/>
              </a:lnSpc>
              <a:spcAft>
                <a:spcPts val="775"/>
              </a:spcAft>
            </a:pPr>
            <a:r>
              <a:rPr lang="en-IN" sz="2400">
                <a:effectLst/>
                <a:latin typeface="ITC Franklin Gothic LT" panose="020B0604020202020204" charset="0"/>
                <a:ea typeface="Calibri" panose="020F0502020204030204" pitchFamily="34" charset="0"/>
                <a:cs typeface="Times New Roman" panose="02020603050405020304" pitchFamily="18" charset="0"/>
              </a:rPr>
              <a:t> a) Government                b) Private          c) Business           d) Others</a:t>
            </a:r>
          </a:p>
          <a:p>
            <a:pPr>
              <a:lnSpc>
                <a:spcPct val="106000"/>
              </a:lnSpc>
              <a:spcAft>
                <a:spcPts val="800"/>
              </a:spcAft>
            </a:pP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a:lnSpc>
                <a:spcPct val="106000"/>
              </a:lnSpc>
              <a:spcAft>
                <a:spcPts val="800"/>
              </a:spcAft>
            </a:pPr>
            <a:r>
              <a:rPr lang="en-IN" sz="2400" b="1">
                <a:effectLst/>
                <a:latin typeface="ITC Franklin Gothic LT" panose="020B0604020202020204" charset="0"/>
                <a:ea typeface="Calibri" panose="020F0502020204030204" pitchFamily="34" charset="0"/>
                <a:cs typeface="Times New Roman" panose="02020603050405020304" pitchFamily="18" charset="0"/>
              </a:rPr>
              <a:t>5. Annual income:  </a:t>
            </a:r>
          </a:p>
          <a:p>
            <a:pPr>
              <a:lnSpc>
                <a:spcPct val="106000"/>
              </a:lnSpc>
              <a:spcAft>
                <a:spcPts val="800"/>
              </a:spcAft>
            </a:pPr>
            <a:r>
              <a:rPr lang="en-IN" sz="2400">
                <a:effectLst/>
                <a:latin typeface="ITC Franklin Gothic LT" panose="020B0604020202020204" charset="0"/>
                <a:ea typeface="Calibri" panose="020F0502020204030204" pitchFamily="34" charset="0"/>
                <a:cs typeface="Times New Roman" panose="02020603050405020304" pitchFamily="18" charset="0"/>
              </a:rPr>
              <a:t>a) Less than Rs.3,00,000                         b) Rs.3,00,000 to Rs.5,00,000     </a:t>
            </a:r>
          </a:p>
          <a:p>
            <a:pPr>
              <a:lnSpc>
                <a:spcPct val="106000"/>
              </a:lnSpc>
              <a:spcAft>
                <a:spcPts val="775"/>
              </a:spcAft>
            </a:pPr>
            <a:r>
              <a:rPr lang="en-IN" sz="2400">
                <a:effectLst/>
                <a:latin typeface="ITC Franklin Gothic LT" panose="020B0604020202020204" charset="0"/>
                <a:ea typeface="Calibri" panose="020F0502020204030204" pitchFamily="34" charset="0"/>
                <a:cs typeface="Times New Roman" panose="02020603050405020304" pitchFamily="18" charset="0"/>
              </a:rPr>
              <a:t> c) Rs.5,00,000 to Rs.10,00,000              d) Greater than Rs.10,00,000     </a:t>
            </a:r>
          </a:p>
          <a:p>
            <a:pPr>
              <a:lnSpc>
                <a:spcPct val="106000"/>
              </a:lnSpc>
              <a:spcAft>
                <a:spcPts val="800"/>
              </a:spcAft>
            </a:pP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a:lnSpc>
                <a:spcPct val="106000"/>
              </a:lnSpc>
              <a:spcAft>
                <a:spcPts val="800"/>
              </a:spcAft>
            </a:pPr>
            <a:r>
              <a:rPr lang="en-IN" sz="2400" b="1">
                <a:effectLst/>
                <a:latin typeface="ITC Franklin Gothic LT" panose="020B0604020202020204" charset="0"/>
                <a:ea typeface="Calibri" panose="020F0502020204030204" pitchFamily="34" charset="0"/>
                <a:cs typeface="Times New Roman" panose="02020603050405020304" pitchFamily="18" charset="0"/>
              </a:rPr>
              <a:t>6. Number of working hours </a:t>
            </a:r>
          </a:p>
          <a:p>
            <a:pPr>
              <a:lnSpc>
                <a:spcPct val="106000"/>
              </a:lnSpc>
              <a:spcAft>
                <a:spcPts val="775"/>
              </a:spcAft>
            </a:pPr>
            <a:r>
              <a:rPr lang="en-IN" sz="2400">
                <a:effectLst/>
                <a:latin typeface="ITC Franklin Gothic LT" panose="020B0604020202020204" charset="0"/>
                <a:ea typeface="Calibri" panose="020F0502020204030204" pitchFamily="34" charset="0"/>
                <a:cs typeface="Times New Roman" panose="02020603050405020304" pitchFamily="18" charset="0"/>
              </a:rPr>
              <a:t>a) Less than 6 hours                  b) 6 to 10 hours           c) More than 10 hours </a:t>
            </a:r>
          </a:p>
        </p:txBody>
      </p:sp>
    </p:spTree>
    <p:extLst>
      <p:ext uri="{BB962C8B-B14F-4D97-AF65-F5344CB8AC3E}">
        <p14:creationId xmlns:p14="http://schemas.microsoft.com/office/powerpoint/2010/main" val="1740741292"/>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7EF"/>
        </a:solidFill>
        <a:effectLst/>
      </p:bgPr>
    </p:bg>
    <p:spTree>
      <p:nvGrpSpPr>
        <p:cNvPr id="1" name="">
          <a:extLst>
            <a:ext uri="{FF2B5EF4-FFF2-40B4-BE49-F238E27FC236}">
              <a16:creationId xmlns:a16="http://schemas.microsoft.com/office/drawing/2014/main" id="{420F967C-E82D-A5A9-8EE8-8DAD831E1079}"/>
            </a:ext>
          </a:extLst>
        </p:cNvPr>
        <p:cNvGrpSpPr/>
        <p:nvPr/>
      </p:nvGrpSpPr>
      <p:grpSpPr>
        <a:xfrm>
          <a:off x="0" y="0"/>
          <a:ext cx="0" cy="0"/>
          <a:chOff x="0" y="0"/>
          <a:chExt cx="0" cy="0"/>
        </a:xfrm>
      </p:grpSpPr>
      <p:grpSp>
        <p:nvGrpSpPr>
          <p:cNvPr id="15" name="Group 15">
            <a:extLst>
              <a:ext uri="{FF2B5EF4-FFF2-40B4-BE49-F238E27FC236}">
                <a16:creationId xmlns:a16="http://schemas.microsoft.com/office/drawing/2014/main" id="{0170EB9F-4F53-9F96-B47C-07971C119417}"/>
              </a:ext>
            </a:extLst>
          </p:cNvPr>
          <p:cNvGrpSpPr/>
          <p:nvPr/>
        </p:nvGrpSpPr>
        <p:grpSpPr>
          <a:xfrm>
            <a:off x="-557510" y="-889891"/>
            <a:ext cx="19403020" cy="1779782"/>
            <a:chOff x="0" y="0"/>
            <a:chExt cx="5110260" cy="468749"/>
          </a:xfrm>
        </p:grpSpPr>
        <p:sp>
          <p:nvSpPr>
            <p:cNvPr id="16" name="Freeform 16">
              <a:extLst>
                <a:ext uri="{FF2B5EF4-FFF2-40B4-BE49-F238E27FC236}">
                  <a16:creationId xmlns:a16="http://schemas.microsoft.com/office/drawing/2014/main" id="{8EDD3C7B-B73A-B458-9E4B-3B5CB92A551B}"/>
                </a:ext>
              </a:extLst>
            </p:cNvPr>
            <p:cNvSpPr/>
            <p:nvPr/>
          </p:nvSpPr>
          <p:spPr>
            <a:xfrm>
              <a:off x="0" y="0"/>
              <a:ext cx="5110261" cy="468749"/>
            </a:xfrm>
            <a:custGeom>
              <a:avLst/>
              <a:gdLst/>
              <a:ahLst/>
              <a:cxnLst/>
              <a:rect l="l" t="t" r="r" b="b"/>
              <a:pathLst>
                <a:path w="5110261" h="468749">
                  <a:moveTo>
                    <a:pt x="0" y="0"/>
                  </a:moveTo>
                  <a:lnTo>
                    <a:pt x="5110261" y="0"/>
                  </a:lnTo>
                  <a:lnTo>
                    <a:pt x="5110261" y="468749"/>
                  </a:lnTo>
                  <a:lnTo>
                    <a:pt x="0" y="468749"/>
                  </a:lnTo>
                  <a:close/>
                </a:path>
              </a:pathLst>
            </a:custGeom>
            <a:solidFill>
              <a:srgbClr val="8DAFA8"/>
            </a:solidFill>
          </p:spPr>
        </p:sp>
        <p:sp>
          <p:nvSpPr>
            <p:cNvPr id="17" name="TextBox 17">
              <a:extLst>
                <a:ext uri="{FF2B5EF4-FFF2-40B4-BE49-F238E27FC236}">
                  <a16:creationId xmlns:a16="http://schemas.microsoft.com/office/drawing/2014/main" id="{775AD758-2935-54C3-DE7E-996F75616DEE}"/>
                </a:ext>
              </a:extLst>
            </p:cNvPr>
            <p:cNvSpPr txBox="1"/>
            <p:nvPr/>
          </p:nvSpPr>
          <p:spPr>
            <a:xfrm>
              <a:off x="0" y="-47625"/>
              <a:ext cx="5110260" cy="516374"/>
            </a:xfrm>
            <a:prstGeom prst="rect">
              <a:avLst/>
            </a:prstGeom>
          </p:spPr>
          <p:txBody>
            <a:bodyPr lIns="50800" tIns="50800" rIns="50800" bIns="50800" rtlCol="0" anchor="ctr"/>
            <a:lstStyle/>
            <a:p>
              <a:pPr algn="ctr">
                <a:lnSpc>
                  <a:spcPts val="2659"/>
                </a:lnSpc>
              </a:pPr>
              <a:endParaRPr/>
            </a:p>
          </p:txBody>
        </p:sp>
      </p:grpSp>
      <p:grpSp>
        <p:nvGrpSpPr>
          <p:cNvPr id="18" name="Group 18">
            <a:extLst>
              <a:ext uri="{FF2B5EF4-FFF2-40B4-BE49-F238E27FC236}">
                <a16:creationId xmlns:a16="http://schemas.microsoft.com/office/drawing/2014/main" id="{34FA08DC-E6F8-9B0F-2AA3-CCA52E3428F1}"/>
              </a:ext>
            </a:extLst>
          </p:cNvPr>
          <p:cNvGrpSpPr/>
          <p:nvPr/>
        </p:nvGrpSpPr>
        <p:grpSpPr>
          <a:xfrm>
            <a:off x="-557510" y="9397109"/>
            <a:ext cx="19403020" cy="1779782"/>
            <a:chOff x="0" y="0"/>
            <a:chExt cx="5110260" cy="468749"/>
          </a:xfrm>
        </p:grpSpPr>
        <p:sp>
          <p:nvSpPr>
            <p:cNvPr id="19" name="Freeform 19">
              <a:extLst>
                <a:ext uri="{FF2B5EF4-FFF2-40B4-BE49-F238E27FC236}">
                  <a16:creationId xmlns:a16="http://schemas.microsoft.com/office/drawing/2014/main" id="{B1BC5F39-A35C-6203-C0B9-E664DAE594FD}"/>
                </a:ext>
              </a:extLst>
            </p:cNvPr>
            <p:cNvSpPr/>
            <p:nvPr/>
          </p:nvSpPr>
          <p:spPr>
            <a:xfrm>
              <a:off x="0" y="0"/>
              <a:ext cx="5110261" cy="468749"/>
            </a:xfrm>
            <a:custGeom>
              <a:avLst/>
              <a:gdLst/>
              <a:ahLst/>
              <a:cxnLst/>
              <a:rect l="l" t="t" r="r" b="b"/>
              <a:pathLst>
                <a:path w="5110261" h="468749">
                  <a:moveTo>
                    <a:pt x="0" y="0"/>
                  </a:moveTo>
                  <a:lnTo>
                    <a:pt x="5110261" y="0"/>
                  </a:lnTo>
                  <a:lnTo>
                    <a:pt x="5110261" y="468749"/>
                  </a:lnTo>
                  <a:lnTo>
                    <a:pt x="0" y="468749"/>
                  </a:lnTo>
                  <a:close/>
                </a:path>
              </a:pathLst>
            </a:custGeom>
            <a:solidFill>
              <a:srgbClr val="8DAFA8"/>
            </a:solidFill>
          </p:spPr>
        </p:sp>
        <p:sp>
          <p:nvSpPr>
            <p:cNvPr id="20" name="TextBox 20">
              <a:extLst>
                <a:ext uri="{FF2B5EF4-FFF2-40B4-BE49-F238E27FC236}">
                  <a16:creationId xmlns:a16="http://schemas.microsoft.com/office/drawing/2014/main" id="{7D3E522E-02BC-413D-E602-296295DEB1C9}"/>
                </a:ext>
              </a:extLst>
            </p:cNvPr>
            <p:cNvSpPr txBox="1"/>
            <p:nvPr/>
          </p:nvSpPr>
          <p:spPr>
            <a:xfrm>
              <a:off x="0" y="-47625"/>
              <a:ext cx="5110260" cy="516374"/>
            </a:xfrm>
            <a:prstGeom prst="rect">
              <a:avLst/>
            </a:prstGeom>
          </p:spPr>
          <p:txBody>
            <a:bodyPr lIns="50800" tIns="50800" rIns="50800" bIns="50800" rtlCol="0" anchor="ctr"/>
            <a:lstStyle/>
            <a:p>
              <a:pPr algn="ctr">
                <a:lnSpc>
                  <a:spcPts val="2659"/>
                </a:lnSpc>
              </a:pPr>
              <a:endParaRPr/>
            </a:p>
          </p:txBody>
        </p:sp>
      </p:grpSp>
      <p:sp>
        <p:nvSpPr>
          <p:cNvPr id="23" name="TextBox 23">
            <a:extLst>
              <a:ext uri="{FF2B5EF4-FFF2-40B4-BE49-F238E27FC236}">
                <a16:creationId xmlns:a16="http://schemas.microsoft.com/office/drawing/2014/main" id="{AD7CDF41-CE11-DB8C-2B56-D21E652EE196}"/>
              </a:ext>
            </a:extLst>
          </p:cNvPr>
          <p:cNvSpPr txBox="1"/>
          <p:nvPr/>
        </p:nvSpPr>
        <p:spPr>
          <a:xfrm>
            <a:off x="11827243" y="1505984"/>
            <a:ext cx="5253409" cy="912089"/>
          </a:xfrm>
          <a:prstGeom prst="rect">
            <a:avLst/>
          </a:prstGeom>
        </p:spPr>
        <p:txBody>
          <a:bodyPr lIns="50800" tIns="50800" rIns="50800" bIns="50800" rtlCol="0" anchor="ctr"/>
          <a:lstStyle/>
          <a:p>
            <a:pPr algn="r">
              <a:lnSpc>
                <a:spcPts val="2659"/>
              </a:lnSpc>
            </a:pPr>
            <a:endParaRPr/>
          </a:p>
        </p:txBody>
      </p:sp>
      <p:sp>
        <p:nvSpPr>
          <p:cNvPr id="4" name="TextBox 3">
            <a:extLst>
              <a:ext uri="{FF2B5EF4-FFF2-40B4-BE49-F238E27FC236}">
                <a16:creationId xmlns:a16="http://schemas.microsoft.com/office/drawing/2014/main" id="{110D638F-01AB-EAAC-0BEC-FB02F2AD1815}"/>
              </a:ext>
            </a:extLst>
          </p:cNvPr>
          <p:cNvSpPr txBox="1"/>
          <p:nvPr/>
        </p:nvSpPr>
        <p:spPr>
          <a:xfrm>
            <a:off x="1676400" y="898181"/>
            <a:ext cx="14020800" cy="8448018"/>
          </a:xfrm>
          <a:prstGeom prst="rect">
            <a:avLst/>
          </a:prstGeom>
          <a:noFill/>
        </p:spPr>
        <p:txBody>
          <a:bodyPr wrap="square">
            <a:spAutoFit/>
          </a:bodyPr>
          <a:lstStyle/>
          <a:p>
            <a:pPr>
              <a:lnSpc>
                <a:spcPct val="106000"/>
              </a:lnSpc>
              <a:spcAft>
                <a:spcPts val="800"/>
              </a:spcAft>
            </a:pPr>
            <a:r>
              <a:rPr lang="en-IN" sz="2400" b="1">
                <a:effectLst/>
                <a:latin typeface="ITC Franklin Gothic LT" panose="020B0604020202020204" charset="0"/>
                <a:ea typeface="Calibri" panose="020F0502020204030204" pitchFamily="34" charset="0"/>
                <a:cs typeface="Times New Roman" panose="02020603050405020304" pitchFamily="18" charset="0"/>
              </a:rPr>
              <a:t>7. How satisfied are you with your current working hours?  </a:t>
            </a:r>
          </a:p>
          <a:p>
            <a:pPr>
              <a:lnSpc>
                <a:spcPct val="106000"/>
              </a:lnSpc>
              <a:spcAft>
                <a:spcPts val="775"/>
              </a:spcAft>
            </a:pPr>
            <a:r>
              <a:rPr lang="en-IN" sz="2400">
                <a:effectLst/>
                <a:latin typeface="ITC Franklin Gothic LT" panose="020B0604020202020204" charset="0"/>
                <a:ea typeface="Calibri" panose="020F0502020204030204" pitchFamily="34" charset="0"/>
                <a:cs typeface="Times New Roman" panose="02020603050405020304" pitchFamily="18" charset="0"/>
              </a:rPr>
              <a:t>a) Very satisfied      b) Somewhat satisfied    c) Not too satisfied   d) Not at all satisfied </a:t>
            </a:r>
          </a:p>
          <a:p>
            <a:pPr>
              <a:lnSpc>
                <a:spcPct val="106000"/>
              </a:lnSpc>
              <a:spcAft>
                <a:spcPts val="970"/>
              </a:spcAft>
            </a:pPr>
            <a:r>
              <a:rPr lang="en-IN" sz="2400">
                <a:effectLst/>
                <a:latin typeface="ITC Franklin Gothic LT" panose="020B0604020202020204" charset="0"/>
                <a:ea typeface="Calibri" panose="020F0502020204030204" pitchFamily="34" charset="0"/>
                <a:cs typeface="Times New Roman" panose="02020603050405020304" pitchFamily="18" charset="0"/>
              </a:rPr>
              <a:t> </a:t>
            </a:r>
          </a:p>
          <a:p>
            <a:pPr>
              <a:lnSpc>
                <a:spcPct val="106000"/>
              </a:lnSpc>
              <a:spcAft>
                <a:spcPts val="800"/>
              </a:spcAft>
            </a:pPr>
            <a:r>
              <a:rPr lang="en-IN" sz="2400" b="1">
                <a:effectLst/>
                <a:latin typeface="ITC Franklin Gothic LT" panose="020B0604020202020204" charset="0"/>
                <a:ea typeface="Calibri" panose="020F0502020204030204" pitchFamily="34" charset="0"/>
                <a:cs typeface="Times New Roman" panose="02020603050405020304" pitchFamily="18" charset="0"/>
              </a:rPr>
              <a:t>8. How long is your daily commute </a:t>
            </a:r>
          </a:p>
          <a:p>
            <a:pPr>
              <a:lnSpc>
                <a:spcPct val="106000"/>
              </a:lnSpc>
              <a:spcAft>
                <a:spcPts val="775"/>
              </a:spcAft>
            </a:pPr>
            <a:r>
              <a:rPr lang="en-IN" sz="2400">
                <a:effectLst/>
                <a:latin typeface="ITC Franklin Gothic LT" panose="020B0604020202020204" charset="0"/>
                <a:ea typeface="Calibri" panose="020F0502020204030204" pitchFamily="34" charset="0"/>
                <a:cs typeface="Times New Roman" panose="02020603050405020304" pitchFamily="18" charset="0"/>
              </a:rPr>
              <a:t>a) Less than 1 hour         b) 1 to 2 hours                 c) More than 2 hours </a:t>
            </a:r>
          </a:p>
          <a:p>
            <a:pPr>
              <a:lnSpc>
                <a:spcPct val="106000"/>
              </a:lnSpc>
              <a:spcAft>
                <a:spcPts val="775"/>
              </a:spcAft>
            </a:pPr>
            <a:r>
              <a:rPr lang="en-IN" sz="2400">
                <a:effectLst/>
                <a:latin typeface="ITC Franklin Gothic LT" panose="020B0604020202020204" charset="0"/>
                <a:ea typeface="Calibri" panose="020F0502020204030204" pitchFamily="34" charset="0"/>
                <a:cs typeface="Times New Roman" panose="02020603050405020304" pitchFamily="18" charset="0"/>
              </a:rPr>
              <a:t> </a:t>
            </a:r>
          </a:p>
          <a:p>
            <a:pPr>
              <a:lnSpc>
                <a:spcPct val="106000"/>
              </a:lnSpc>
              <a:spcAft>
                <a:spcPts val="775"/>
              </a:spcAft>
            </a:pPr>
            <a:r>
              <a:rPr lang="en-IN" sz="2400" b="1">
                <a:effectLst/>
                <a:latin typeface="ITC Franklin Gothic LT" panose="020B0604020202020204" charset="0"/>
                <a:ea typeface="Calibri" panose="020F0502020204030204" pitchFamily="34" charset="0"/>
                <a:cs typeface="Times New Roman" panose="02020603050405020304" pitchFamily="18" charset="0"/>
              </a:rPr>
              <a:t>9. How long have you worked in your present organization?  </a:t>
            </a:r>
          </a:p>
          <a:p>
            <a:pPr>
              <a:lnSpc>
                <a:spcPct val="106000"/>
              </a:lnSpc>
              <a:spcAft>
                <a:spcPts val="775"/>
              </a:spcAft>
            </a:pPr>
            <a:r>
              <a:rPr lang="en-IN" sz="2400">
                <a:effectLst/>
                <a:latin typeface="ITC Franklin Gothic LT" panose="020B0604020202020204" charset="0"/>
                <a:ea typeface="Calibri" panose="020F0502020204030204" pitchFamily="34" charset="0"/>
                <a:cs typeface="Times New Roman" panose="02020603050405020304" pitchFamily="18" charset="0"/>
              </a:rPr>
              <a:t> a) Less than 1 year         b) 1-5 years                      c) More than 5 years </a:t>
            </a:r>
          </a:p>
          <a:p>
            <a:pPr>
              <a:lnSpc>
                <a:spcPct val="106000"/>
              </a:lnSpc>
              <a:spcAft>
                <a:spcPts val="800"/>
              </a:spcAft>
            </a:pP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a:lnSpc>
                <a:spcPct val="106000"/>
              </a:lnSpc>
              <a:spcAft>
                <a:spcPts val="800"/>
              </a:spcAft>
            </a:pPr>
            <a:r>
              <a:rPr lang="en-IN" sz="2400" b="1">
                <a:effectLst/>
                <a:latin typeface="ITC Franklin Gothic LT" panose="020B0604020202020204" charset="0"/>
                <a:ea typeface="Calibri" panose="020F0502020204030204" pitchFamily="34" charset="0"/>
                <a:cs typeface="Times New Roman" panose="02020603050405020304" pitchFamily="18" charset="0"/>
              </a:rPr>
              <a:t>10. Which of the following best describes your usual work schedule?  </a:t>
            </a:r>
          </a:p>
          <a:p>
            <a:pPr>
              <a:lnSpc>
                <a:spcPct val="106000"/>
              </a:lnSpc>
              <a:spcAft>
                <a:spcPts val="775"/>
              </a:spcAft>
            </a:pPr>
            <a:r>
              <a:rPr lang="en-IN" sz="2400">
                <a:effectLst/>
                <a:latin typeface="ITC Franklin Gothic LT" panose="020B0604020202020204" charset="0"/>
                <a:ea typeface="Calibri" panose="020F0502020204030204" pitchFamily="34" charset="0"/>
                <a:cs typeface="Times New Roman" panose="02020603050405020304" pitchFamily="18" charset="0"/>
              </a:rPr>
              <a:t>a) Day shift             b) Night shift              c) Split shift          d) Irregular shift </a:t>
            </a:r>
          </a:p>
          <a:p>
            <a:pPr>
              <a:lnSpc>
                <a:spcPct val="106000"/>
              </a:lnSpc>
              <a:spcAft>
                <a:spcPts val="970"/>
              </a:spcAft>
            </a:pPr>
            <a:r>
              <a:rPr lang="en-IN" sz="2400">
                <a:effectLst/>
                <a:latin typeface="ITC Franklin Gothic LT" panose="020B0604020202020204" charset="0"/>
                <a:ea typeface="Calibri" panose="020F0502020204030204" pitchFamily="34" charset="0"/>
                <a:cs typeface="Times New Roman" panose="02020603050405020304" pitchFamily="18" charset="0"/>
              </a:rPr>
              <a:t> </a:t>
            </a:r>
          </a:p>
          <a:p>
            <a:pPr>
              <a:lnSpc>
                <a:spcPct val="106000"/>
              </a:lnSpc>
              <a:spcAft>
                <a:spcPts val="800"/>
              </a:spcAft>
            </a:pPr>
            <a:r>
              <a:rPr lang="en-IN" sz="2400" b="1">
                <a:effectLst/>
                <a:latin typeface="ITC Franklin Gothic LT" panose="020B0604020202020204" charset="0"/>
                <a:ea typeface="Calibri" panose="020F0502020204030204" pitchFamily="34" charset="0"/>
                <a:cs typeface="Times New Roman" panose="02020603050405020304" pitchFamily="18" charset="0"/>
              </a:rPr>
              <a:t>11. How often do you work overtime? </a:t>
            </a:r>
          </a:p>
          <a:p>
            <a:pPr>
              <a:lnSpc>
                <a:spcPct val="106000"/>
              </a:lnSpc>
              <a:spcAft>
                <a:spcPts val="790"/>
              </a:spcAft>
            </a:pPr>
            <a:r>
              <a:rPr lang="en-IN" sz="2400">
                <a:effectLst/>
                <a:latin typeface="ITC Franklin Gothic LT" panose="020B0604020202020204" charset="0"/>
                <a:ea typeface="Calibri" panose="020F0502020204030204" pitchFamily="34" charset="0"/>
                <a:cs typeface="Times New Roman" panose="02020603050405020304" pitchFamily="18" charset="0"/>
              </a:rPr>
              <a:t>a) 1 hour                   b) 2 to 3 hours                c) More than 3 hours </a:t>
            </a:r>
          </a:p>
          <a:p>
            <a:pPr>
              <a:lnSpc>
                <a:spcPct val="106000"/>
              </a:lnSpc>
              <a:spcAft>
                <a:spcPts val="970"/>
              </a:spcAft>
            </a:pPr>
            <a:r>
              <a:rPr lang="en-IN" sz="2400">
                <a:effectLst/>
                <a:latin typeface="ITC Franklin Gothic LT" panose="020B0604020202020204" charset="0"/>
                <a:ea typeface="Calibri" panose="020F0502020204030204" pitchFamily="34" charset="0"/>
                <a:cs typeface="Times New Roman" panose="02020603050405020304" pitchFamily="18" charset="0"/>
              </a:rPr>
              <a:t> </a:t>
            </a:r>
          </a:p>
          <a:p>
            <a:pPr>
              <a:lnSpc>
                <a:spcPct val="106000"/>
              </a:lnSpc>
              <a:spcAft>
                <a:spcPts val="800"/>
              </a:spcAft>
            </a:pPr>
            <a:r>
              <a:rPr lang="en-IN" sz="2400" b="1">
                <a:effectLst/>
                <a:latin typeface="ITC Franklin Gothic LT" panose="020B0604020202020204" charset="0"/>
                <a:ea typeface="Calibri" panose="020F0502020204030204" pitchFamily="34" charset="0"/>
                <a:cs typeface="Times New Roman" panose="02020603050405020304" pitchFamily="18" charset="0"/>
              </a:rPr>
              <a:t>12. How many hours do you sleep on an average work night? </a:t>
            </a:r>
          </a:p>
          <a:p>
            <a:pPr>
              <a:lnSpc>
                <a:spcPct val="106000"/>
              </a:lnSpc>
              <a:spcAft>
                <a:spcPts val="775"/>
              </a:spcAft>
            </a:pPr>
            <a:r>
              <a:rPr lang="en-IN" sz="2400">
                <a:effectLst/>
                <a:latin typeface="ITC Franklin Gothic LT" panose="020B0604020202020204" charset="0"/>
                <a:ea typeface="Calibri" panose="020F0502020204030204" pitchFamily="34" charset="0"/>
                <a:cs typeface="Times New Roman" panose="02020603050405020304" pitchFamily="18" charset="0"/>
              </a:rPr>
              <a:t>a) Less than 4 hours              b) 4 to 6 hours                c) More than 6 hours </a:t>
            </a:r>
          </a:p>
        </p:txBody>
      </p:sp>
    </p:spTree>
    <p:extLst>
      <p:ext uri="{BB962C8B-B14F-4D97-AF65-F5344CB8AC3E}">
        <p14:creationId xmlns:p14="http://schemas.microsoft.com/office/powerpoint/2010/main" val="683146762"/>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7EF"/>
        </a:solidFill>
        <a:effectLst/>
      </p:bgPr>
    </p:bg>
    <p:spTree>
      <p:nvGrpSpPr>
        <p:cNvPr id="1" name="">
          <a:extLst>
            <a:ext uri="{FF2B5EF4-FFF2-40B4-BE49-F238E27FC236}">
              <a16:creationId xmlns:a16="http://schemas.microsoft.com/office/drawing/2014/main" id="{420F967C-E82D-A5A9-8EE8-8DAD831E1079}"/>
            </a:ext>
          </a:extLst>
        </p:cNvPr>
        <p:cNvGrpSpPr/>
        <p:nvPr/>
      </p:nvGrpSpPr>
      <p:grpSpPr>
        <a:xfrm>
          <a:off x="0" y="0"/>
          <a:ext cx="0" cy="0"/>
          <a:chOff x="0" y="0"/>
          <a:chExt cx="0" cy="0"/>
        </a:xfrm>
      </p:grpSpPr>
      <p:grpSp>
        <p:nvGrpSpPr>
          <p:cNvPr id="15" name="Group 15">
            <a:extLst>
              <a:ext uri="{FF2B5EF4-FFF2-40B4-BE49-F238E27FC236}">
                <a16:creationId xmlns:a16="http://schemas.microsoft.com/office/drawing/2014/main" id="{0170EB9F-4F53-9F96-B47C-07971C119417}"/>
              </a:ext>
            </a:extLst>
          </p:cNvPr>
          <p:cNvGrpSpPr/>
          <p:nvPr/>
        </p:nvGrpSpPr>
        <p:grpSpPr>
          <a:xfrm>
            <a:off x="-557510" y="-889891"/>
            <a:ext cx="19403020" cy="1779782"/>
            <a:chOff x="0" y="0"/>
            <a:chExt cx="5110260" cy="468749"/>
          </a:xfrm>
        </p:grpSpPr>
        <p:sp>
          <p:nvSpPr>
            <p:cNvPr id="16" name="Freeform 16">
              <a:extLst>
                <a:ext uri="{FF2B5EF4-FFF2-40B4-BE49-F238E27FC236}">
                  <a16:creationId xmlns:a16="http://schemas.microsoft.com/office/drawing/2014/main" id="{8EDD3C7B-B73A-B458-9E4B-3B5CB92A551B}"/>
                </a:ext>
              </a:extLst>
            </p:cNvPr>
            <p:cNvSpPr/>
            <p:nvPr/>
          </p:nvSpPr>
          <p:spPr>
            <a:xfrm>
              <a:off x="0" y="0"/>
              <a:ext cx="5110261" cy="468749"/>
            </a:xfrm>
            <a:custGeom>
              <a:avLst/>
              <a:gdLst/>
              <a:ahLst/>
              <a:cxnLst/>
              <a:rect l="l" t="t" r="r" b="b"/>
              <a:pathLst>
                <a:path w="5110261" h="468749">
                  <a:moveTo>
                    <a:pt x="0" y="0"/>
                  </a:moveTo>
                  <a:lnTo>
                    <a:pt x="5110261" y="0"/>
                  </a:lnTo>
                  <a:lnTo>
                    <a:pt x="5110261" y="468749"/>
                  </a:lnTo>
                  <a:lnTo>
                    <a:pt x="0" y="468749"/>
                  </a:lnTo>
                  <a:close/>
                </a:path>
              </a:pathLst>
            </a:custGeom>
            <a:solidFill>
              <a:srgbClr val="8DAFA8"/>
            </a:solidFill>
          </p:spPr>
        </p:sp>
        <p:sp>
          <p:nvSpPr>
            <p:cNvPr id="17" name="TextBox 17">
              <a:extLst>
                <a:ext uri="{FF2B5EF4-FFF2-40B4-BE49-F238E27FC236}">
                  <a16:creationId xmlns:a16="http://schemas.microsoft.com/office/drawing/2014/main" id="{775AD758-2935-54C3-DE7E-996F75616DEE}"/>
                </a:ext>
              </a:extLst>
            </p:cNvPr>
            <p:cNvSpPr txBox="1"/>
            <p:nvPr/>
          </p:nvSpPr>
          <p:spPr>
            <a:xfrm>
              <a:off x="0" y="-47625"/>
              <a:ext cx="5110260" cy="516374"/>
            </a:xfrm>
            <a:prstGeom prst="rect">
              <a:avLst/>
            </a:prstGeom>
          </p:spPr>
          <p:txBody>
            <a:bodyPr lIns="50800" tIns="50800" rIns="50800" bIns="50800" rtlCol="0" anchor="ctr"/>
            <a:lstStyle/>
            <a:p>
              <a:pPr algn="ctr">
                <a:lnSpc>
                  <a:spcPts val="2659"/>
                </a:lnSpc>
              </a:pPr>
              <a:endParaRPr/>
            </a:p>
          </p:txBody>
        </p:sp>
      </p:grpSp>
      <p:grpSp>
        <p:nvGrpSpPr>
          <p:cNvPr id="18" name="Group 18">
            <a:extLst>
              <a:ext uri="{FF2B5EF4-FFF2-40B4-BE49-F238E27FC236}">
                <a16:creationId xmlns:a16="http://schemas.microsoft.com/office/drawing/2014/main" id="{34FA08DC-E6F8-9B0F-2AA3-CCA52E3428F1}"/>
              </a:ext>
            </a:extLst>
          </p:cNvPr>
          <p:cNvGrpSpPr/>
          <p:nvPr/>
        </p:nvGrpSpPr>
        <p:grpSpPr>
          <a:xfrm>
            <a:off x="-557510" y="9397109"/>
            <a:ext cx="19403020" cy="1779782"/>
            <a:chOff x="0" y="0"/>
            <a:chExt cx="5110260" cy="468749"/>
          </a:xfrm>
        </p:grpSpPr>
        <p:sp>
          <p:nvSpPr>
            <p:cNvPr id="19" name="Freeform 19">
              <a:extLst>
                <a:ext uri="{FF2B5EF4-FFF2-40B4-BE49-F238E27FC236}">
                  <a16:creationId xmlns:a16="http://schemas.microsoft.com/office/drawing/2014/main" id="{B1BC5F39-A35C-6203-C0B9-E664DAE594FD}"/>
                </a:ext>
              </a:extLst>
            </p:cNvPr>
            <p:cNvSpPr/>
            <p:nvPr/>
          </p:nvSpPr>
          <p:spPr>
            <a:xfrm>
              <a:off x="0" y="0"/>
              <a:ext cx="5110261" cy="468749"/>
            </a:xfrm>
            <a:custGeom>
              <a:avLst/>
              <a:gdLst/>
              <a:ahLst/>
              <a:cxnLst/>
              <a:rect l="l" t="t" r="r" b="b"/>
              <a:pathLst>
                <a:path w="5110261" h="468749">
                  <a:moveTo>
                    <a:pt x="0" y="0"/>
                  </a:moveTo>
                  <a:lnTo>
                    <a:pt x="5110261" y="0"/>
                  </a:lnTo>
                  <a:lnTo>
                    <a:pt x="5110261" y="468749"/>
                  </a:lnTo>
                  <a:lnTo>
                    <a:pt x="0" y="468749"/>
                  </a:lnTo>
                  <a:close/>
                </a:path>
              </a:pathLst>
            </a:custGeom>
            <a:solidFill>
              <a:srgbClr val="8DAFA8"/>
            </a:solidFill>
          </p:spPr>
        </p:sp>
        <p:sp>
          <p:nvSpPr>
            <p:cNvPr id="20" name="TextBox 20">
              <a:extLst>
                <a:ext uri="{FF2B5EF4-FFF2-40B4-BE49-F238E27FC236}">
                  <a16:creationId xmlns:a16="http://schemas.microsoft.com/office/drawing/2014/main" id="{7D3E522E-02BC-413D-E602-296295DEB1C9}"/>
                </a:ext>
              </a:extLst>
            </p:cNvPr>
            <p:cNvSpPr txBox="1"/>
            <p:nvPr/>
          </p:nvSpPr>
          <p:spPr>
            <a:xfrm>
              <a:off x="0" y="-47625"/>
              <a:ext cx="5110260" cy="516374"/>
            </a:xfrm>
            <a:prstGeom prst="rect">
              <a:avLst/>
            </a:prstGeom>
          </p:spPr>
          <p:txBody>
            <a:bodyPr lIns="50800" tIns="50800" rIns="50800" bIns="50800" rtlCol="0" anchor="ctr"/>
            <a:lstStyle/>
            <a:p>
              <a:pPr algn="ctr">
                <a:lnSpc>
                  <a:spcPts val="2659"/>
                </a:lnSpc>
              </a:pPr>
              <a:endParaRPr/>
            </a:p>
          </p:txBody>
        </p:sp>
      </p:grpSp>
      <p:sp>
        <p:nvSpPr>
          <p:cNvPr id="23" name="TextBox 23">
            <a:extLst>
              <a:ext uri="{FF2B5EF4-FFF2-40B4-BE49-F238E27FC236}">
                <a16:creationId xmlns:a16="http://schemas.microsoft.com/office/drawing/2014/main" id="{AD7CDF41-CE11-DB8C-2B56-D21E652EE196}"/>
              </a:ext>
            </a:extLst>
          </p:cNvPr>
          <p:cNvSpPr txBox="1"/>
          <p:nvPr/>
        </p:nvSpPr>
        <p:spPr>
          <a:xfrm>
            <a:off x="11827243" y="1505984"/>
            <a:ext cx="5253409" cy="912089"/>
          </a:xfrm>
          <a:prstGeom prst="rect">
            <a:avLst/>
          </a:prstGeom>
        </p:spPr>
        <p:txBody>
          <a:bodyPr lIns="50800" tIns="50800" rIns="50800" bIns="50800" rtlCol="0" anchor="ctr"/>
          <a:lstStyle/>
          <a:p>
            <a:pPr algn="r">
              <a:lnSpc>
                <a:spcPts val="2659"/>
              </a:lnSpc>
            </a:pPr>
            <a:endParaRPr/>
          </a:p>
        </p:txBody>
      </p:sp>
      <p:sp>
        <p:nvSpPr>
          <p:cNvPr id="6" name="TextBox 5">
            <a:extLst>
              <a:ext uri="{FF2B5EF4-FFF2-40B4-BE49-F238E27FC236}">
                <a16:creationId xmlns:a16="http://schemas.microsoft.com/office/drawing/2014/main" id="{87957EC6-9FDE-6353-F12B-114C71FB0616}"/>
              </a:ext>
            </a:extLst>
          </p:cNvPr>
          <p:cNvSpPr txBox="1"/>
          <p:nvPr/>
        </p:nvSpPr>
        <p:spPr>
          <a:xfrm>
            <a:off x="990600" y="904744"/>
            <a:ext cx="18033569" cy="8956554"/>
          </a:xfrm>
          <a:prstGeom prst="rect">
            <a:avLst/>
          </a:prstGeom>
          <a:noFill/>
        </p:spPr>
        <p:txBody>
          <a:bodyPr wrap="square">
            <a:spAutoFit/>
          </a:bodyPr>
          <a:lstStyle/>
          <a:p>
            <a:pPr>
              <a:lnSpc>
                <a:spcPct val="106000"/>
              </a:lnSpc>
              <a:spcAft>
                <a:spcPts val="800"/>
              </a:spcAft>
            </a:pPr>
            <a:r>
              <a:rPr lang="en-IN" sz="2400" b="1">
                <a:effectLst/>
                <a:latin typeface="ITC Franklin Gothic LT" panose="020B0604020202020204" charset="0"/>
                <a:ea typeface="Calibri" panose="020F0502020204030204" pitchFamily="34" charset="0"/>
                <a:cs typeface="Times New Roman" panose="02020603050405020304" pitchFamily="18" charset="0"/>
              </a:rPr>
              <a:t>13. After an average work day, how many hours do you have to relax or pursue activities that you enjoy? </a:t>
            </a:r>
          </a:p>
          <a:p>
            <a:pPr>
              <a:lnSpc>
                <a:spcPct val="106000"/>
              </a:lnSpc>
              <a:spcAft>
                <a:spcPts val="790"/>
              </a:spcAft>
            </a:pPr>
            <a:r>
              <a:rPr lang="en-IN" sz="2400">
                <a:effectLst/>
                <a:latin typeface="ITC Franklin Gothic LT" panose="020B0604020202020204" charset="0"/>
                <a:ea typeface="Calibri" panose="020F0502020204030204" pitchFamily="34" charset="0"/>
                <a:cs typeface="Times New Roman" panose="02020603050405020304" pitchFamily="18" charset="0"/>
              </a:rPr>
              <a:t>a) Less than 1-hour               b) 2 to 3 hours                c) More than 3 hours </a:t>
            </a:r>
          </a:p>
          <a:p>
            <a:pPr>
              <a:lnSpc>
                <a:spcPct val="106000"/>
              </a:lnSpc>
              <a:spcAft>
                <a:spcPts val="970"/>
              </a:spcAft>
            </a:pPr>
            <a:r>
              <a:rPr lang="en-IN" sz="2400">
                <a:effectLst/>
                <a:latin typeface="ITC Franklin Gothic LT" panose="020B0604020202020204" charset="0"/>
                <a:ea typeface="Calibri" panose="020F0502020204030204" pitchFamily="34" charset="0"/>
                <a:cs typeface="Times New Roman" panose="02020603050405020304" pitchFamily="18" charset="0"/>
              </a:rPr>
              <a:t> </a:t>
            </a:r>
          </a:p>
          <a:p>
            <a:pPr>
              <a:lnSpc>
                <a:spcPct val="106000"/>
              </a:lnSpc>
              <a:spcAft>
                <a:spcPts val="800"/>
              </a:spcAft>
            </a:pPr>
            <a:r>
              <a:rPr lang="en-IN" sz="2400" b="1">
                <a:effectLst/>
                <a:latin typeface="ITC Franklin Gothic LT" panose="020B0604020202020204" charset="0"/>
                <a:ea typeface="Calibri" panose="020F0502020204030204" pitchFamily="34" charset="0"/>
                <a:cs typeface="Times New Roman" panose="02020603050405020304" pitchFamily="18" charset="0"/>
              </a:rPr>
              <a:t>14. How often do the demands of your job interfere with your family life?  </a:t>
            </a:r>
          </a:p>
          <a:p>
            <a:pPr>
              <a:lnSpc>
                <a:spcPct val="106000"/>
              </a:lnSpc>
              <a:spcAft>
                <a:spcPts val="775"/>
              </a:spcAft>
            </a:pPr>
            <a:r>
              <a:rPr lang="en-IN" sz="2400">
                <a:effectLst/>
                <a:latin typeface="ITC Franklin Gothic LT" panose="020B0604020202020204" charset="0"/>
                <a:ea typeface="Calibri" panose="020F0502020204030204" pitchFamily="34" charset="0"/>
                <a:cs typeface="Times New Roman" panose="02020603050405020304" pitchFamily="18" charset="0"/>
              </a:rPr>
              <a:t>a) Often                      b) Sometimes                         c) Rarely                     d) Never </a:t>
            </a:r>
          </a:p>
          <a:p>
            <a:pPr>
              <a:lnSpc>
                <a:spcPct val="106000"/>
              </a:lnSpc>
              <a:spcAft>
                <a:spcPts val="970"/>
              </a:spcAft>
            </a:pPr>
            <a:r>
              <a:rPr lang="en-IN" sz="2400">
                <a:effectLst/>
                <a:latin typeface="ITC Franklin Gothic LT" panose="020B0604020202020204" charset="0"/>
                <a:ea typeface="Calibri" panose="020F0502020204030204" pitchFamily="34" charset="0"/>
                <a:cs typeface="Times New Roman" panose="02020603050405020304" pitchFamily="18" charset="0"/>
              </a:rPr>
              <a:t> </a:t>
            </a:r>
          </a:p>
          <a:p>
            <a:pPr>
              <a:lnSpc>
                <a:spcPct val="106000"/>
              </a:lnSpc>
              <a:spcAft>
                <a:spcPts val="800"/>
              </a:spcAft>
            </a:pPr>
            <a:r>
              <a:rPr lang="en-IN" sz="2400" b="1">
                <a:effectLst/>
                <a:latin typeface="ITC Franklin Gothic LT" panose="020B0604020202020204" charset="0"/>
                <a:ea typeface="Calibri" panose="020F0502020204030204" pitchFamily="34" charset="0"/>
                <a:cs typeface="Times New Roman" panose="02020603050405020304" pitchFamily="18" charset="0"/>
              </a:rPr>
              <a:t>15. Have you missed a personal event because of work? </a:t>
            </a:r>
          </a:p>
          <a:p>
            <a:pPr marR="3870960">
              <a:lnSpc>
                <a:spcPct val="168000"/>
              </a:lnSpc>
              <a:spcAft>
                <a:spcPts val="195"/>
              </a:spcAft>
            </a:pPr>
            <a:r>
              <a:rPr lang="en-IN" sz="2400">
                <a:effectLst/>
                <a:latin typeface="ITC Franklin Gothic LT" panose="020B0604020202020204" charset="0"/>
                <a:ea typeface="Calibri" panose="020F0502020204030204" pitchFamily="34" charset="0"/>
                <a:cs typeface="Times New Roman" panose="02020603050405020304" pitchFamily="18" charset="0"/>
              </a:rPr>
              <a:t>a) Yes                            b) No  </a:t>
            </a:r>
          </a:p>
          <a:p>
            <a:pPr marR="3870960">
              <a:spcAft>
                <a:spcPts val="195"/>
              </a:spcAft>
            </a:pPr>
            <a:r>
              <a:rPr lang="en-IN" sz="2400">
                <a:effectLst/>
                <a:latin typeface="ITC Franklin Gothic LT" panose="020B0604020202020204" charset="0"/>
                <a:ea typeface="Calibri" panose="020F0502020204030204" pitchFamily="34" charset="0"/>
                <a:cs typeface="Times New Roman" panose="02020603050405020304" pitchFamily="18" charset="0"/>
              </a:rPr>
              <a:t> </a:t>
            </a:r>
          </a:p>
          <a:p>
            <a:pPr>
              <a:lnSpc>
                <a:spcPct val="106000"/>
              </a:lnSpc>
              <a:spcAft>
                <a:spcPts val="800"/>
              </a:spcAft>
            </a:pPr>
            <a:r>
              <a:rPr lang="en-IN" sz="2400" b="1">
                <a:effectLst/>
                <a:latin typeface="ITC Franklin Gothic LT" panose="020B0604020202020204" charset="0"/>
                <a:ea typeface="Calibri" panose="020F0502020204030204" pitchFamily="34" charset="0"/>
                <a:cs typeface="Times New Roman" panose="02020603050405020304" pitchFamily="18" charset="0"/>
              </a:rPr>
              <a:t>16. What are the common causes of work stress in your life? </a:t>
            </a:r>
          </a:p>
          <a:p>
            <a:pPr>
              <a:lnSpc>
                <a:spcPct val="106000"/>
              </a:lnSpc>
              <a:spcAft>
                <a:spcPts val="775"/>
              </a:spcAft>
            </a:pPr>
            <a:r>
              <a:rPr lang="en-IN" sz="2400">
                <a:effectLst/>
                <a:latin typeface="ITC Franklin Gothic LT" panose="020B0604020202020204" charset="0"/>
                <a:ea typeface="Calibri" panose="020F0502020204030204" pitchFamily="34" charset="0"/>
                <a:cs typeface="Times New Roman" panose="02020603050405020304" pitchFamily="18" charset="0"/>
              </a:rPr>
              <a:t>a) Working overtime      b) Workload             c) Daily commute              d) Lack of sleep</a:t>
            </a:r>
            <a:r>
              <a:rPr lang="en-IN" sz="2400">
                <a:solidFill>
                  <a:srgbClr val="C00000"/>
                </a:solidFill>
                <a:effectLst/>
                <a:latin typeface="ITC Franklin Gothic LT" panose="020B0604020202020204" charset="0"/>
                <a:ea typeface="Calibri" panose="020F0502020204030204" pitchFamily="34" charset="0"/>
                <a:cs typeface="Times New Roman" panose="02020603050405020304" pitchFamily="18" charset="0"/>
              </a:rPr>
              <a:t> </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a:lnSpc>
                <a:spcPct val="106000"/>
              </a:lnSpc>
              <a:spcAft>
                <a:spcPts val="985"/>
              </a:spcAft>
            </a:pPr>
            <a:r>
              <a:rPr lang="en-IN" sz="2400">
                <a:effectLst/>
                <a:latin typeface="ITC Franklin Gothic LT" panose="020B0604020202020204" charset="0"/>
                <a:ea typeface="Calibri" panose="020F0502020204030204" pitchFamily="34" charset="0"/>
                <a:cs typeface="Times New Roman" panose="02020603050405020304" pitchFamily="18" charset="0"/>
              </a:rPr>
              <a:t> </a:t>
            </a:r>
          </a:p>
          <a:p>
            <a:pPr>
              <a:lnSpc>
                <a:spcPct val="106000"/>
              </a:lnSpc>
              <a:spcAft>
                <a:spcPts val="800"/>
              </a:spcAft>
            </a:pPr>
            <a:r>
              <a:rPr lang="en-IN" sz="2400" b="1">
                <a:effectLst/>
                <a:latin typeface="ITC Franklin Gothic LT" panose="020B0604020202020204" charset="0"/>
                <a:ea typeface="Calibri" panose="020F0502020204030204" pitchFamily="34" charset="0"/>
                <a:cs typeface="Times New Roman" panose="02020603050405020304" pitchFamily="18" charset="0"/>
              </a:rPr>
              <a:t>17.</a:t>
            </a:r>
            <a:r>
              <a:rPr lang="en-IN" sz="2400" b="1">
                <a:solidFill>
                  <a:srgbClr val="C00000"/>
                </a:solidFill>
                <a:effectLst/>
                <a:latin typeface="ITC Franklin Gothic LT" panose="020B0604020202020204" charset="0"/>
                <a:ea typeface="Calibri" panose="020F0502020204030204" pitchFamily="34" charset="0"/>
                <a:cs typeface="Times New Roman" panose="02020603050405020304" pitchFamily="18" charset="0"/>
              </a:rPr>
              <a:t> </a:t>
            </a:r>
            <a:r>
              <a:rPr lang="en-IN" sz="2400" b="1">
                <a:effectLst/>
                <a:latin typeface="ITC Franklin Gothic LT" panose="020B0604020202020204" charset="0"/>
                <a:ea typeface="Calibri" panose="020F0502020204030204" pitchFamily="34" charset="0"/>
                <a:cs typeface="Times New Roman" panose="02020603050405020304" pitchFamily="18" charset="0"/>
              </a:rPr>
              <a:t>What are the consequences of work-life stress? (Choose more than one option) </a:t>
            </a:r>
          </a:p>
          <a:p>
            <a:pPr>
              <a:lnSpc>
                <a:spcPct val="106000"/>
              </a:lnSpc>
              <a:spcAft>
                <a:spcPts val="800"/>
              </a:spcAft>
            </a:pPr>
            <a:r>
              <a:rPr lang="en-IN" sz="2400">
                <a:effectLst/>
                <a:latin typeface="ITC Franklin Gothic LT" panose="020B0604020202020204" charset="0"/>
                <a:ea typeface="Calibri" panose="020F0502020204030204" pitchFamily="34" charset="0"/>
                <a:cs typeface="Times New Roman" panose="02020603050405020304" pitchFamily="18" charset="0"/>
              </a:rPr>
              <a:t>a) No interest in social interaction        b) Loss of emotional hygiene        c) Screen fatigue        d) Lack of personal growth </a:t>
            </a:r>
          </a:p>
          <a:p>
            <a:pPr>
              <a:lnSpc>
                <a:spcPct val="106000"/>
              </a:lnSpc>
              <a:spcAft>
                <a:spcPts val="1065"/>
              </a:spcAft>
            </a:pPr>
            <a:r>
              <a:rPr lang="en-IN" sz="2400">
                <a:effectLst/>
                <a:latin typeface="ITC Franklin Gothic LT" panose="020B0604020202020204" charset="0"/>
                <a:ea typeface="Calibri" panose="020F0502020204030204" pitchFamily="34" charset="0"/>
                <a:cs typeface="Times New Roman" panose="02020603050405020304" pitchFamily="18" charset="0"/>
              </a:rPr>
              <a:t> </a:t>
            </a:r>
          </a:p>
          <a:p>
            <a:pPr>
              <a:lnSpc>
                <a:spcPct val="106000"/>
              </a:lnSpc>
              <a:spcAft>
                <a:spcPts val="800"/>
              </a:spcAft>
            </a:pPr>
            <a:r>
              <a:rPr lang="en-IN" sz="2400" b="1">
                <a:effectLst/>
                <a:latin typeface="ITC Franklin Gothic LT" panose="020B0604020202020204" charset="0"/>
                <a:ea typeface="Calibri" panose="020F0502020204030204" pitchFamily="34" charset="0"/>
                <a:cs typeface="Times New Roman" panose="02020603050405020304" pitchFamily="18" charset="0"/>
              </a:rPr>
              <a:t>18.</a:t>
            </a:r>
            <a:r>
              <a:rPr lang="en-IN" sz="2400" b="1">
                <a:effectLst/>
                <a:latin typeface="ITC Franklin Gothic LT" panose="020B0604020202020204" charset="0"/>
                <a:ea typeface="Segoe UI" panose="020B0502040204020203" pitchFamily="34" charset="0"/>
                <a:cs typeface="Times New Roman" panose="02020603050405020304" pitchFamily="18" charset="0"/>
              </a:rPr>
              <a:t> </a:t>
            </a:r>
            <a:r>
              <a:rPr lang="en-IN" sz="2400" b="1">
                <a:effectLst/>
                <a:latin typeface="ITC Franklin Gothic LT" panose="020B0604020202020204" charset="0"/>
                <a:ea typeface="Calibri" panose="020F0502020204030204" pitchFamily="34" charset="0"/>
                <a:cs typeface="Times New Roman" panose="02020603050405020304" pitchFamily="18" charset="0"/>
              </a:rPr>
              <a:t>Which factor motivates you the most in your organization? (Choose more than one option) </a:t>
            </a:r>
          </a:p>
          <a:p>
            <a:pPr>
              <a:lnSpc>
                <a:spcPct val="106000"/>
              </a:lnSpc>
              <a:spcAft>
                <a:spcPts val="180"/>
              </a:spcAft>
            </a:pPr>
            <a:r>
              <a:rPr lang="en-IN" sz="2400">
                <a:effectLst/>
                <a:latin typeface="ITC Franklin Gothic LT" panose="020B0604020202020204" charset="0"/>
                <a:ea typeface="Calibri" panose="020F0502020204030204" pitchFamily="34" charset="0"/>
                <a:cs typeface="Times New Roman" panose="02020603050405020304" pitchFamily="18" charset="0"/>
              </a:rPr>
              <a:t>a) Salary increase                  b) Promotion                c) Motivational talk                       d) Recognition  </a:t>
            </a:r>
          </a:p>
          <a:p>
            <a:pPr>
              <a:lnSpc>
                <a:spcPct val="106000"/>
              </a:lnSpc>
              <a:spcAft>
                <a:spcPts val="1065"/>
              </a:spcAft>
            </a:pPr>
            <a:endParaRPr lang="en-IN" sz="2400">
              <a:effectLst/>
              <a:latin typeface="ITC Franklin Gothic LT" panose="020B060402020202020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33514257"/>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7EF"/>
        </a:solidFill>
        <a:effectLst/>
      </p:bgPr>
    </p:bg>
    <p:spTree>
      <p:nvGrpSpPr>
        <p:cNvPr id="1" name="">
          <a:extLst>
            <a:ext uri="{FF2B5EF4-FFF2-40B4-BE49-F238E27FC236}">
              <a16:creationId xmlns:a16="http://schemas.microsoft.com/office/drawing/2014/main" id="{420F967C-E82D-A5A9-8EE8-8DAD831E1079}"/>
            </a:ext>
          </a:extLst>
        </p:cNvPr>
        <p:cNvGrpSpPr/>
        <p:nvPr/>
      </p:nvGrpSpPr>
      <p:grpSpPr>
        <a:xfrm>
          <a:off x="0" y="0"/>
          <a:ext cx="0" cy="0"/>
          <a:chOff x="0" y="0"/>
          <a:chExt cx="0" cy="0"/>
        </a:xfrm>
      </p:grpSpPr>
      <p:grpSp>
        <p:nvGrpSpPr>
          <p:cNvPr id="15" name="Group 15">
            <a:extLst>
              <a:ext uri="{FF2B5EF4-FFF2-40B4-BE49-F238E27FC236}">
                <a16:creationId xmlns:a16="http://schemas.microsoft.com/office/drawing/2014/main" id="{0170EB9F-4F53-9F96-B47C-07971C119417}"/>
              </a:ext>
            </a:extLst>
          </p:cNvPr>
          <p:cNvGrpSpPr/>
          <p:nvPr/>
        </p:nvGrpSpPr>
        <p:grpSpPr>
          <a:xfrm>
            <a:off x="-557510" y="-889891"/>
            <a:ext cx="19403020" cy="1779782"/>
            <a:chOff x="0" y="0"/>
            <a:chExt cx="5110260" cy="468749"/>
          </a:xfrm>
        </p:grpSpPr>
        <p:sp>
          <p:nvSpPr>
            <p:cNvPr id="16" name="Freeform 16">
              <a:extLst>
                <a:ext uri="{FF2B5EF4-FFF2-40B4-BE49-F238E27FC236}">
                  <a16:creationId xmlns:a16="http://schemas.microsoft.com/office/drawing/2014/main" id="{8EDD3C7B-B73A-B458-9E4B-3B5CB92A551B}"/>
                </a:ext>
              </a:extLst>
            </p:cNvPr>
            <p:cNvSpPr/>
            <p:nvPr/>
          </p:nvSpPr>
          <p:spPr>
            <a:xfrm>
              <a:off x="0" y="0"/>
              <a:ext cx="5110261" cy="468749"/>
            </a:xfrm>
            <a:custGeom>
              <a:avLst/>
              <a:gdLst/>
              <a:ahLst/>
              <a:cxnLst/>
              <a:rect l="l" t="t" r="r" b="b"/>
              <a:pathLst>
                <a:path w="5110261" h="468749">
                  <a:moveTo>
                    <a:pt x="0" y="0"/>
                  </a:moveTo>
                  <a:lnTo>
                    <a:pt x="5110261" y="0"/>
                  </a:lnTo>
                  <a:lnTo>
                    <a:pt x="5110261" y="468749"/>
                  </a:lnTo>
                  <a:lnTo>
                    <a:pt x="0" y="468749"/>
                  </a:lnTo>
                  <a:close/>
                </a:path>
              </a:pathLst>
            </a:custGeom>
            <a:solidFill>
              <a:srgbClr val="8DAFA8"/>
            </a:solidFill>
          </p:spPr>
        </p:sp>
        <p:sp>
          <p:nvSpPr>
            <p:cNvPr id="17" name="TextBox 17">
              <a:extLst>
                <a:ext uri="{FF2B5EF4-FFF2-40B4-BE49-F238E27FC236}">
                  <a16:creationId xmlns:a16="http://schemas.microsoft.com/office/drawing/2014/main" id="{775AD758-2935-54C3-DE7E-996F75616DEE}"/>
                </a:ext>
              </a:extLst>
            </p:cNvPr>
            <p:cNvSpPr txBox="1"/>
            <p:nvPr/>
          </p:nvSpPr>
          <p:spPr>
            <a:xfrm>
              <a:off x="0" y="-47625"/>
              <a:ext cx="5110260" cy="516374"/>
            </a:xfrm>
            <a:prstGeom prst="rect">
              <a:avLst/>
            </a:prstGeom>
          </p:spPr>
          <p:txBody>
            <a:bodyPr lIns="50800" tIns="50800" rIns="50800" bIns="50800" rtlCol="0" anchor="ctr"/>
            <a:lstStyle/>
            <a:p>
              <a:pPr algn="ctr">
                <a:lnSpc>
                  <a:spcPts val="2659"/>
                </a:lnSpc>
              </a:pPr>
              <a:endParaRPr/>
            </a:p>
          </p:txBody>
        </p:sp>
      </p:grpSp>
      <p:grpSp>
        <p:nvGrpSpPr>
          <p:cNvPr id="18" name="Group 18">
            <a:extLst>
              <a:ext uri="{FF2B5EF4-FFF2-40B4-BE49-F238E27FC236}">
                <a16:creationId xmlns:a16="http://schemas.microsoft.com/office/drawing/2014/main" id="{34FA08DC-E6F8-9B0F-2AA3-CCA52E3428F1}"/>
              </a:ext>
            </a:extLst>
          </p:cNvPr>
          <p:cNvGrpSpPr/>
          <p:nvPr/>
        </p:nvGrpSpPr>
        <p:grpSpPr>
          <a:xfrm>
            <a:off x="-557510" y="9397109"/>
            <a:ext cx="19403020" cy="1779782"/>
            <a:chOff x="0" y="0"/>
            <a:chExt cx="5110260" cy="468749"/>
          </a:xfrm>
        </p:grpSpPr>
        <p:sp>
          <p:nvSpPr>
            <p:cNvPr id="19" name="Freeform 19">
              <a:extLst>
                <a:ext uri="{FF2B5EF4-FFF2-40B4-BE49-F238E27FC236}">
                  <a16:creationId xmlns:a16="http://schemas.microsoft.com/office/drawing/2014/main" id="{B1BC5F39-A35C-6203-C0B9-E664DAE594FD}"/>
                </a:ext>
              </a:extLst>
            </p:cNvPr>
            <p:cNvSpPr/>
            <p:nvPr/>
          </p:nvSpPr>
          <p:spPr>
            <a:xfrm>
              <a:off x="0" y="0"/>
              <a:ext cx="5110261" cy="468749"/>
            </a:xfrm>
            <a:custGeom>
              <a:avLst/>
              <a:gdLst/>
              <a:ahLst/>
              <a:cxnLst/>
              <a:rect l="l" t="t" r="r" b="b"/>
              <a:pathLst>
                <a:path w="5110261" h="468749">
                  <a:moveTo>
                    <a:pt x="0" y="0"/>
                  </a:moveTo>
                  <a:lnTo>
                    <a:pt x="5110261" y="0"/>
                  </a:lnTo>
                  <a:lnTo>
                    <a:pt x="5110261" y="468749"/>
                  </a:lnTo>
                  <a:lnTo>
                    <a:pt x="0" y="468749"/>
                  </a:lnTo>
                  <a:close/>
                </a:path>
              </a:pathLst>
            </a:custGeom>
            <a:solidFill>
              <a:srgbClr val="8DAFA8"/>
            </a:solidFill>
          </p:spPr>
        </p:sp>
        <p:sp>
          <p:nvSpPr>
            <p:cNvPr id="20" name="TextBox 20">
              <a:extLst>
                <a:ext uri="{FF2B5EF4-FFF2-40B4-BE49-F238E27FC236}">
                  <a16:creationId xmlns:a16="http://schemas.microsoft.com/office/drawing/2014/main" id="{7D3E522E-02BC-413D-E602-296295DEB1C9}"/>
                </a:ext>
              </a:extLst>
            </p:cNvPr>
            <p:cNvSpPr txBox="1"/>
            <p:nvPr/>
          </p:nvSpPr>
          <p:spPr>
            <a:xfrm>
              <a:off x="0" y="-47625"/>
              <a:ext cx="5110260" cy="516374"/>
            </a:xfrm>
            <a:prstGeom prst="rect">
              <a:avLst/>
            </a:prstGeom>
          </p:spPr>
          <p:txBody>
            <a:bodyPr lIns="50800" tIns="50800" rIns="50800" bIns="50800" rtlCol="0" anchor="ctr"/>
            <a:lstStyle/>
            <a:p>
              <a:pPr algn="ctr">
                <a:lnSpc>
                  <a:spcPts val="2659"/>
                </a:lnSpc>
              </a:pPr>
              <a:endParaRPr/>
            </a:p>
          </p:txBody>
        </p:sp>
      </p:grpSp>
      <p:sp>
        <p:nvSpPr>
          <p:cNvPr id="23" name="TextBox 23">
            <a:extLst>
              <a:ext uri="{FF2B5EF4-FFF2-40B4-BE49-F238E27FC236}">
                <a16:creationId xmlns:a16="http://schemas.microsoft.com/office/drawing/2014/main" id="{AD7CDF41-CE11-DB8C-2B56-D21E652EE196}"/>
              </a:ext>
            </a:extLst>
          </p:cNvPr>
          <p:cNvSpPr txBox="1"/>
          <p:nvPr/>
        </p:nvSpPr>
        <p:spPr>
          <a:xfrm>
            <a:off x="11827243" y="1505984"/>
            <a:ext cx="5253409" cy="912089"/>
          </a:xfrm>
          <a:prstGeom prst="rect">
            <a:avLst/>
          </a:prstGeom>
        </p:spPr>
        <p:txBody>
          <a:bodyPr lIns="50800" tIns="50800" rIns="50800" bIns="50800" rtlCol="0" anchor="ctr"/>
          <a:lstStyle/>
          <a:p>
            <a:pPr algn="r">
              <a:lnSpc>
                <a:spcPts val="2659"/>
              </a:lnSpc>
            </a:pPr>
            <a:endParaRPr/>
          </a:p>
        </p:txBody>
      </p:sp>
      <p:sp>
        <p:nvSpPr>
          <p:cNvPr id="3" name="TextBox 2">
            <a:extLst>
              <a:ext uri="{FF2B5EF4-FFF2-40B4-BE49-F238E27FC236}">
                <a16:creationId xmlns:a16="http://schemas.microsoft.com/office/drawing/2014/main" id="{FD8C83CF-8A09-B76F-6BC0-514142425CDF}"/>
              </a:ext>
            </a:extLst>
          </p:cNvPr>
          <p:cNvSpPr txBox="1"/>
          <p:nvPr/>
        </p:nvSpPr>
        <p:spPr>
          <a:xfrm>
            <a:off x="914400" y="889891"/>
            <a:ext cx="17661610" cy="10448245"/>
          </a:xfrm>
          <a:prstGeom prst="rect">
            <a:avLst/>
          </a:prstGeom>
          <a:noFill/>
        </p:spPr>
        <p:txBody>
          <a:bodyPr wrap="square">
            <a:spAutoFit/>
          </a:bodyPr>
          <a:lstStyle/>
          <a:p>
            <a:pPr lvl="0" fontAlgn="base">
              <a:lnSpc>
                <a:spcPct val="106000"/>
              </a:lnSpc>
              <a:spcAft>
                <a:spcPts val="770"/>
              </a:spcAft>
              <a:buClr>
                <a:srgbClr val="000000"/>
              </a:buClr>
              <a:buSzPts val="1100"/>
            </a:pPr>
            <a:r>
              <a:rPr lang="en-IN" sz="2400" b="1" u="none" strike="noStrike">
                <a:effectLst/>
                <a:uFill>
                  <a:solidFill>
                    <a:srgbClr val="000000"/>
                  </a:solidFill>
                </a:uFill>
                <a:latin typeface="ITC Franklin Gothic LT" panose="020B0604020202020204" charset="0"/>
                <a:ea typeface="Arial" panose="020B0604020202020204" pitchFamily="34" charset="0"/>
                <a:cs typeface="Arial" panose="020B0604020202020204" pitchFamily="34" charset="0"/>
              </a:rPr>
              <a:t>19. Do you think the quality of work life of the organization helps to improve your productivity?</a:t>
            </a:r>
          </a:p>
          <a:p>
            <a:pPr>
              <a:lnSpc>
                <a:spcPct val="106000"/>
              </a:lnSpc>
              <a:spcAft>
                <a:spcPts val="770"/>
              </a:spcAft>
            </a:pPr>
            <a:r>
              <a:rPr lang="en-IN" sz="2400">
                <a:effectLst/>
                <a:latin typeface="ITC Franklin Gothic LT" panose="020B0604020202020204" charset="0"/>
                <a:ea typeface="Calibri" panose="020F0502020204030204" pitchFamily="34" charset="0"/>
                <a:cs typeface="Times New Roman" panose="02020603050405020304" pitchFamily="18" charset="0"/>
              </a:rPr>
              <a:t> a) Yes                                b) No </a:t>
            </a:r>
          </a:p>
          <a:p>
            <a:pPr>
              <a:lnSpc>
                <a:spcPct val="106000"/>
              </a:lnSpc>
              <a:spcAft>
                <a:spcPts val="800"/>
              </a:spcAft>
            </a:pPr>
            <a:r>
              <a:rPr lang="en-IN" sz="2400">
                <a:effectLst/>
                <a:latin typeface="ITC Franklin Gothic LT" panose="020B0604020202020204" charset="0"/>
                <a:ea typeface="Calibri" panose="020F0502020204030204" pitchFamily="34" charset="0"/>
                <a:cs typeface="Times New Roman" panose="02020603050405020304" pitchFamily="18" charset="0"/>
              </a:rPr>
              <a:t> </a:t>
            </a:r>
          </a:p>
          <a:p>
            <a:pPr>
              <a:lnSpc>
                <a:spcPct val="106000"/>
              </a:lnSpc>
              <a:spcAft>
                <a:spcPts val="800"/>
              </a:spcAft>
            </a:pPr>
            <a:r>
              <a:rPr lang="en-IN" sz="2400" b="1" u="none" strike="noStrike">
                <a:uFill>
                  <a:solidFill>
                    <a:srgbClr val="000000"/>
                  </a:solidFill>
                </a:uFill>
                <a:latin typeface="ITC Franklin Gothic LT" panose="020B0604020202020204" charset="0"/>
                <a:ea typeface="Calibri" panose="020F0502020204030204" pitchFamily="34" charset="0"/>
                <a:cs typeface="Times New Roman" panose="02020603050405020304" pitchFamily="18" charset="0"/>
              </a:rPr>
              <a:t>20. </a:t>
            </a:r>
            <a:r>
              <a:rPr lang="en-IN" sz="2400" b="1" u="none" strike="noStrike">
                <a:effectLst/>
                <a:uFill>
                  <a:solidFill>
                    <a:srgbClr val="000000"/>
                  </a:solidFill>
                </a:uFill>
                <a:latin typeface="ITC Franklin Gothic LT" panose="020B0604020202020204" charset="0"/>
                <a:ea typeface="Arial" panose="020B0604020202020204" pitchFamily="34" charset="0"/>
                <a:cs typeface="Arial" panose="020B0604020202020204" pitchFamily="34" charset="0"/>
              </a:rPr>
              <a:t>How can employees manage their workload effectively? (Choose more than one option) </a:t>
            </a:r>
          </a:p>
          <a:p>
            <a:pPr>
              <a:lnSpc>
                <a:spcPct val="106000"/>
              </a:lnSpc>
              <a:spcAft>
                <a:spcPts val="800"/>
              </a:spcAft>
            </a:pPr>
            <a:r>
              <a:rPr lang="en-IN" sz="2400">
                <a:effectLst/>
                <a:latin typeface="ITC Franklin Gothic LT" panose="020B0604020202020204" charset="0"/>
                <a:ea typeface="Calibri" panose="020F0502020204030204" pitchFamily="34" charset="0"/>
                <a:cs typeface="Times New Roman" panose="02020603050405020304" pitchFamily="18" charset="0"/>
              </a:rPr>
              <a:t>a) Prioritize tasks                b) Allocate tasks smartly and fairly        c) Build a timeline            d) Avoid multitasking </a:t>
            </a:r>
          </a:p>
          <a:p>
            <a:pPr>
              <a:lnSpc>
                <a:spcPct val="106000"/>
              </a:lnSpc>
              <a:spcAft>
                <a:spcPts val="970"/>
              </a:spcAft>
            </a:pPr>
            <a:r>
              <a:rPr lang="en-IN" sz="2400">
                <a:effectLst/>
                <a:latin typeface="ITC Franklin Gothic LT" panose="020B0604020202020204" charset="0"/>
                <a:ea typeface="Calibri" panose="020F0502020204030204" pitchFamily="34" charset="0"/>
                <a:cs typeface="Times New Roman" panose="02020603050405020304" pitchFamily="18" charset="0"/>
              </a:rPr>
              <a:t> </a:t>
            </a:r>
          </a:p>
          <a:p>
            <a:pPr>
              <a:lnSpc>
                <a:spcPct val="106000"/>
              </a:lnSpc>
              <a:spcAft>
                <a:spcPts val="800"/>
              </a:spcAft>
            </a:pPr>
            <a:r>
              <a:rPr lang="en-IN" sz="2400" b="1">
                <a:effectLst/>
                <a:latin typeface="ITC Franklin Gothic LT" panose="020B0604020202020204" charset="0"/>
                <a:ea typeface="Calibri" panose="020F0502020204030204" pitchFamily="34" charset="0"/>
                <a:cs typeface="Times New Roman" panose="02020603050405020304" pitchFamily="18" charset="0"/>
              </a:rPr>
              <a:t>21. How often do you feel under pressure at work?  </a:t>
            </a:r>
          </a:p>
          <a:p>
            <a:pPr>
              <a:lnSpc>
                <a:spcPct val="106000"/>
              </a:lnSpc>
              <a:spcAft>
                <a:spcPts val="775"/>
              </a:spcAft>
            </a:pPr>
            <a:r>
              <a:rPr lang="en-IN" sz="2400">
                <a:effectLst/>
                <a:latin typeface="ITC Franklin Gothic LT" panose="020B0604020202020204" charset="0"/>
                <a:ea typeface="Calibri" panose="020F0502020204030204" pitchFamily="34" charset="0"/>
                <a:cs typeface="Times New Roman" panose="02020603050405020304" pitchFamily="18" charset="0"/>
              </a:rPr>
              <a:t>a) Always            b) Often              c) Sometimes                      d) Never </a:t>
            </a:r>
          </a:p>
          <a:p>
            <a:pPr>
              <a:lnSpc>
                <a:spcPct val="106000"/>
              </a:lnSpc>
              <a:spcAft>
                <a:spcPts val="970"/>
              </a:spcAft>
            </a:pPr>
            <a:r>
              <a:rPr lang="en-IN" sz="2400">
                <a:effectLst/>
                <a:latin typeface="ITC Franklin Gothic LT" panose="020B0604020202020204" charset="0"/>
                <a:ea typeface="Calibri" panose="020F0502020204030204" pitchFamily="34" charset="0"/>
                <a:cs typeface="Times New Roman" panose="02020603050405020304" pitchFamily="18" charset="0"/>
              </a:rPr>
              <a:t> </a:t>
            </a:r>
          </a:p>
          <a:p>
            <a:pPr>
              <a:lnSpc>
                <a:spcPct val="106000"/>
              </a:lnSpc>
              <a:spcAft>
                <a:spcPts val="800"/>
              </a:spcAft>
            </a:pPr>
            <a:r>
              <a:rPr lang="en-IN" sz="2400" b="1">
                <a:effectLst/>
                <a:latin typeface="ITC Franklin Gothic LT" panose="020B0604020202020204" charset="0"/>
                <a:ea typeface="Calibri" panose="020F0502020204030204" pitchFamily="34" charset="0"/>
                <a:cs typeface="Times New Roman" panose="02020603050405020304" pitchFamily="18" charset="0"/>
              </a:rPr>
              <a:t>22. How often do you take part with others in making decisions that affect you? </a:t>
            </a:r>
          </a:p>
          <a:p>
            <a:pPr marL="457200" indent="-457200">
              <a:lnSpc>
                <a:spcPct val="106000"/>
              </a:lnSpc>
              <a:spcAft>
                <a:spcPts val="780"/>
              </a:spcAft>
              <a:buAutoNum type="alphaLcParenR"/>
            </a:pPr>
            <a:r>
              <a:rPr lang="en-IN" sz="2400">
                <a:effectLst/>
                <a:latin typeface="ITC Franklin Gothic LT" panose="020B0604020202020204" charset="0"/>
                <a:ea typeface="Calibri" panose="020F0502020204030204" pitchFamily="34" charset="0"/>
                <a:cs typeface="Times New Roman" panose="02020603050405020304" pitchFamily="18" charset="0"/>
              </a:rPr>
              <a:t>Always             b) Often              c) Sometimes                      d) Never </a:t>
            </a:r>
            <a:endParaRPr lang="en-IN" sz="2400">
              <a:latin typeface="ITC Franklin Gothic LT" panose="020B0604020202020204" charset="0"/>
              <a:ea typeface="Calibri" panose="020F0502020204030204" pitchFamily="34" charset="0"/>
              <a:cs typeface="Times New Roman" panose="02020603050405020304" pitchFamily="18" charset="0"/>
            </a:endParaRPr>
          </a:p>
          <a:p>
            <a:pPr marL="457200" indent="-457200">
              <a:lnSpc>
                <a:spcPct val="106000"/>
              </a:lnSpc>
              <a:spcAft>
                <a:spcPts val="780"/>
              </a:spcAft>
              <a:buAutoNum type="alphaLcParenR"/>
            </a:pP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a:lnSpc>
                <a:spcPct val="106000"/>
              </a:lnSpc>
              <a:spcAft>
                <a:spcPts val="800"/>
              </a:spcAft>
            </a:pPr>
            <a:r>
              <a:rPr lang="en-IN" sz="2400" b="1">
                <a:effectLst/>
                <a:latin typeface="ITC Franklin Gothic LT" panose="020B0604020202020204" charset="0"/>
                <a:ea typeface="Calibri" panose="020F0502020204030204" pitchFamily="34" charset="0"/>
                <a:cs typeface="Times New Roman" panose="02020603050405020304" pitchFamily="18" charset="0"/>
              </a:rPr>
              <a:t>23. What do you believe is the biggest threat to your work-life balance? </a:t>
            </a:r>
          </a:p>
          <a:p>
            <a:pPr marL="457200" indent="-457200">
              <a:lnSpc>
                <a:spcPct val="106000"/>
              </a:lnSpc>
              <a:spcAft>
                <a:spcPts val="800"/>
              </a:spcAft>
              <a:buAutoNum type="alphaLcParenR"/>
            </a:pPr>
            <a:r>
              <a:rPr lang="en-IN" sz="2400">
                <a:effectLst/>
                <a:latin typeface="ITC Franklin Gothic LT" panose="020B0604020202020204" charset="0"/>
                <a:ea typeface="Calibri" panose="020F0502020204030204" pitchFamily="34" charset="0"/>
                <a:cs typeface="Times New Roman" panose="02020603050405020304" pitchFamily="18" charset="0"/>
              </a:rPr>
              <a:t>Technology troubles             b) Unrealistic demands           c) Social perceptions               d) Lack of skills </a:t>
            </a:r>
          </a:p>
          <a:p>
            <a:pPr>
              <a:lnSpc>
                <a:spcPct val="106000"/>
              </a:lnSpc>
              <a:spcAft>
                <a:spcPts val="800"/>
              </a:spcAft>
            </a:pPr>
            <a:endParaRPr lang="en-IN" sz="2400">
              <a:latin typeface="ITC Franklin Gothic LT" panose="020B0604020202020204" charset="0"/>
              <a:ea typeface="Calibri" panose="020F0502020204030204" pitchFamily="34" charset="0"/>
              <a:cs typeface="Times New Roman" panose="02020603050405020304" pitchFamily="18" charset="0"/>
            </a:endParaRPr>
          </a:p>
          <a:p>
            <a:pPr>
              <a:lnSpc>
                <a:spcPct val="106000"/>
              </a:lnSpc>
              <a:spcAft>
                <a:spcPts val="800"/>
              </a:spcAft>
            </a:pPr>
            <a:r>
              <a:rPr lang="en-IN" sz="2400" b="1">
                <a:effectLst/>
                <a:latin typeface="ITC Franklin Gothic LT" panose="020B0604020202020204" charset="0"/>
                <a:ea typeface="Calibri" panose="020F0502020204030204" pitchFamily="34" charset="0"/>
                <a:cs typeface="Times New Roman" panose="02020603050405020304" pitchFamily="18" charset="0"/>
              </a:rPr>
              <a:t>24. Do you feel that the income from your job alone is enough to meet your family's usual monthly expenses and bills? </a:t>
            </a:r>
          </a:p>
          <a:p>
            <a:pPr marL="457200" marR="3869690" indent="-457200">
              <a:lnSpc>
                <a:spcPct val="168000"/>
              </a:lnSpc>
              <a:spcAft>
                <a:spcPts val="195"/>
              </a:spcAft>
              <a:buAutoNum type="alphaLcParenR"/>
            </a:pPr>
            <a:r>
              <a:rPr lang="en-IN" sz="2400">
                <a:effectLst/>
                <a:latin typeface="ITC Franklin Gothic LT" panose="020B0604020202020204" charset="0"/>
                <a:ea typeface="Calibri" panose="020F0502020204030204" pitchFamily="34" charset="0"/>
                <a:cs typeface="Times New Roman" panose="02020603050405020304" pitchFamily="18" charset="0"/>
              </a:rPr>
              <a:t>Yes                             b)No  </a:t>
            </a:r>
          </a:p>
          <a:p>
            <a:pPr>
              <a:lnSpc>
                <a:spcPct val="106000"/>
              </a:lnSpc>
              <a:spcAft>
                <a:spcPts val="800"/>
              </a:spcAft>
            </a:pP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a:lnSpc>
                <a:spcPct val="106000"/>
              </a:lnSpc>
              <a:spcAft>
                <a:spcPts val="780"/>
              </a:spcAft>
            </a:pP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a:lnSpc>
                <a:spcPct val="106000"/>
              </a:lnSpc>
              <a:spcAft>
                <a:spcPts val="970"/>
              </a:spcAft>
            </a:pPr>
            <a:r>
              <a:rPr lang="en-IN" sz="2400">
                <a:effectLst/>
                <a:latin typeface="ITC Franklin Gothic LT" panose="020B0604020202020204" charset="0"/>
                <a:ea typeface="Calibri" panose="020F0502020204030204" pitchFamily="34" charset="0"/>
                <a:cs typeface="Times New Roman" panose="02020603050405020304" pitchFamily="18" charset="0"/>
              </a:rPr>
              <a:t> </a:t>
            </a:r>
          </a:p>
        </p:txBody>
      </p:sp>
    </p:spTree>
    <p:extLst>
      <p:ext uri="{BB962C8B-B14F-4D97-AF65-F5344CB8AC3E}">
        <p14:creationId xmlns:p14="http://schemas.microsoft.com/office/powerpoint/2010/main" val="2894365813"/>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7EF"/>
        </a:solidFill>
        <a:effectLst/>
      </p:bgPr>
    </p:bg>
    <p:spTree>
      <p:nvGrpSpPr>
        <p:cNvPr id="1" name="">
          <a:extLst>
            <a:ext uri="{FF2B5EF4-FFF2-40B4-BE49-F238E27FC236}">
              <a16:creationId xmlns:a16="http://schemas.microsoft.com/office/drawing/2014/main" id="{420F967C-E82D-A5A9-8EE8-8DAD831E1079}"/>
            </a:ext>
          </a:extLst>
        </p:cNvPr>
        <p:cNvGrpSpPr/>
        <p:nvPr/>
      </p:nvGrpSpPr>
      <p:grpSpPr>
        <a:xfrm>
          <a:off x="0" y="0"/>
          <a:ext cx="0" cy="0"/>
          <a:chOff x="0" y="0"/>
          <a:chExt cx="0" cy="0"/>
        </a:xfrm>
      </p:grpSpPr>
      <p:grpSp>
        <p:nvGrpSpPr>
          <p:cNvPr id="15" name="Group 15">
            <a:extLst>
              <a:ext uri="{FF2B5EF4-FFF2-40B4-BE49-F238E27FC236}">
                <a16:creationId xmlns:a16="http://schemas.microsoft.com/office/drawing/2014/main" id="{0170EB9F-4F53-9F96-B47C-07971C119417}"/>
              </a:ext>
            </a:extLst>
          </p:cNvPr>
          <p:cNvGrpSpPr/>
          <p:nvPr/>
        </p:nvGrpSpPr>
        <p:grpSpPr>
          <a:xfrm>
            <a:off x="-557510" y="-889891"/>
            <a:ext cx="19403020" cy="1779782"/>
            <a:chOff x="0" y="0"/>
            <a:chExt cx="5110260" cy="468749"/>
          </a:xfrm>
        </p:grpSpPr>
        <p:sp>
          <p:nvSpPr>
            <p:cNvPr id="16" name="Freeform 16">
              <a:extLst>
                <a:ext uri="{FF2B5EF4-FFF2-40B4-BE49-F238E27FC236}">
                  <a16:creationId xmlns:a16="http://schemas.microsoft.com/office/drawing/2014/main" id="{8EDD3C7B-B73A-B458-9E4B-3B5CB92A551B}"/>
                </a:ext>
              </a:extLst>
            </p:cNvPr>
            <p:cNvSpPr/>
            <p:nvPr/>
          </p:nvSpPr>
          <p:spPr>
            <a:xfrm>
              <a:off x="0" y="0"/>
              <a:ext cx="5110261" cy="468749"/>
            </a:xfrm>
            <a:custGeom>
              <a:avLst/>
              <a:gdLst/>
              <a:ahLst/>
              <a:cxnLst/>
              <a:rect l="l" t="t" r="r" b="b"/>
              <a:pathLst>
                <a:path w="5110261" h="468749">
                  <a:moveTo>
                    <a:pt x="0" y="0"/>
                  </a:moveTo>
                  <a:lnTo>
                    <a:pt x="5110261" y="0"/>
                  </a:lnTo>
                  <a:lnTo>
                    <a:pt x="5110261" y="468749"/>
                  </a:lnTo>
                  <a:lnTo>
                    <a:pt x="0" y="468749"/>
                  </a:lnTo>
                  <a:close/>
                </a:path>
              </a:pathLst>
            </a:custGeom>
            <a:solidFill>
              <a:srgbClr val="8DAFA8"/>
            </a:solidFill>
          </p:spPr>
        </p:sp>
        <p:sp>
          <p:nvSpPr>
            <p:cNvPr id="17" name="TextBox 17">
              <a:extLst>
                <a:ext uri="{FF2B5EF4-FFF2-40B4-BE49-F238E27FC236}">
                  <a16:creationId xmlns:a16="http://schemas.microsoft.com/office/drawing/2014/main" id="{775AD758-2935-54C3-DE7E-996F75616DEE}"/>
                </a:ext>
              </a:extLst>
            </p:cNvPr>
            <p:cNvSpPr txBox="1"/>
            <p:nvPr/>
          </p:nvSpPr>
          <p:spPr>
            <a:xfrm>
              <a:off x="0" y="-47625"/>
              <a:ext cx="5110260" cy="516374"/>
            </a:xfrm>
            <a:prstGeom prst="rect">
              <a:avLst/>
            </a:prstGeom>
          </p:spPr>
          <p:txBody>
            <a:bodyPr lIns="50800" tIns="50800" rIns="50800" bIns="50800" rtlCol="0" anchor="ctr"/>
            <a:lstStyle/>
            <a:p>
              <a:pPr algn="ctr">
                <a:lnSpc>
                  <a:spcPts val="2659"/>
                </a:lnSpc>
              </a:pPr>
              <a:endParaRPr/>
            </a:p>
          </p:txBody>
        </p:sp>
      </p:grpSp>
      <p:grpSp>
        <p:nvGrpSpPr>
          <p:cNvPr id="18" name="Group 18">
            <a:extLst>
              <a:ext uri="{FF2B5EF4-FFF2-40B4-BE49-F238E27FC236}">
                <a16:creationId xmlns:a16="http://schemas.microsoft.com/office/drawing/2014/main" id="{34FA08DC-E6F8-9B0F-2AA3-CCA52E3428F1}"/>
              </a:ext>
            </a:extLst>
          </p:cNvPr>
          <p:cNvGrpSpPr/>
          <p:nvPr/>
        </p:nvGrpSpPr>
        <p:grpSpPr>
          <a:xfrm>
            <a:off x="-557510" y="9397109"/>
            <a:ext cx="19403020" cy="1779782"/>
            <a:chOff x="0" y="0"/>
            <a:chExt cx="5110260" cy="468749"/>
          </a:xfrm>
        </p:grpSpPr>
        <p:sp>
          <p:nvSpPr>
            <p:cNvPr id="19" name="Freeform 19">
              <a:extLst>
                <a:ext uri="{FF2B5EF4-FFF2-40B4-BE49-F238E27FC236}">
                  <a16:creationId xmlns:a16="http://schemas.microsoft.com/office/drawing/2014/main" id="{B1BC5F39-A35C-6203-C0B9-E664DAE594FD}"/>
                </a:ext>
              </a:extLst>
            </p:cNvPr>
            <p:cNvSpPr/>
            <p:nvPr/>
          </p:nvSpPr>
          <p:spPr>
            <a:xfrm>
              <a:off x="0" y="0"/>
              <a:ext cx="5110261" cy="468749"/>
            </a:xfrm>
            <a:custGeom>
              <a:avLst/>
              <a:gdLst/>
              <a:ahLst/>
              <a:cxnLst/>
              <a:rect l="l" t="t" r="r" b="b"/>
              <a:pathLst>
                <a:path w="5110261" h="468749">
                  <a:moveTo>
                    <a:pt x="0" y="0"/>
                  </a:moveTo>
                  <a:lnTo>
                    <a:pt x="5110261" y="0"/>
                  </a:lnTo>
                  <a:lnTo>
                    <a:pt x="5110261" y="468749"/>
                  </a:lnTo>
                  <a:lnTo>
                    <a:pt x="0" y="468749"/>
                  </a:lnTo>
                  <a:close/>
                </a:path>
              </a:pathLst>
            </a:custGeom>
            <a:solidFill>
              <a:srgbClr val="8DAFA8"/>
            </a:solidFill>
          </p:spPr>
        </p:sp>
        <p:sp>
          <p:nvSpPr>
            <p:cNvPr id="20" name="TextBox 20">
              <a:extLst>
                <a:ext uri="{FF2B5EF4-FFF2-40B4-BE49-F238E27FC236}">
                  <a16:creationId xmlns:a16="http://schemas.microsoft.com/office/drawing/2014/main" id="{7D3E522E-02BC-413D-E602-296295DEB1C9}"/>
                </a:ext>
              </a:extLst>
            </p:cNvPr>
            <p:cNvSpPr txBox="1"/>
            <p:nvPr/>
          </p:nvSpPr>
          <p:spPr>
            <a:xfrm>
              <a:off x="0" y="-47625"/>
              <a:ext cx="5110260" cy="516374"/>
            </a:xfrm>
            <a:prstGeom prst="rect">
              <a:avLst/>
            </a:prstGeom>
          </p:spPr>
          <p:txBody>
            <a:bodyPr lIns="50800" tIns="50800" rIns="50800" bIns="50800" rtlCol="0" anchor="ctr"/>
            <a:lstStyle/>
            <a:p>
              <a:pPr algn="ctr">
                <a:lnSpc>
                  <a:spcPts val="2659"/>
                </a:lnSpc>
              </a:pPr>
              <a:endParaRPr/>
            </a:p>
          </p:txBody>
        </p:sp>
      </p:grpSp>
      <p:sp>
        <p:nvSpPr>
          <p:cNvPr id="23" name="TextBox 23">
            <a:extLst>
              <a:ext uri="{FF2B5EF4-FFF2-40B4-BE49-F238E27FC236}">
                <a16:creationId xmlns:a16="http://schemas.microsoft.com/office/drawing/2014/main" id="{AD7CDF41-CE11-DB8C-2B56-D21E652EE196}"/>
              </a:ext>
            </a:extLst>
          </p:cNvPr>
          <p:cNvSpPr txBox="1"/>
          <p:nvPr/>
        </p:nvSpPr>
        <p:spPr>
          <a:xfrm>
            <a:off x="11827243" y="1505984"/>
            <a:ext cx="5253409" cy="912089"/>
          </a:xfrm>
          <a:prstGeom prst="rect">
            <a:avLst/>
          </a:prstGeom>
        </p:spPr>
        <p:txBody>
          <a:bodyPr lIns="50800" tIns="50800" rIns="50800" bIns="50800" rtlCol="0" anchor="ctr"/>
          <a:lstStyle/>
          <a:p>
            <a:pPr algn="r">
              <a:lnSpc>
                <a:spcPts val="2659"/>
              </a:lnSpc>
            </a:pPr>
            <a:endParaRPr/>
          </a:p>
        </p:txBody>
      </p:sp>
      <p:sp>
        <p:nvSpPr>
          <p:cNvPr id="6" name="TextBox 5">
            <a:extLst>
              <a:ext uri="{FF2B5EF4-FFF2-40B4-BE49-F238E27FC236}">
                <a16:creationId xmlns:a16="http://schemas.microsoft.com/office/drawing/2014/main" id="{FFFAD22A-9B28-8D17-3685-D2D37101F873}"/>
              </a:ext>
            </a:extLst>
          </p:cNvPr>
          <p:cNvSpPr txBox="1"/>
          <p:nvPr/>
        </p:nvSpPr>
        <p:spPr>
          <a:xfrm>
            <a:off x="842134" y="1070717"/>
            <a:ext cx="17445866" cy="2099677"/>
          </a:xfrm>
          <a:prstGeom prst="rect">
            <a:avLst/>
          </a:prstGeom>
          <a:noFill/>
        </p:spPr>
        <p:txBody>
          <a:bodyPr wrap="square">
            <a:spAutoFit/>
          </a:bodyPr>
          <a:lstStyle/>
          <a:p>
            <a:pPr marR="3869690">
              <a:lnSpc>
                <a:spcPct val="168000"/>
              </a:lnSpc>
              <a:spcAft>
                <a:spcPts val="195"/>
              </a:spcAft>
            </a:pPr>
            <a:r>
              <a:rPr lang="en-IN" sz="2400" b="1" u="none" strike="noStrike">
                <a:uFill>
                  <a:solidFill>
                    <a:srgbClr val="000000"/>
                  </a:solidFill>
                </a:uFill>
                <a:latin typeface="ITC Franklin Gothic LT" panose="020B0604020202020204" charset="0"/>
                <a:ea typeface="Calibri" panose="020F0502020204030204" pitchFamily="34" charset="0"/>
                <a:cs typeface="Times New Roman" panose="02020603050405020304" pitchFamily="18" charset="0"/>
              </a:rPr>
              <a:t>25. </a:t>
            </a:r>
            <a:r>
              <a:rPr lang="en-IN" sz="2400" b="1" u="none" strike="noStrike">
                <a:effectLst/>
                <a:uFill>
                  <a:solidFill>
                    <a:srgbClr val="000000"/>
                  </a:solidFill>
                </a:uFill>
                <a:latin typeface="ITC Franklin Gothic LT" panose="020B0604020202020204" charset="0"/>
                <a:ea typeface="Arial" panose="020B0604020202020204" pitchFamily="34" charset="0"/>
                <a:cs typeface="Arial" panose="020B0604020202020204" pitchFamily="34" charset="0"/>
              </a:rPr>
              <a:t>How would you rate the following on a scale of 1-5? </a:t>
            </a:r>
          </a:p>
          <a:p>
            <a:pPr>
              <a:lnSpc>
                <a:spcPct val="106000"/>
              </a:lnSpc>
              <a:spcAft>
                <a:spcPts val="800"/>
              </a:spcAft>
            </a:pPr>
            <a:r>
              <a:rPr lang="en-IN" sz="2400">
                <a:effectLst/>
                <a:latin typeface="ITC Franklin Gothic LT" panose="020B0604020202020204" charset="0"/>
                <a:ea typeface="Calibri" panose="020F0502020204030204" pitchFamily="34" charset="0"/>
                <a:cs typeface="Times New Roman" panose="02020603050405020304" pitchFamily="18" charset="0"/>
              </a:rPr>
              <a:t>(1-excellent          2-very good           3-good             4-fair             5-poor) </a:t>
            </a:r>
          </a:p>
          <a:p>
            <a:pPr>
              <a:lnSpc>
                <a:spcPct val="106000"/>
              </a:lnSpc>
              <a:spcAft>
                <a:spcPts val="800"/>
              </a:spcAft>
            </a:pP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a:lnSpc>
                <a:spcPct val="106000"/>
              </a:lnSpc>
              <a:spcAft>
                <a:spcPts val="800"/>
              </a:spcAft>
            </a:pPr>
            <a:r>
              <a:rPr lang="en-IN" sz="2400">
                <a:effectLst/>
                <a:latin typeface="ITC Franklin Gothic LT" panose="020B0604020202020204" charset="0"/>
                <a:ea typeface="Calibri" panose="020F0502020204030204" pitchFamily="34" charset="0"/>
                <a:cs typeface="Times New Roman" panose="02020603050405020304" pitchFamily="18" charset="0"/>
              </a:rPr>
              <a:t> </a:t>
            </a:r>
          </a:p>
        </p:txBody>
      </p:sp>
      <p:pic>
        <p:nvPicPr>
          <p:cNvPr id="8" name="Picture 7">
            <a:extLst>
              <a:ext uri="{FF2B5EF4-FFF2-40B4-BE49-F238E27FC236}">
                <a16:creationId xmlns:a16="http://schemas.microsoft.com/office/drawing/2014/main" id="{45AC9244-D930-ECBE-1BB2-E9D5BFBBA405}"/>
              </a:ext>
            </a:extLst>
          </p:cNvPr>
          <p:cNvPicPr>
            <a:picLocks noChangeAspect="1"/>
          </p:cNvPicPr>
          <p:nvPr/>
        </p:nvPicPr>
        <p:blipFill>
          <a:blip r:embed="rId2"/>
          <a:stretch>
            <a:fillRect/>
          </a:stretch>
        </p:blipFill>
        <p:spPr>
          <a:xfrm>
            <a:off x="11562241" y="1042455"/>
            <a:ext cx="6462995" cy="3241177"/>
          </a:xfrm>
          <a:prstGeom prst="rect">
            <a:avLst/>
          </a:prstGeom>
        </p:spPr>
      </p:pic>
      <p:sp>
        <p:nvSpPr>
          <p:cNvPr id="10" name="TextBox 9">
            <a:extLst>
              <a:ext uri="{FF2B5EF4-FFF2-40B4-BE49-F238E27FC236}">
                <a16:creationId xmlns:a16="http://schemas.microsoft.com/office/drawing/2014/main" id="{9D450F1C-30D7-7CBB-B673-77669B9D68A0}"/>
              </a:ext>
            </a:extLst>
          </p:cNvPr>
          <p:cNvSpPr txBox="1"/>
          <p:nvPr/>
        </p:nvSpPr>
        <p:spPr>
          <a:xfrm>
            <a:off x="842134" y="2598899"/>
            <a:ext cx="16078200" cy="3133230"/>
          </a:xfrm>
          <a:prstGeom prst="rect">
            <a:avLst/>
          </a:prstGeom>
          <a:noFill/>
        </p:spPr>
        <p:txBody>
          <a:bodyPr wrap="square">
            <a:spAutoFit/>
          </a:bodyPr>
          <a:lstStyle/>
          <a:p>
            <a:pPr>
              <a:lnSpc>
                <a:spcPct val="106000"/>
              </a:lnSpc>
              <a:spcAft>
                <a:spcPts val="970"/>
              </a:spcAft>
            </a:pPr>
            <a:r>
              <a:rPr lang="en-IN" sz="2400" b="1">
                <a:effectLst/>
                <a:latin typeface="ITC Franklin Gothic LT" panose="020B0604020202020204" charset="0"/>
                <a:ea typeface="Calibri" panose="020F0502020204030204" pitchFamily="34" charset="0"/>
                <a:cs typeface="Times New Roman" panose="02020603050405020304" pitchFamily="18" charset="0"/>
              </a:rPr>
              <a:t>26. How often do you work at home as part of your job?  </a:t>
            </a:r>
          </a:p>
          <a:p>
            <a:pPr>
              <a:lnSpc>
                <a:spcPct val="106000"/>
              </a:lnSpc>
              <a:spcAft>
                <a:spcPts val="800"/>
              </a:spcAft>
            </a:pPr>
            <a:r>
              <a:rPr lang="en-IN" sz="2400">
                <a:effectLst/>
                <a:latin typeface="ITC Franklin Gothic LT" panose="020B0604020202020204" charset="0"/>
                <a:ea typeface="Calibri" panose="020F0502020204030204" pitchFamily="34" charset="0"/>
                <a:cs typeface="Times New Roman" panose="02020603050405020304" pitchFamily="18" charset="0"/>
              </a:rPr>
              <a:t>a) Never                                                 b) About once a week </a:t>
            </a:r>
          </a:p>
          <a:p>
            <a:pPr>
              <a:lnSpc>
                <a:spcPct val="106000"/>
              </a:lnSpc>
              <a:spcAft>
                <a:spcPts val="775"/>
              </a:spcAft>
            </a:pPr>
            <a:r>
              <a:rPr lang="en-IN" sz="2400">
                <a:effectLst/>
                <a:latin typeface="ITC Franklin Gothic LT" panose="020B0604020202020204" charset="0"/>
                <a:ea typeface="Calibri" panose="020F0502020204030204" pitchFamily="34" charset="0"/>
                <a:cs typeface="Times New Roman" panose="02020603050405020304" pitchFamily="18" charset="0"/>
              </a:rPr>
              <a:t>c) More than once a week                      d) Worker works mainly at home </a:t>
            </a:r>
          </a:p>
          <a:p>
            <a:pPr>
              <a:lnSpc>
                <a:spcPct val="106000"/>
              </a:lnSpc>
              <a:spcAft>
                <a:spcPts val="800"/>
              </a:spcAft>
            </a:pPr>
            <a:r>
              <a:rPr lang="en-IN" sz="2400">
                <a:effectLst/>
                <a:latin typeface="ITC Franklin Gothic LT" panose="020B0604020202020204" charset="0"/>
                <a:ea typeface="Calibri" panose="020F0502020204030204" pitchFamily="34" charset="0"/>
                <a:cs typeface="Times New Roman" panose="02020603050405020304" pitchFamily="18" charset="0"/>
              </a:rPr>
              <a:t> </a:t>
            </a:r>
          </a:p>
          <a:p>
            <a:pPr>
              <a:lnSpc>
                <a:spcPct val="106000"/>
              </a:lnSpc>
              <a:spcAft>
                <a:spcPts val="800"/>
              </a:spcAft>
            </a:pPr>
            <a:r>
              <a:rPr lang="en-IN" sz="2400" b="1">
                <a:effectLst/>
                <a:latin typeface="ITC Franklin Gothic LT" panose="020B0604020202020204" charset="0"/>
                <a:ea typeface="Calibri" panose="020F0502020204030204" pitchFamily="34" charset="0"/>
                <a:cs typeface="Times New Roman" panose="02020603050405020304" pitchFamily="18" charset="0"/>
              </a:rPr>
              <a:t>27. My organization provides me with health benefits. </a:t>
            </a:r>
          </a:p>
          <a:p>
            <a:pPr marR="3444240">
              <a:lnSpc>
                <a:spcPct val="168000"/>
              </a:lnSpc>
              <a:spcAft>
                <a:spcPts val="195"/>
              </a:spcAft>
            </a:pPr>
            <a:r>
              <a:rPr lang="en-IN" sz="2400">
                <a:effectLst/>
                <a:latin typeface="ITC Franklin Gothic LT" panose="020B0604020202020204" charset="0"/>
                <a:ea typeface="Calibri" panose="020F0502020204030204" pitchFamily="34" charset="0"/>
                <a:cs typeface="Times New Roman" panose="02020603050405020304" pitchFamily="18" charset="0"/>
              </a:rPr>
              <a:t>a) Yes                                       b) No  </a:t>
            </a:r>
          </a:p>
        </p:txBody>
      </p:sp>
      <p:sp>
        <p:nvSpPr>
          <p:cNvPr id="12" name="TextBox 11">
            <a:extLst>
              <a:ext uri="{FF2B5EF4-FFF2-40B4-BE49-F238E27FC236}">
                <a16:creationId xmlns:a16="http://schemas.microsoft.com/office/drawing/2014/main" id="{2E91AE11-A197-FE79-431A-9C9C2C7B3570}"/>
              </a:ext>
            </a:extLst>
          </p:cNvPr>
          <p:cNvSpPr txBox="1"/>
          <p:nvPr/>
        </p:nvSpPr>
        <p:spPr>
          <a:xfrm>
            <a:off x="808554" y="6138706"/>
            <a:ext cx="10240446" cy="2987164"/>
          </a:xfrm>
          <a:prstGeom prst="rect">
            <a:avLst/>
          </a:prstGeom>
          <a:noFill/>
        </p:spPr>
        <p:txBody>
          <a:bodyPr wrap="square">
            <a:spAutoFit/>
          </a:bodyPr>
          <a:lstStyle/>
          <a:p>
            <a:pPr>
              <a:lnSpc>
                <a:spcPct val="106000"/>
              </a:lnSpc>
              <a:spcAft>
                <a:spcPts val="800"/>
              </a:spcAft>
            </a:pPr>
            <a:r>
              <a:rPr lang="en-IN" sz="2400" b="1">
                <a:effectLst/>
                <a:latin typeface="ITC Franklin Gothic LT" panose="020B0604020202020204" charset="0"/>
                <a:ea typeface="Calibri" panose="020F0502020204030204" pitchFamily="34" charset="0"/>
                <a:cs typeface="Times New Roman" panose="02020603050405020304" pitchFamily="18" charset="0"/>
              </a:rPr>
              <a:t>28. How satisfied would you say you are with your job? </a:t>
            </a:r>
          </a:p>
          <a:p>
            <a:pPr>
              <a:lnSpc>
                <a:spcPct val="106000"/>
              </a:lnSpc>
              <a:spcAft>
                <a:spcPts val="800"/>
              </a:spcAft>
            </a:pPr>
            <a:r>
              <a:rPr lang="en-IN" sz="2400">
                <a:effectLst/>
                <a:latin typeface="ITC Franklin Gothic LT" panose="020B0604020202020204" charset="0"/>
                <a:ea typeface="Calibri" panose="020F0502020204030204" pitchFamily="34" charset="0"/>
                <a:cs typeface="Times New Roman" panose="02020603050405020304" pitchFamily="18" charset="0"/>
              </a:rPr>
              <a:t> a) Very satisfied               b) Somewhat satisfied     </a:t>
            </a:r>
          </a:p>
          <a:p>
            <a:pPr>
              <a:lnSpc>
                <a:spcPct val="106000"/>
              </a:lnSpc>
              <a:spcAft>
                <a:spcPts val="800"/>
              </a:spcAft>
            </a:pPr>
            <a:r>
              <a:rPr lang="en-IN" sz="2400">
                <a:effectLst/>
                <a:latin typeface="ITC Franklin Gothic LT" panose="020B0604020202020204" charset="0"/>
                <a:ea typeface="Calibri" panose="020F0502020204030204" pitchFamily="34" charset="0"/>
                <a:cs typeface="Times New Roman" panose="02020603050405020304" pitchFamily="18" charset="0"/>
              </a:rPr>
              <a:t>c) Not too satisfied          d) Not at all satisfied </a:t>
            </a:r>
          </a:p>
          <a:p>
            <a:pPr>
              <a:lnSpc>
                <a:spcPct val="106000"/>
              </a:lnSpc>
              <a:spcAft>
                <a:spcPts val="970"/>
              </a:spcAft>
            </a:pPr>
            <a:r>
              <a:rPr lang="en-IN" sz="2400">
                <a:effectLst/>
                <a:latin typeface="ITC Franklin Gothic LT" panose="020B0604020202020204" charset="0"/>
                <a:ea typeface="Calibri" panose="020F0502020204030204" pitchFamily="34" charset="0"/>
                <a:cs typeface="Times New Roman" panose="02020603050405020304" pitchFamily="18" charset="0"/>
              </a:rPr>
              <a:t> </a:t>
            </a:r>
          </a:p>
          <a:p>
            <a:pPr lvl="0" fontAlgn="base">
              <a:lnSpc>
                <a:spcPct val="106000"/>
              </a:lnSpc>
              <a:spcAft>
                <a:spcPts val="965"/>
              </a:spcAft>
              <a:buClr>
                <a:srgbClr val="000000"/>
              </a:buClr>
              <a:buSzPts val="1100"/>
            </a:pPr>
            <a:r>
              <a:rPr lang="en-IN" sz="2400" b="1" u="none" strike="noStrike">
                <a:effectLst/>
                <a:uFill>
                  <a:solidFill>
                    <a:srgbClr val="000000"/>
                  </a:solidFill>
                </a:uFill>
                <a:latin typeface="ITC Franklin Gothic LT" panose="020B0604020202020204" charset="0"/>
                <a:ea typeface="Arial" panose="020B0604020202020204" pitchFamily="34" charset="0"/>
                <a:cs typeface="Arial" panose="020B0604020202020204" pitchFamily="34" charset="0"/>
              </a:rPr>
              <a:t>29. What is job satisfaction according to you (rate from 1-4) </a:t>
            </a:r>
          </a:p>
          <a:p>
            <a:pPr>
              <a:lnSpc>
                <a:spcPct val="106000"/>
              </a:lnSpc>
              <a:spcAft>
                <a:spcPts val="800"/>
              </a:spcAft>
            </a:pPr>
            <a:r>
              <a:rPr lang="en-IN" sz="2400">
                <a:effectLst/>
                <a:latin typeface="ITC Franklin Gothic LT" panose="020B0604020202020204" charset="0"/>
                <a:ea typeface="Calibri" panose="020F0502020204030204" pitchFamily="34" charset="0"/>
                <a:cs typeface="Times New Roman" panose="02020603050405020304" pitchFamily="18" charset="0"/>
              </a:rPr>
              <a:t>(1-excellent          2-very good           3-good              4-poor) </a:t>
            </a:r>
          </a:p>
        </p:txBody>
      </p:sp>
      <p:pic>
        <p:nvPicPr>
          <p:cNvPr id="14" name="Picture 13">
            <a:extLst>
              <a:ext uri="{FF2B5EF4-FFF2-40B4-BE49-F238E27FC236}">
                <a16:creationId xmlns:a16="http://schemas.microsoft.com/office/drawing/2014/main" id="{B110BE45-C92E-4D14-CB5D-2A239022574F}"/>
              </a:ext>
            </a:extLst>
          </p:cNvPr>
          <p:cNvPicPr>
            <a:picLocks noChangeAspect="1"/>
          </p:cNvPicPr>
          <p:nvPr/>
        </p:nvPicPr>
        <p:blipFill>
          <a:blip r:embed="rId3"/>
          <a:stretch>
            <a:fillRect/>
          </a:stretch>
        </p:blipFill>
        <p:spPr>
          <a:xfrm>
            <a:off x="11971521" y="5822542"/>
            <a:ext cx="4964852" cy="3408704"/>
          </a:xfrm>
          <a:prstGeom prst="rect">
            <a:avLst/>
          </a:prstGeom>
        </p:spPr>
      </p:pic>
    </p:spTree>
    <p:extLst>
      <p:ext uri="{BB962C8B-B14F-4D97-AF65-F5344CB8AC3E}">
        <p14:creationId xmlns:p14="http://schemas.microsoft.com/office/powerpoint/2010/main" val="3789628782"/>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7EF"/>
        </a:solidFill>
        <a:effectLst/>
      </p:bgPr>
    </p:bg>
    <p:spTree>
      <p:nvGrpSpPr>
        <p:cNvPr id="1" name="">
          <a:extLst>
            <a:ext uri="{FF2B5EF4-FFF2-40B4-BE49-F238E27FC236}">
              <a16:creationId xmlns:a16="http://schemas.microsoft.com/office/drawing/2014/main" id="{420F967C-E82D-A5A9-8EE8-8DAD831E1079}"/>
            </a:ext>
          </a:extLst>
        </p:cNvPr>
        <p:cNvGrpSpPr/>
        <p:nvPr/>
      </p:nvGrpSpPr>
      <p:grpSpPr>
        <a:xfrm>
          <a:off x="0" y="0"/>
          <a:ext cx="0" cy="0"/>
          <a:chOff x="0" y="0"/>
          <a:chExt cx="0" cy="0"/>
        </a:xfrm>
      </p:grpSpPr>
      <p:grpSp>
        <p:nvGrpSpPr>
          <p:cNvPr id="15" name="Group 15">
            <a:extLst>
              <a:ext uri="{FF2B5EF4-FFF2-40B4-BE49-F238E27FC236}">
                <a16:creationId xmlns:a16="http://schemas.microsoft.com/office/drawing/2014/main" id="{0170EB9F-4F53-9F96-B47C-07971C119417}"/>
              </a:ext>
            </a:extLst>
          </p:cNvPr>
          <p:cNvGrpSpPr/>
          <p:nvPr/>
        </p:nvGrpSpPr>
        <p:grpSpPr>
          <a:xfrm>
            <a:off x="-557510" y="-889891"/>
            <a:ext cx="19403020" cy="1779782"/>
            <a:chOff x="0" y="0"/>
            <a:chExt cx="5110260" cy="468749"/>
          </a:xfrm>
        </p:grpSpPr>
        <p:sp>
          <p:nvSpPr>
            <p:cNvPr id="16" name="Freeform 16">
              <a:extLst>
                <a:ext uri="{FF2B5EF4-FFF2-40B4-BE49-F238E27FC236}">
                  <a16:creationId xmlns:a16="http://schemas.microsoft.com/office/drawing/2014/main" id="{8EDD3C7B-B73A-B458-9E4B-3B5CB92A551B}"/>
                </a:ext>
              </a:extLst>
            </p:cNvPr>
            <p:cNvSpPr/>
            <p:nvPr/>
          </p:nvSpPr>
          <p:spPr>
            <a:xfrm>
              <a:off x="0" y="0"/>
              <a:ext cx="5110261" cy="468749"/>
            </a:xfrm>
            <a:custGeom>
              <a:avLst/>
              <a:gdLst/>
              <a:ahLst/>
              <a:cxnLst/>
              <a:rect l="l" t="t" r="r" b="b"/>
              <a:pathLst>
                <a:path w="5110261" h="468749">
                  <a:moveTo>
                    <a:pt x="0" y="0"/>
                  </a:moveTo>
                  <a:lnTo>
                    <a:pt x="5110261" y="0"/>
                  </a:lnTo>
                  <a:lnTo>
                    <a:pt x="5110261" y="468749"/>
                  </a:lnTo>
                  <a:lnTo>
                    <a:pt x="0" y="468749"/>
                  </a:lnTo>
                  <a:close/>
                </a:path>
              </a:pathLst>
            </a:custGeom>
            <a:solidFill>
              <a:srgbClr val="8DAFA8"/>
            </a:solidFill>
          </p:spPr>
        </p:sp>
        <p:sp>
          <p:nvSpPr>
            <p:cNvPr id="17" name="TextBox 17">
              <a:extLst>
                <a:ext uri="{FF2B5EF4-FFF2-40B4-BE49-F238E27FC236}">
                  <a16:creationId xmlns:a16="http://schemas.microsoft.com/office/drawing/2014/main" id="{775AD758-2935-54C3-DE7E-996F75616DEE}"/>
                </a:ext>
              </a:extLst>
            </p:cNvPr>
            <p:cNvSpPr txBox="1"/>
            <p:nvPr/>
          </p:nvSpPr>
          <p:spPr>
            <a:xfrm>
              <a:off x="0" y="-47625"/>
              <a:ext cx="5110260" cy="516374"/>
            </a:xfrm>
            <a:prstGeom prst="rect">
              <a:avLst/>
            </a:prstGeom>
          </p:spPr>
          <p:txBody>
            <a:bodyPr lIns="50800" tIns="50800" rIns="50800" bIns="50800" rtlCol="0" anchor="ctr"/>
            <a:lstStyle/>
            <a:p>
              <a:pPr algn="ctr">
                <a:lnSpc>
                  <a:spcPts val="2659"/>
                </a:lnSpc>
              </a:pPr>
              <a:endParaRPr/>
            </a:p>
          </p:txBody>
        </p:sp>
      </p:grpSp>
      <p:grpSp>
        <p:nvGrpSpPr>
          <p:cNvPr id="18" name="Group 18">
            <a:extLst>
              <a:ext uri="{FF2B5EF4-FFF2-40B4-BE49-F238E27FC236}">
                <a16:creationId xmlns:a16="http://schemas.microsoft.com/office/drawing/2014/main" id="{34FA08DC-E6F8-9B0F-2AA3-CCA52E3428F1}"/>
              </a:ext>
            </a:extLst>
          </p:cNvPr>
          <p:cNvGrpSpPr/>
          <p:nvPr/>
        </p:nvGrpSpPr>
        <p:grpSpPr>
          <a:xfrm>
            <a:off x="-557510" y="9397109"/>
            <a:ext cx="19403020" cy="1779782"/>
            <a:chOff x="0" y="0"/>
            <a:chExt cx="5110260" cy="468749"/>
          </a:xfrm>
        </p:grpSpPr>
        <p:sp>
          <p:nvSpPr>
            <p:cNvPr id="19" name="Freeform 19">
              <a:extLst>
                <a:ext uri="{FF2B5EF4-FFF2-40B4-BE49-F238E27FC236}">
                  <a16:creationId xmlns:a16="http://schemas.microsoft.com/office/drawing/2014/main" id="{B1BC5F39-A35C-6203-C0B9-E664DAE594FD}"/>
                </a:ext>
              </a:extLst>
            </p:cNvPr>
            <p:cNvSpPr/>
            <p:nvPr/>
          </p:nvSpPr>
          <p:spPr>
            <a:xfrm>
              <a:off x="0" y="0"/>
              <a:ext cx="5110261" cy="468749"/>
            </a:xfrm>
            <a:custGeom>
              <a:avLst/>
              <a:gdLst/>
              <a:ahLst/>
              <a:cxnLst/>
              <a:rect l="l" t="t" r="r" b="b"/>
              <a:pathLst>
                <a:path w="5110261" h="468749">
                  <a:moveTo>
                    <a:pt x="0" y="0"/>
                  </a:moveTo>
                  <a:lnTo>
                    <a:pt x="5110261" y="0"/>
                  </a:lnTo>
                  <a:lnTo>
                    <a:pt x="5110261" y="468749"/>
                  </a:lnTo>
                  <a:lnTo>
                    <a:pt x="0" y="468749"/>
                  </a:lnTo>
                  <a:close/>
                </a:path>
              </a:pathLst>
            </a:custGeom>
            <a:solidFill>
              <a:srgbClr val="8DAFA8"/>
            </a:solidFill>
          </p:spPr>
        </p:sp>
        <p:sp>
          <p:nvSpPr>
            <p:cNvPr id="20" name="TextBox 20">
              <a:extLst>
                <a:ext uri="{FF2B5EF4-FFF2-40B4-BE49-F238E27FC236}">
                  <a16:creationId xmlns:a16="http://schemas.microsoft.com/office/drawing/2014/main" id="{7D3E522E-02BC-413D-E602-296295DEB1C9}"/>
                </a:ext>
              </a:extLst>
            </p:cNvPr>
            <p:cNvSpPr txBox="1"/>
            <p:nvPr/>
          </p:nvSpPr>
          <p:spPr>
            <a:xfrm>
              <a:off x="0" y="-47625"/>
              <a:ext cx="5110260" cy="516374"/>
            </a:xfrm>
            <a:prstGeom prst="rect">
              <a:avLst/>
            </a:prstGeom>
          </p:spPr>
          <p:txBody>
            <a:bodyPr lIns="50800" tIns="50800" rIns="50800" bIns="50800" rtlCol="0" anchor="ctr"/>
            <a:lstStyle/>
            <a:p>
              <a:pPr algn="ctr">
                <a:lnSpc>
                  <a:spcPts val="2659"/>
                </a:lnSpc>
              </a:pPr>
              <a:endParaRPr/>
            </a:p>
          </p:txBody>
        </p:sp>
      </p:grpSp>
      <p:sp>
        <p:nvSpPr>
          <p:cNvPr id="23" name="TextBox 23">
            <a:extLst>
              <a:ext uri="{FF2B5EF4-FFF2-40B4-BE49-F238E27FC236}">
                <a16:creationId xmlns:a16="http://schemas.microsoft.com/office/drawing/2014/main" id="{AD7CDF41-CE11-DB8C-2B56-D21E652EE196}"/>
              </a:ext>
            </a:extLst>
          </p:cNvPr>
          <p:cNvSpPr txBox="1"/>
          <p:nvPr/>
        </p:nvSpPr>
        <p:spPr>
          <a:xfrm>
            <a:off x="11827243" y="1505984"/>
            <a:ext cx="5253409" cy="912089"/>
          </a:xfrm>
          <a:prstGeom prst="rect">
            <a:avLst/>
          </a:prstGeom>
        </p:spPr>
        <p:txBody>
          <a:bodyPr lIns="50800" tIns="50800" rIns="50800" bIns="50800" rtlCol="0" anchor="ctr"/>
          <a:lstStyle/>
          <a:p>
            <a:pPr algn="r">
              <a:lnSpc>
                <a:spcPts val="2659"/>
              </a:lnSpc>
            </a:pPr>
            <a:endParaRPr/>
          </a:p>
        </p:txBody>
      </p:sp>
      <p:sp>
        <p:nvSpPr>
          <p:cNvPr id="4" name="TextBox 3">
            <a:extLst>
              <a:ext uri="{FF2B5EF4-FFF2-40B4-BE49-F238E27FC236}">
                <a16:creationId xmlns:a16="http://schemas.microsoft.com/office/drawing/2014/main" id="{72734CFD-6F7D-8787-5EEB-40FE76ABF114}"/>
              </a:ext>
            </a:extLst>
          </p:cNvPr>
          <p:cNvSpPr txBox="1"/>
          <p:nvPr/>
        </p:nvSpPr>
        <p:spPr>
          <a:xfrm>
            <a:off x="1600200" y="1347121"/>
            <a:ext cx="16230600" cy="3005438"/>
          </a:xfrm>
          <a:prstGeom prst="rect">
            <a:avLst/>
          </a:prstGeom>
          <a:noFill/>
        </p:spPr>
        <p:txBody>
          <a:bodyPr wrap="square">
            <a:spAutoFit/>
          </a:bodyPr>
          <a:lstStyle/>
          <a:p>
            <a:pPr lvl="0" fontAlgn="base">
              <a:lnSpc>
                <a:spcPct val="106000"/>
              </a:lnSpc>
              <a:spcAft>
                <a:spcPts val="270"/>
              </a:spcAft>
              <a:buClr>
                <a:srgbClr val="000000"/>
              </a:buClr>
              <a:buSzPts val="1100"/>
            </a:pPr>
            <a:r>
              <a:rPr lang="en-IN" sz="2400" b="1" u="none" strike="noStrike">
                <a:effectLst/>
                <a:uFill>
                  <a:solidFill>
                    <a:srgbClr val="000000"/>
                  </a:solidFill>
                </a:uFill>
                <a:latin typeface="ITC Franklin Gothic LT" panose="020B0604020202020204" charset="0"/>
                <a:ea typeface="Arial" panose="020B0604020202020204" pitchFamily="34" charset="0"/>
                <a:cs typeface="Arial" panose="020B0604020202020204" pitchFamily="34" charset="0"/>
              </a:rPr>
              <a:t>30. What do you think that employees in your organization are skilled, motivated, and productive? </a:t>
            </a:r>
          </a:p>
          <a:p>
            <a:pPr marL="342900" marR="3793490" indent="-342900">
              <a:lnSpc>
                <a:spcPct val="168000"/>
              </a:lnSpc>
              <a:spcAft>
                <a:spcPts val="195"/>
              </a:spcAft>
              <a:buAutoNum type="alphaLcParenR"/>
            </a:pPr>
            <a:r>
              <a:rPr lang="en-IN" sz="2400">
                <a:effectLst/>
                <a:latin typeface="ITC Franklin Gothic LT" panose="020B0604020202020204" charset="0"/>
                <a:ea typeface="Calibri" panose="020F0502020204030204" pitchFamily="34" charset="0"/>
                <a:cs typeface="Times New Roman" panose="02020603050405020304" pitchFamily="18" charset="0"/>
              </a:rPr>
              <a:t>Yes                              b) No  </a:t>
            </a:r>
          </a:p>
          <a:p>
            <a:pPr marR="3793490">
              <a:lnSpc>
                <a:spcPct val="168000"/>
              </a:lnSpc>
              <a:spcAft>
                <a:spcPts val="195"/>
              </a:spcAft>
            </a:pPr>
            <a:r>
              <a:rPr lang="en-IN" sz="2400" b="1">
                <a:effectLst/>
                <a:latin typeface="ITC Franklin Gothic LT" panose="020B0604020202020204" charset="0"/>
                <a:ea typeface="Calibri" panose="020F0502020204030204" pitchFamily="34" charset="0"/>
                <a:cs typeface="Times New Roman" panose="02020603050405020304" pitchFamily="18" charset="0"/>
              </a:rPr>
              <a:t>31. Please indicate how much you agree or disagree with the following statements. </a:t>
            </a:r>
          </a:p>
          <a:p>
            <a:pPr marR="3793490">
              <a:lnSpc>
                <a:spcPct val="168000"/>
              </a:lnSpc>
              <a:spcAft>
                <a:spcPts val="195"/>
              </a:spcAft>
            </a:pPr>
            <a:endParaRPr lang="en-IN" sz="2400" b="1">
              <a:effectLst/>
              <a:latin typeface="ITC Franklin Gothic LT" panose="020B0604020202020204" charset="0"/>
              <a:ea typeface="Calibri" panose="020F0502020204030204" pitchFamily="34" charset="0"/>
              <a:cs typeface="Times New Roman" panose="02020603050405020304" pitchFamily="18" charset="0"/>
            </a:endParaRPr>
          </a:p>
          <a:p>
            <a:pPr marR="3793490">
              <a:lnSpc>
                <a:spcPct val="168000"/>
              </a:lnSpc>
              <a:spcAft>
                <a:spcPts val="195"/>
              </a:spcAft>
            </a:pPr>
            <a:r>
              <a:rPr lang="en-IN" sz="2400">
                <a:effectLst/>
                <a:latin typeface="ITC Franklin Gothic LT" panose="020B0604020202020204" charset="0"/>
                <a:ea typeface="Calibri" panose="020F0502020204030204" pitchFamily="34" charset="0"/>
                <a:cs typeface="Times New Roman" panose="02020603050405020304" pitchFamily="18" charset="0"/>
              </a:rPr>
              <a:t> </a:t>
            </a:r>
          </a:p>
        </p:txBody>
      </p:sp>
      <p:pic>
        <p:nvPicPr>
          <p:cNvPr id="6" name="Picture 5">
            <a:extLst>
              <a:ext uri="{FF2B5EF4-FFF2-40B4-BE49-F238E27FC236}">
                <a16:creationId xmlns:a16="http://schemas.microsoft.com/office/drawing/2014/main" id="{CA30F7E8-3767-7F8E-04AB-005B2E7C8EFB}"/>
              </a:ext>
            </a:extLst>
          </p:cNvPr>
          <p:cNvPicPr>
            <a:picLocks noChangeAspect="1"/>
          </p:cNvPicPr>
          <p:nvPr/>
        </p:nvPicPr>
        <p:blipFill>
          <a:blip r:embed="rId2"/>
          <a:stretch>
            <a:fillRect/>
          </a:stretch>
        </p:blipFill>
        <p:spPr>
          <a:xfrm>
            <a:off x="3657600" y="3243113"/>
            <a:ext cx="10589553" cy="5696766"/>
          </a:xfrm>
          <a:prstGeom prst="rect">
            <a:avLst/>
          </a:prstGeom>
        </p:spPr>
      </p:pic>
    </p:spTree>
    <p:extLst>
      <p:ext uri="{BB962C8B-B14F-4D97-AF65-F5344CB8AC3E}">
        <p14:creationId xmlns:p14="http://schemas.microsoft.com/office/powerpoint/2010/main" val="2810368853"/>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7EF"/>
        </a:solidFill>
        <a:effectLst/>
      </p:bgPr>
    </p:bg>
    <p:spTree>
      <p:nvGrpSpPr>
        <p:cNvPr id="1" name="">
          <a:extLst>
            <a:ext uri="{FF2B5EF4-FFF2-40B4-BE49-F238E27FC236}">
              <a16:creationId xmlns:a16="http://schemas.microsoft.com/office/drawing/2014/main" id="{FB1A8258-54F6-0A1F-F246-2D14808BFB6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1AA78EA-B382-9085-ABE4-39DA37DF15B3}"/>
              </a:ext>
            </a:extLst>
          </p:cNvPr>
          <p:cNvGrpSpPr/>
          <p:nvPr/>
        </p:nvGrpSpPr>
        <p:grpSpPr>
          <a:xfrm>
            <a:off x="4917956" y="5085847"/>
            <a:ext cx="3827651" cy="3827651"/>
            <a:chOff x="0" y="0"/>
            <a:chExt cx="812800" cy="812800"/>
          </a:xfrm>
        </p:grpSpPr>
        <p:sp>
          <p:nvSpPr>
            <p:cNvPr id="3" name="Freeform 3">
              <a:extLst>
                <a:ext uri="{FF2B5EF4-FFF2-40B4-BE49-F238E27FC236}">
                  <a16:creationId xmlns:a16="http://schemas.microsoft.com/office/drawing/2014/main" id="{4266BDEF-4CE1-800B-EBFA-1A0437D4F0C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DAFA8">
                <a:alpha val="40000"/>
              </a:srgbClr>
            </a:solidFill>
          </p:spPr>
        </p:sp>
        <p:sp>
          <p:nvSpPr>
            <p:cNvPr id="4" name="TextBox 4">
              <a:extLst>
                <a:ext uri="{FF2B5EF4-FFF2-40B4-BE49-F238E27FC236}">
                  <a16:creationId xmlns:a16="http://schemas.microsoft.com/office/drawing/2014/main" id="{7987D69A-1085-F0E0-7ACC-7BEFBB9CA33F}"/>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 name="Group 5">
            <a:extLst>
              <a:ext uri="{FF2B5EF4-FFF2-40B4-BE49-F238E27FC236}">
                <a16:creationId xmlns:a16="http://schemas.microsoft.com/office/drawing/2014/main" id="{769D9D80-CC9D-CDD8-4C9D-88375740ED48}"/>
              </a:ext>
            </a:extLst>
          </p:cNvPr>
          <p:cNvGrpSpPr/>
          <p:nvPr/>
        </p:nvGrpSpPr>
        <p:grpSpPr>
          <a:xfrm>
            <a:off x="714039" y="1672355"/>
            <a:ext cx="3389171" cy="3389171"/>
            <a:chOff x="0" y="0"/>
            <a:chExt cx="812800" cy="812800"/>
          </a:xfrm>
        </p:grpSpPr>
        <p:sp>
          <p:nvSpPr>
            <p:cNvPr id="6" name="Freeform 6">
              <a:extLst>
                <a:ext uri="{FF2B5EF4-FFF2-40B4-BE49-F238E27FC236}">
                  <a16:creationId xmlns:a16="http://schemas.microsoft.com/office/drawing/2014/main" id="{7FE306C2-22BC-3A81-176B-99AF796D3AD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DAFA8">
                <a:alpha val="40000"/>
              </a:srgbClr>
            </a:solidFill>
          </p:spPr>
        </p:sp>
        <p:sp>
          <p:nvSpPr>
            <p:cNvPr id="7" name="TextBox 7">
              <a:extLst>
                <a:ext uri="{FF2B5EF4-FFF2-40B4-BE49-F238E27FC236}">
                  <a16:creationId xmlns:a16="http://schemas.microsoft.com/office/drawing/2014/main" id="{CF416DF5-08A1-A334-D5EF-04CAF62F8709}"/>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8" name="Group 8">
            <a:extLst>
              <a:ext uri="{FF2B5EF4-FFF2-40B4-BE49-F238E27FC236}">
                <a16:creationId xmlns:a16="http://schemas.microsoft.com/office/drawing/2014/main" id="{6CCBD6AF-0690-C464-2360-916184ACD644}"/>
              </a:ext>
            </a:extLst>
          </p:cNvPr>
          <p:cNvGrpSpPr/>
          <p:nvPr/>
        </p:nvGrpSpPr>
        <p:grpSpPr>
          <a:xfrm>
            <a:off x="1004805" y="4038431"/>
            <a:ext cx="2094831" cy="2094831"/>
            <a:chOff x="0" y="0"/>
            <a:chExt cx="812800" cy="812800"/>
          </a:xfrm>
        </p:grpSpPr>
        <p:sp>
          <p:nvSpPr>
            <p:cNvPr id="9" name="Freeform 9">
              <a:extLst>
                <a:ext uri="{FF2B5EF4-FFF2-40B4-BE49-F238E27FC236}">
                  <a16:creationId xmlns:a16="http://schemas.microsoft.com/office/drawing/2014/main" id="{E01794DB-7894-A8D6-995B-88D812D0164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6A160">
                <a:alpha val="40000"/>
              </a:srgbClr>
            </a:solidFill>
          </p:spPr>
        </p:sp>
        <p:sp>
          <p:nvSpPr>
            <p:cNvPr id="10" name="TextBox 10">
              <a:extLst>
                <a:ext uri="{FF2B5EF4-FFF2-40B4-BE49-F238E27FC236}">
                  <a16:creationId xmlns:a16="http://schemas.microsoft.com/office/drawing/2014/main" id="{0BD0953F-29DC-09AD-07DD-E63FF5468CE4}"/>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11" name="Group 11">
            <a:extLst>
              <a:ext uri="{FF2B5EF4-FFF2-40B4-BE49-F238E27FC236}">
                <a16:creationId xmlns:a16="http://schemas.microsoft.com/office/drawing/2014/main" id="{2FB20307-9961-E77E-E7B5-3A18207F418F}"/>
              </a:ext>
            </a:extLst>
          </p:cNvPr>
          <p:cNvGrpSpPr/>
          <p:nvPr/>
        </p:nvGrpSpPr>
        <p:grpSpPr>
          <a:xfrm>
            <a:off x="5758206" y="2818807"/>
            <a:ext cx="2094831" cy="2094831"/>
            <a:chOff x="0" y="0"/>
            <a:chExt cx="812800" cy="812800"/>
          </a:xfrm>
        </p:grpSpPr>
        <p:sp>
          <p:nvSpPr>
            <p:cNvPr id="12" name="Freeform 12">
              <a:extLst>
                <a:ext uri="{FF2B5EF4-FFF2-40B4-BE49-F238E27FC236}">
                  <a16:creationId xmlns:a16="http://schemas.microsoft.com/office/drawing/2014/main" id="{64B2BCAB-0FB7-FCC5-8516-B020377677F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6A160">
                <a:alpha val="40000"/>
              </a:srgbClr>
            </a:solidFill>
          </p:spPr>
        </p:sp>
        <p:sp>
          <p:nvSpPr>
            <p:cNvPr id="13" name="TextBox 13">
              <a:extLst>
                <a:ext uri="{FF2B5EF4-FFF2-40B4-BE49-F238E27FC236}">
                  <a16:creationId xmlns:a16="http://schemas.microsoft.com/office/drawing/2014/main" id="{65B67EF0-3A5B-33F6-7F8E-847B2907E169}"/>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15" name="Group 15">
            <a:extLst>
              <a:ext uri="{FF2B5EF4-FFF2-40B4-BE49-F238E27FC236}">
                <a16:creationId xmlns:a16="http://schemas.microsoft.com/office/drawing/2014/main" id="{F2D431BA-D6E8-F9D2-10C8-62FE8B5BBC9B}"/>
              </a:ext>
            </a:extLst>
          </p:cNvPr>
          <p:cNvGrpSpPr/>
          <p:nvPr/>
        </p:nvGrpSpPr>
        <p:grpSpPr>
          <a:xfrm>
            <a:off x="-557510" y="-889891"/>
            <a:ext cx="19403020" cy="1779782"/>
            <a:chOff x="0" y="0"/>
            <a:chExt cx="5110260" cy="468749"/>
          </a:xfrm>
        </p:grpSpPr>
        <p:sp>
          <p:nvSpPr>
            <p:cNvPr id="16" name="Freeform 16">
              <a:extLst>
                <a:ext uri="{FF2B5EF4-FFF2-40B4-BE49-F238E27FC236}">
                  <a16:creationId xmlns:a16="http://schemas.microsoft.com/office/drawing/2014/main" id="{591E60B1-C0F6-A22B-E621-0FC828283087}"/>
                </a:ext>
              </a:extLst>
            </p:cNvPr>
            <p:cNvSpPr/>
            <p:nvPr/>
          </p:nvSpPr>
          <p:spPr>
            <a:xfrm>
              <a:off x="0" y="0"/>
              <a:ext cx="5110261" cy="468749"/>
            </a:xfrm>
            <a:custGeom>
              <a:avLst/>
              <a:gdLst/>
              <a:ahLst/>
              <a:cxnLst/>
              <a:rect l="l" t="t" r="r" b="b"/>
              <a:pathLst>
                <a:path w="5110261" h="468749">
                  <a:moveTo>
                    <a:pt x="0" y="0"/>
                  </a:moveTo>
                  <a:lnTo>
                    <a:pt x="5110261" y="0"/>
                  </a:lnTo>
                  <a:lnTo>
                    <a:pt x="5110261" y="468749"/>
                  </a:lnTo>
                  <a:lnTo>
                    <a:pt x="0" y="468749"/>
                  </a:lnTo>
                  <a:close/>
                </a:path>
              </a:pathLst>
            </a:custGeom>
            <a:solidFill>
              <a:srgbClr val="8DAFA8"/>
            </a:solidFill>
          </p:spPr>
        </p:sp>
        <p:sp>
          <p:nvSpPr>
            <p:cNvPr id="17" name="TextBox 17">
              <a:extLst>
                <a:ext uri="{FF2B5EF4-FFF2-40B4-BE49-F238E27FC236}">
                  <a16:creationId xmlns:a16="http://schemas.microsoft.com/office/drawing/2014/main" id="{798E53A9-DBC8-62AF-3005-BACC06E4658E}"/>
                </a:ext>
              </a:extLst>
            </p:cNvPr>
            <p:cNvSpPr txBox="1"/>
            <p:nvPr/>
          </p:nvSpPr>
          <p:spPr>
            <a:xfrm>
              <a:off x="0" y="-47625"/>
              <a:ext cx="5110260" cy="516374"/>
            </a:xfrm>
            <a:prstGeom prst="rect">
              <a:avLst/>
            </a:prstGeom>
          </p:spPr>
          <p:txBody>
            <a:bodyPr lIns="50800" tIns="50800" rIns="50800" bIns="50800" rtlCol="0" anchor="ctr"/>
            <a:lstStyle/>
            <a:p>
              <a:pPr algn="ctr">
                <a:lnSpc>
                  <a:spcPts val="2659"/>
                </a:lnSpc>
              </a:pPr>
              <a:endParaRPr/>
            </a:p>
          </p:txBody>
        </p:sp>
      </p:grpSp>
      <p:grpSp>
        <p:nvGrpSpPr>
          <p:cNvPr id="18" name="Group 18">
            <a:extLst>
              <a:ext uri="{FF2B5EF4-FFF2-40B4-BE49-F238E27FC236}">
                <a16:creationId xmlns:a16="http://schemas.microsoft.com/office/drawing/2014/main" id="{9EC765FE-6F74-533D-1B3D-A8FABFB85ED3}"/>
              </a:ext>
            </a:extLst>
          </p:cNvPr>
          <p:cNvGrpSpPr/>
          <p:nvPr/>
        </p:nvGrpSpPr>
        <p:grpSpPr>
          <a:xfrm>
            <a:off x="-557510" y="9397109"/>
            <a:ext cx="19403020" cy="1779782"/>
            <a:chOff x="0" y="0"/>
            <a:chExt cx="5110260" cy="468749"/>
          </a:xfrm>
        </p:grpSpPr>
        <p:sp>
          <p:nvSpPr>
            <p:cNvPr id="19" name="Freeform 19">
              <a:extLst>
                <a:ext uri="{FF2B5EF4-FFF2-40B4-BE49-F238E27FC236}">
                  <a16:creationId xmlns:a16="http://schemas.microsoft.com/office/drawing/2014/main" id="{1DF7CE5A-376D-0AF7-4AD0-952DAF05A98F}"/>
                </a:ext>
              </a:extLst>
            </p:cNvPr>
            <p:cNvSpPr/>
            <p:nvPr/>
          </p:nvSpPr>
          <p:spPr>
            <a:xfrm>
              <a:off x="0" y="0"/>
              <a:ext cx="5110261" cy="468749"/>
            </a:xfrm>
            <a:custGeom>
              <a:avLst/>
              <a:gdLst/>
              <a:ahLst/>
              <a:cxnLst/>
              <a:rect l="l" t="t" r="r" b="b"/>
              <a:pathLst>
                <a:path w="5110261" h="468749">
                  <a:moveTo>
                    <a:pt x="0" y="0"/>
                  </a:moveTo>
                  <a:lnTo>
                    <a:pt x="5110261" y="0"/>
                  </a:lnTo>
                  <a:lnTo>
                    <a:pt x="5110261" y="468749"/>
                  </a:lnTo>
                  <a:lnTo>
                    <a:pt x="0" y="468749"/>
                  </a:lnTo>
                  <a:close/>
                </a:path>
              </a:pathLst>
            </a:custGeom>
            <a:solidFill>
              <a:srgbClr val="8DAFA8"/>
            </a:solidFill>
          </p:spPr>
        </p:sp>
        <p:sp>
          <p:nvSpPr>
            <p:cNvPr id="20" name="TextBox 20">
              <a:extLst>
                <a:ext uri="{FF2B5EF4-FFF2-40B4-BE49-F238E27FC236}">
                  <a16:creationId xmlns:a16="http://schemas.microsoft.com/office/drawing/2014/main" id="{1BDE178F-4BB5-2AC0-A72E-EC6EE188473A}"/>
                </a:ext>
              </a:extLst>
            </p:cNvPr>
            <p:cNvSpPr txBox="1"/>
            <p:nvPr/>
          </p:nvSpPr>
          <p:spPr>
            <a:xfrm>
              <a:off x="0" y="-47625"/>
              <a:ext cx="5110260" cy="516374"/>
            </a:xfrm>
            <a:prstGeom prst="rect">
              <a:avLst/>
            </a:prstGeom>
          </p:spPr>
          <p:txBody>
            <a:bodyPr lIns="50800" tIns="50800" rIns="50800" bIns="50800" rtlCol="0" anchor="ctr"/>
            <a:lstStyle/>
            <a:p>
              <a:pPr algn="ctr">
                <a:lnSpc>
                  <a:spcPts val="2659"/>
                </a:lnSpc>
              </a:pPr>
              <a:endParaRPr/>
            </a:p>
          </p:txBody>
        </p:sp>
      </p:grpSp>
      <p:sp>
        <p:nvSpPr>
          <p:cNvPr id="23" name="TextBox 23">
            <a:extLst>
              <a:ext uri="{FF2B5EF4-FFF2-40B4-BE49-F238E27FC236}">
                <a16:creationId xmlns:a16="http://schemas.microsoft.com/office/drawing/2014/main" id="{A030F3E4-0FED-E18B-495E-C1FAD6B0F78C}"/>
              </a:ext>
            </a:extLst>
          </p:cNvPr>
          <p:cNvSpPr txBox="1"/>
          <p:nvPr/>
        </p:nvSpPr>
        <p:spPr>
          <a:xfrm>
            <a:off x="11827243" y="1505984"/>
            <a:ext cx="5253409" cy="912089"/>
          </a:xfrm>
          <a:prstGeom prst="rect">
            <a:avLst/>
          </a:prstGeom>
        </p:spPr>
        <p:txBody>
          <a:bodyPr lIns="50800" tIns="50800" rIns="50800" bIns="50800" rtlCol="0" anchor="ctr"/>
          <a:lstStyle/>
          <a:p>
            <a:pPr algn="r">
              <a:lnSpc>
                <a:spcPts val="2659"/>
              </a:lnSpc>
            </a:pPr>
            <a:endParaRPr/>
          </a:p>
        </p:txBody>
      </p:sp>
      <p:sp>
        <p:nvSpPr>
          <p:cNvPr id="24" name="Freeform 24">
            <a:extLst>
              <a:ext uri="{FF2B5EF4-FFF2-40B4-BE49-F238E27FC236}">
                <a16:creationId xmlns:a16="http://schemas.microsoft.com/office/drawing/2014/main" id="{613CEE62-E225-6E41-6F6A-F40455FD35E0}"/>
              </a:ext>
            </a:extLst>
          </p:cNvPr>
          <p:cNvSpPr/>
          <p:nvPr/>
        </p:nvSpPr>
        <p:spPr>
          <a:xfrm rot="1627902">
            <a:off x="6575922" y="1935277"/>
            <a:ext cx="2254244" cy="971374"/>
          </a:xfrm>
          <a:custGeom>
            <a:avLst/>
            <a:gdLst/>
            <a:ahLst/>
            <a:cxnLst/>
            <a:rect l="l" t="t" r="r" b="b"/>
            <a:pathLst>
              <a:path w="2254244" h="971374">
                <a:moveTo>
                  <a:pt x="0" y="0"/>
                </a:moveTo>
                <a:lnTo>
                  <a:pt x="2254244" y="0"/>
                </a:lnTo>
                <a:lnTo>
                  <a:pt x="2254244" y="971375"/>
                </a:lnTo>
                <a:lnTo>
                  <a:pt x="0" y="9713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5" name="Freeform 25">
            <a:extLst>
              <a:ext uri="{FF2B5EF4-FFF2-40B4-BE49-F238E27FC236}">
                <a16:creationId xmlns:a16="http://schemas.microsoft.com/office/drawing/2014/main" id="{9955AAD2-2300-CBBC-B740-61A3AFCE7C80}"/>
              </a:ext>
            </a:extLst>
          </p:cNvPr>
          <p:cNvSpPr/>
          <p:nvPr/>
        </p:nvSpPr>
        <p:spPr>
          <a:xfrm rot="1627902" flipV="1">
            <a:off x="770251" y="7833501"/>
            <a:ext cx="2254244" cy="971374"/>
          </a:xfrm>
          <a:custGeom>
            <a:avLst/>
            <a:gdLst/>
            <a:ahLst/>
            <a:cxnLst/>
            <a:rect l="l" t="t" r="r" b="b"/>
            <a:pathLst>
              <a:path w="2254244" h="971374">
                <a:moveTo>
                  <a:pt x="0" y="971374"/>
                </a:moveTo>
                <a:lnTo>
                  <a:pt x="2254244" y="971374"/>
                </a:lnTo>
                <a:lnTo>
                  <a:pt x="2254244" y="0"/>
                </a:lnTo>
                <a:lnTo>
                  <a:pt x="0" y="0"/>
                </a:lnTo>
                <a:lnTo>
                  <a:pt x="0" y="971374"/>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6" name="Freeform 26">
            <a:extLst>
              <a:ext uri="{FF2B5EF4-FFF2-40B4-BE49-F238E27FC236}">
                <a16:creationId xmlns:a16="http://schemas.microsoft.com/office/drawing/2014/main" id="{8ACEE460-37E2-6221-99FA-62F27C13769E}"/>
              </a:ext>
            </a:extLst>
          </p:cNvPr>
          <p:cNvSpPr/>
          <p:nvPr/>
        </p:nvSpPr>
        <p:spPr>
          <a:xfrm>
            <a:off x="824566" y="6133262"/>
            <a:ext cx="632667" cy="675664"/>
          </a:xfrm>
          <a:custGeom>
            <a:avLst/>
            <a:gdLst/>
            <a:ahLst/>
            <a:cxnLst/>
            <a:rect l="l" t="t" r="r" b="b"/>
            <a:pathLst>
              <a:path w="632667" h="675664">
                <a:moveTo>
                  <a:pt x="0" y="0"/>
                </a:moveTo>
                <a:lnTo>
                  <a:pt x="632667" y="0"/>
                </a:lnTo>
                <a:lnTo>
                  <a:pt x="632667" y="675664"/>
                </a:lnTo>
                <a:lnTo>
                  <a:pt x="0" y="67566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9" name="TextBox 28">
            <a:extLst>
              <a:ext uri="{FF2B5EF4-FFF2-40B4-BE49-F238E27FC236}">
                <a16:creationId xmlns:a16="http://schemas.microsoft.com/office/drawing/2014/main" id="{D6520801-19A5-4B19-AA0B-77CF10360E3F}"/>
              </a:ext>
            </a:extLst>
          </p:cNvPr>
          <p:cNvSpPr txBox="1"/>
          <p:nvPr/>
        </p:nvSpPr>
        <p:spPr>
          <a:xfrm>
            <a:off x="10058400" y="5361328"/>
            <a:ext cx="9705529" cy="1021946"/>
          </a:xfrm>
          <a:prstGeom prst="rect">
            <a:avLst/>
          </a:prstGeom>
          <a:noFill/>
        </p:spPr>
        <p:txBody>
          <a:bodyPr wrap="square">
            <a:spAutoFit/>
          </a:bodyPr>
          <a:lstStyle/>
          <a:p>
            <a:pPr>
              <a:lnSpc>
                <a:spcPts val="3806"/>
              </a:lnSpc>
              <a:spcBef>
                <a:spcPct val="0"/>
              </a:spcBef>
            </a:pPr>
            <a:r>
              <a:rPr lang="en-US" sz="16600">
                <a:solidFill>
                  <a:srgbClr val="996633"/>
                </a:solidFill>
                <a:latin typeface="League Gothic" panose="020B0604020202020204" charset="0"/>
              </a:rPr>
              <a:t>Bibliography</a:t>
            </a:r>
            <a:endParaRPr lang="en-US" sz="8000">
              <a:solidFill>
                <a:srgbClr val="996633"/>
              </a:solidFill>
              <a:latin typeface="League Gothic" panose="020B0604020202020204" charset="0"/>
            </a:endParaRPr>
          </a:p>
        </p:txBody>
      </p:sp>
      <p:sp>
        <p:nvSpPr>
          <p:cNvPr id="21" name="Freeform 18">
            <a:extLst>
              <a:ext uri="{FF2B5EF4-FFF2-40B4-BE49-F238E27FC236}">
                <a16:creationId xmlns:a16="http://schemas.microsoft.com/office/drawing/2014/main" id="{09FCF058-F087-3114-8AB0-6601A34F0641}"/>
              </a:ext>
            </a:extLst>
          </p:cNvPr>
          <p:cNvSpPr/>
          <p:nvPr/>
        </p:nvSpPr>
        <p:spPr>
          <a:xfrm>
            <a:off x="1989255" y="1083512"/>
            <a:ext cx="5320359" cy="7034129"/>
          </a:xfrm>
          <a:custGeom>
            <a:avLst/>
            <a:gdLst/>
            <a:ahLst/>
            <a:cxnLst/>
            <a:rect l="l" t="t" r="r" b="b"/>
            <a:pathLst>
              <a:path w="5320359" h="7034129">
                <a:moveTo>
                  <a:pt x="0" y="0"/>
                </a:moveTo>
                <a:lnTo>
                  <a:pt x="5320359" y="0"/>
                </a:lnTo>
                <a:lnTo>
                  <a:pt x="5320359" y="7034129"/>
                </a:lnTo>
                <a:lnTo>
                  <a:pt x="0" y="703412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Tree>
    <p:extLst>
      <p:ext uri="{BB962C8B-B14F-4D97-AF65-F5344CB8AC3E}">
        <p14:creationId xmlns:p14="http://schemas.microsoft.com/office/powerpoint/2010/main" val="2509615521"/>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7EF"/>
        </a:solidFill>
        <a:effectLst/>
      </p:bgPr>
    </p:bg>
    <p:spTree>
      <p:nvGrpSpPr>
        <p:cNvPr id="1" name="">
          <a:extLst>
            <a:ext uri="{FF2B5EF4-FFF2-40B4-BE49-F238E27FC236}">
              <a16:creationId xmlns:a16="http://schemas.microsoft.com/office/drawing/2014/main" id="{420F967C-E82D-A5A9-8EE8-8DAD831E1079}"/>
            </a:ext>
          </a:extLst>
        </p:cNvPr>
        <p:cNvGrpSpPr/>
        <p:nvPr/>
      </p:nvGrpSpPr>
      <p:grpSpPr>
        <a:xfrm>
          <a:off x="0" y="0"/>
          <a:ext cx="0" cy="0"/>
          <a:chOff x="0" y="0"/>
          <a:chExt cx="0" cy="0"/>
        </a:xfrm>
      </p:grpSpPr>
      <p:grpSp>
        <p:nvGrpSpPr>
          <p:cNvPr id="15" name="Group 15">
            <a:extLst>
              <a:ext uri="{FF2B5EF4-FFF2-40B4-BE49-F238E27FC236}">
                <a16:creationId xmlns:a16="http://schemas.microsoft.com/office/drawing/2014/main" id="{0170EB9F-4F53-9F96-B47C-07971C119417}"/>
              </a:ext>
            </a:extLst>
          </p:cNvPr>
          <p:cNvGrpSpPr/>
          <p:nvPr/>
        </p:nvGrpSpPr>
        <p:grpSpPr>
          <a:xfrm>
            <a:off x="-557510" y="-889891"/>
            <a:ext cx="19403020" cy="1779782"/>
            <a:chOff x="0" y="0"/>
            <a:chExt cx="5110260" cy="468749"/>
          </a:xfrm>
        </p:grpSpPr>
        <p:sp>
          <p:nvSpPr>
            <p:cNvPr id="16" name="Freeform 16">
              <a:extLst>
                <a:ext uri="{FF2B5EF4-FFF2-40B4-BE49-F238E27FC236}">
                  <a16:creationId xmlns:a16="http://schemas.microsoft.com/office/drawing/2014/main" id="{8EDD3C7B-B73A-B458-9E4B-3B5CB92A551B}"/>
                </a:ext>
              </a:extLst>
            </p:cNvPr>
            <p:cNvSpPr/>
            <p:nvPr/>
          </p:nvSpPr>
          <p:spPr>
            <a:xfrm>
              <a:off x="0" y="0"/>
              <a:ext cx="5110261" cy="468749"/>
            </a:xfrm>
            <a:custGeom>
              <a:avLst/>
              <a:gdLst/>
              <a:ahLst/>
              <a:cxnLst/>
              <a:rect l="l" t="t" r="r" b="b"/>
              <a:pathLst>
                <a:path w="5110261" h="468749">
                  <a:moveTo>
                    <a:pt x="0" y="0"/>
                  </a:moveTo>
                  <a:lnTo>
                    <a:pt x="5110261" y="0"/>
                  </a:lnTo>
                  <a:lnTo>
                    <a:pt x="5110261" y="468749"/>
                  </a:lnTo>
                  <a:lnTo>
                    <a:pt x="0" y="468749"/>
                  </a:lnTo>
                  <a:close/>
                </a:path>
              </a:pathLst>
            </a:custGeom>
            <a:solidFill>
              <a:srgbClr val="8DAFA8"/>
            </a:solidFill>
          </p:spPr>
        </p:sp>
        <p:sp>
          <p:nvSpPr>
            <p:cNvPr id="17" name="TextBox 17">
              <a:extLst>
                <a:ext uri="{FF2B5EF4-FFF2-40B4-BE49-F238E27FC236}">
                  <a16:creationId xmlns:a16="http://schemas.microsoft.com/office/drawing/2014/main" id="{775AD758-2935-54C3-DE7E-996F75616DEE}"/>
                </a:ext>
              </a:extLst>
            </p:cNvPr>
            <p:cNvSpPr txBox="1"/>
            <p:nvPr/>
          </p:nvSpPr>
          <p:spPr>
            <a:xfrm>
              <a:off x="0" y="-47625"/>
              <a:ext cx="5110260" cy="516374"/>
            </a:xfrm>
            <a:prstGeom prst="rect">
              <a:avLst/>
            </a:prstGeom>
          </p:spPr>
          <p:txBody>
            <a:bodyPr lIns="50800" tIns="50800" rIns="50800" bIns="50800" rtlCol="0" anchor="ctr"/>
            <a:lstStyle/>
            <a:p>
              <a:pPr algn="ctr">
                <a:lnSpc>
                  <a:spcPts val="2659"/>
                </a:lnSpc>
              </a:pPr>
              <a:endParaRPr/>
            </a:p>
          </p:txBody>
        </p:sp>
      </p:grpSp>
      <p:grpSp>
        <p:nvGrpSpPr>
          <p:cNvPr id="18" name="Group 18">
            <a:extLst>
              <a:ext uri="{FF2B5EF4-FFF2-40B4-BE49-F238E27FC236}">
                <a16:creationId xmlns:a16="http://schemas.microsoft.com/office/drawing/2014/main" id="{34FA08DC-E6F8-9B0F-2AA3-CCA52E3428F1}"/>
              </a:ext>
            </a:extLst>
          </p:cNvPr>
          <p:cNvGrpSpPr/>
          <p:nvPr/>
        </p:nvGrpSpPr>
        <p:grpSpPr>
          <a:xfrm>
            <a:off x="-557510" y="9397109"/>
            <a:ext cx="19403020" cy="1779782"/>
            <a:chOff x="0" y="0"/>
            <a:chExt cx="5110260" cy="468749"/>
          </a:xfrm>
        </p:grpSpPr>
        <p:sp>
          <p:nvSpPr>
            <p:cNvPr id="19" name="Freeform 19">
              <a:extLst>
                <a:ext uri="{FF2B5EF4-FFF2-40B4-BE49-F238E27FC236}">
                  <a16:creationId xmlns:a16="http://schemas.microsoft.com/office/drawing/2014/main" id="{B1BC5F39-A35C-6203-C0B9-E664DAE594FD}"/>
                </a:ext>
              </a:extLst>
            </p:cNvPr>
            <p:cNvSpPr/>
            <p:nvPr/>
          </p:nvSpPr>
          <p:spPr>
            <a:xfrm>
              <a:off x="0" y="0"/>
              <a:ext cx="5110261" cy="468749"/>
            </a:xfrm>
            <a:custGeom>
              <a:avLst/>
              <a:gdLst/>
              <a:ahLst/>
              <a:cxnLst/>
              <a:rect l="l" t="t" r="r" b="b"/>
              <a:pathLst>
                <a:path w="5110261" h="468749">
                  <a:moveTo>
                    <a:pt x="0" y="0"/>
                  </a:moveTo>
                  <a:lnTo>
                    <a:pt x="5110261" y="0"/>
                  </a:lnTo>
                  <a:lnTo>
                    <a:pt x="5110261" y="468749"/>
                  </a:lnTo>
                  <a:lnTo>
                    <a:pt x="0" y="468749"/>
                  </a:lnTo>
                  <a:close/>
                </a:path>
              </a:pathLst>
            </a:custGeom>
            <a:solidFill>
              <a:srgbClr val="8DAFA8"/>
            </a:solidFill>
          </p:spPr>
        </p:sp>
        <p:sp>
          <p:nvSpPr>
            <p:cNvPr id="20" name="TextBox 20">
              <a:extLst>
                <a:ext uri="{FF2B5EF4-FFF2-40B4-BE49-F238E27FC236}">
                  <a16:creationId xmlns:a16="http://schemas.microsoft.com/office/drawing/2014/main" id="{7D3E522E-02BC-413D-E602-296295DEB1C9}"/>
                </a:ext>
              </a:extLst>
            </p:cNvPr>
            <p:cNvSpPr txBox="1"/>
            <p:nvPr/>
          </p:nvSpPr>
          <p:spPr>
            <a:xfrm>
              <a:off x="0" y="-47625"/>
              <a:ext cx="5110260" cy="516374"/>
            </a:xfrm>
            <a:prstGeom prst="rect">
              <a:avLst/>
            </a:prstGeom>
          </p:spPr>
          <p:txBody>
            <a:bodyPr lIns="50800" tIns="50800" rIns="50800" bIns="50800" rtlCol="0" anchor="ctr"/>
            <a:lstStyle/>
            <a:p>
              <a:pPr algn="ctr">
                <a:lnSpc>
                  <a:spcPts val="2659"/>
                </a:lnSpc>
              </a:pPr>
              <a:endParaRPr/>
            </a:p>
          </p:txBody>
        </p:sp>
      </p:grpSp>
      <p:sp>
        <p:nvSpPr>
          <p:cNvPr id="23" name="TextBox 23">
            <a:extLst>
              <a:ext uri="{FF2B5EF4-FFF2-40B4-BE49-F238E27FC236}">
                <a16:creationId xmlns:a16="http://schemas.microsoft.com/office/drawing/2014/main" id="{AD7CDF41-CE11-DB8C-2B56-D21E652EE196}"/>
              </a:ext>
            </a:extLst>
          </p:cNvPr>
          <p:cNvSpPr txBox="1"/>
          <p:nvPr/>
        </p:nvSpPr>
        <p:spPr>
          <a:xfrm>
            <a:off x="11827243" y="1505984"/>
            <a:ext cx="5253409" cy="912089"/>
          </a:xfrm>
          <a:prstGeom prst="rect">
            <a:avLst/>
          </a:prstGeom>
        </p:spPr>
        <p:txBody>
          <a:bodyPr lIns="50800" tIns="50800" rIns="50800" bIns="50800" rtlCol="0" anchor="ctr"/>
          <a:lstStyle/>
          <a:p>
            <a:pPr algn="r">
              <a:lnSpc>
                <a:spcPts val="2659"/>
              </a:lnSpc>
            </a:pPr>
            <a:endParaRPr/>
          </a:p>
        </p:txBody>
      </p:sp>
      <p:sp>
        <p:nvSpPr>
          <p:cNvPr id="3" name="TextBox 2">
            <a:extLst>
              <a:ext uri="{FF2B5EF4-FFF2-40B4-BE49-F238E27FC236}">
                <a16:creationId xmlns:a16="http://schemas.microsoft.com/office/drawing/2014/main" id="{7616BFC4-47CE-0455-D058-54B4EC985CC8}"/>
              </a:ext>
            </a:extLst>
          </p:cNvPr>
          <p:cNvSpPr txBox="1"/>
          <p:nvPr/>
        </p:nvSpPr>
        <p:spPr>
          <a:xfrm>
            <a:off x="1447800" y="2578376"/>
            <a:ext cx="16254710" cy="6004529"/>
          </a:xfrm>
          <a:prstGeom prst="rect">
            <a:avLst/>
          </a:prstGeom>
          <a:noFill/>
        </p:spPr>
        <p:txBody>
          <a:bodyPr wrap="square">
            <a:spAutoFit/>
          </a:bodyPr>
          <a:lstStyle/>
          <a:p>
            <a:pPr>
              <a:lnSpc>
                <a:spcPct val="106000"/>
              </a:lnSpc>
              <a:spcAft>
                <a:spcPts val="800"/>
              </a:spcAft>
            </a:pPr>
            <a:r>
              <a:rPr lang="en-IN" sz="2400">
                <a:solidFill>
                  <a:srgbClr val="000000"/>
                </a:solidFill>
                <a:effectLst/>
                <a:latin typeface="ITC Franklin Gothic LT" panose="020B0604020202020204" charset="0"/>
                <a:ea typeface="Arial" panose="020B0604020202020204" pitchFamily="34" charset="0"/>
                <a:cs typeface="Times New Roman" panose="02020603050405020304" pitchFamily="18" charset="0"/>
              </a:rPr>
              <a:t>    </a:t>
            </a:r>
            <a:r>
              <a:rPr lang="en-IN" sz="2400" b="1">
                <a:solidFill>
                  <a:srgbClr val="000000"/>
                </a:solidFill>
                <a:effectLst/>
                <a:latin typeface="ITC Franklin Gothic LT" panose="020B0604020202020204" charset="0"/>
                <a:ea typeface="Arial" panose="020B0604020202020204" pitchFamily="34" charset="0"/>
                <a:cs typeface="Times New Roman" panose="02020603050405020304" pitchFamily="18" charset="0"/>
              </a:rPr>
              <a:t>REFERENCES</a:t>
            </a:r>
            <a:endParaRPr lang="en-IN" sz="2400" b="1">
              <a:effectLst/>
              <a:latin typeface="ITC Franklin Gothic LT" panose="020B0604020202020204" charset="0"/>
              <a:ea typeface="Calibri" panose="020F0502020204030204" pitchFamily="34" charset="0"/>
              <a:cs typeface="Times New Roman" panose="02020603050405020304" pitchFamily="18" charset="0"/>
            </a:endParaRPr>
          </a:p>
          <a:p>
            <a:pPr marL="685800" algn="ctr">
              <a:lnSpc>
                <a:spcPct val="106000"/>
              </a:lnSpc>
            </a:pPr>
            <a:r>
              <a:rPr lang="en-US" sz="2400" b="1" u="none" strike="noStrike">
                <a:effectLst/>
                <a:latin typeface="ITC Franklin Gothic LT" panose="020B0604020202020204" charset="0"/>
                <a:ea typeface="Calibri" panose="020F0502020204030204" pitchFamily="34" charset="0"/>
                <a:cs typeface="Times New Roman" panose="02020603050405020304" pitchFamily="18" charset="0"/>
              </a:rPr>
              <a:t> </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342900" lvl="0" indent="-342900">
              <a:lnSpc>
                <a:spcPct val="105000"/>
              </a:lnSpc>
              <a:buFont typeface="Wingdings" panose="05000000000000000000" pitchFamily="2" charset="2"/>
              <a:buChar char=""/>
            </a:pPr>
            <a:r>
              <a:rPr lang="en-US" sz="2400" b="1" u="sng">
                <a:solidFill>
                  <a:srgbClr val="0563C1"/>
                </a:solidFill>
                <a:effectLst/>
                <a:latin typeface="ITC Franklin Gothic LT" panose="020B0604020202020204" charset="0"/>
                <a:ea typeface="Calibri" panose="020F0502020204030204" pitchFamily="34" charset="0"/>
                <a:cs typeface="Times New Roman" panose="02020603050405020304" pitchFamily="18" charset="0"/>
                <a:hlinkClick r:id="rId2"/>
              </a:rPr>
              <a:t>https://www.who.int/news-room/questions-and-answers/item/ccupational-health-stress-at-the-workplace</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342900" lvl="0" indent="-342900">
              <a:lnSpc>
                <a:spcPct val="105000"/>
              </a:lnSpc>
              <a:buFont typeface="Wingdings" panose="05000000000000000000" pitchFamily="2" charset="2"/>
              <a:buChar char=""/>
            </a:pPr>
            <a:r>
              <a:rPr lang="en-US" sz="2400" b="1" u="sng">
                <a:solidFill>
                  <a:srgbClr val="0563C1"/>
                </a:solidFill>
                <a:effectLst/>
                <a:latin typeface="ITC Franklin Gothic LT" panose="020B0604020202020204" charset="0"/>
                <a:ea typeface="Calibri" panose="020F0502020204030204" pitchFamily="34" charset="0"/>
                <a:cs typeface="Times New Roman" panose="02020603050405020304" pitchFamily="18" charset="0"/>
                <a:hlinkClick r:id="rId3"/>
              </a:rPr>
              <a:t>https://dictionary.apa.org/occupational-stress</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342900" lvl="0" indent="-342900">
              <a:lnSpc>
                <a:spcPct val="105000"/>
              </a:lnSpc>
              <a:buFont typeface="Wingdings" panose="05000000000000000000" pitchFamily="2" charset="2"/>
              <a:buChar char=""/>
            </a:pPr>
            <a:r>
              <a:rPr lang="en-US" sz="2400" b="1" u="sng">
                <a:solidFill>
                  <a:srgbClr val="0563C1"/>
                </a:solidFill>
                <a:effectLst/>
                <a:latin typeface="ITC Franklin Gothic LT" panose="020B0604020202020204" charset="0"/>
                <a:ea typeface="Calibri" panose="020F0502020204030204" pitchFamily="34" charset="0"/>
                <a:cs typeface="Times New Roman" panose="02020603050405020304" pitchFamily="18" charset="0"/>
                <a:hlinkClick r:id="rId4"/>
              </a:rPr>
              <a:t>https://www.scirp.org/journal/paperinformation?paperid=110026#:~:text=The%20women%20identified%20recreation%2C%20self,prevent%20the%20negative%20health%20impact</a:t>
            </a:r>
            <a:r>
              <a:rPr lang="en-US" sz="2400" b="1" u="sng">
                <a:effectLst/>
                <a:latin typeface="ITC Franklin Gothic LT" panose="020B0604020202020204" charset="0"/>
                <a:ea typeface="Calibri" panose="020F0502020204030204" pitchFamily="34" charset="0"/>
                <a:cs typeface="Times New Roman" panose="02020603050405020304" pitchFamily="18" charset="0"/>
              </a:rPr>
              <a:t>.</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342900" lvl="0" indent="-342900">
              <a:lnSpc>
                <a:spcPct val="105000"/>
              </a:lnSpc>
              <a:buFont typeface="Wingdings" panose="05000000000000000000" pitchFamily="2" charset="2"/>
              <a:buChar char=""/>
            </a:pPr>
            <a:r>
              <a:rPr lang="en-US" sz="2400" b="1" u="sng">
                <a:solidFill>
                  <a:srgbClr val="0563C1"/>
                </a:solidFill>
                <a:effectLst/>
                <a:latin typeface="ITC Franklin Gothic LT" panose="020B0604020202020204" charset="0"/>
                <a:ea typeface="Calibri" panose="020F0502020204030204" pitchFamily="34" charset="0"/>
                <a:cs typeface="Times New Roman" panose="02020603050405020304" pitchFamily="18" charset="0"/>
                <a:hlinkClick r:id="rId5"/>
              </a:rPr>
              <a:t>https://www.mbaknol.com/human-resource-management/quality-of-work-life-qwl/</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342900" lvl="0" indent="-342900">
              <a:lnSpc>
                <a:spcPct val="105000"/>
              </a:lnSpc>
              <a:buFont typeface="Wingdings" panose="05000000000000000000" pitchFamily="2" charset="2"/>
              <a:buChar char=""/>
            </a:pPr>
            <a:r>
              <a:rPr lang="en-US" sz="2400" b="1" u="sng">
                <a:solidFill>
                  <a:srgbClr val="0563C1"/>
                </a:solidFill>
                <a:effectLst/>
                <a:latin typeface="ITC Franklin Gothic LT" panose="020B0604020202020204" charset="0"/>
                <a:ea typeface="Calibri" panose="020F0502020204030204" pitchFamily="34" charset="0"/>
                <a:cs typeface="Times New Roman" panose="02020603050405020304" pitchFamily="18" charset="0"/>
                <a:hlinkClick r:id="rId6"/>
              </a:rPr>
              <a:t>https://www.dspmuranchi.ac.in/pdf/Blog/u5%20p1.pdf</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342900" lvl="0" indent="-342900">
              <a:lnSpc>
                <a:spcPct val="105000"/>
              </a:lnSpc>
              <a:buFont typeface="Wingdings" panose="05000000000000000000" pitchFamily="2" charset="2"/>
              <a:buChar char=""/>
            </a:pPr>
            <a:r>
              <a:rPr lang="en-US" sz="2400" b="1" u="sng">
                <a:solidFill>
                  <a:srgbClr val="0563C1"/>
                </a:solidFill>
                <a:effectLst/>
                <a:latin typeface="ITC Franklin Gothic LT" panose="020B0604020202020204" charset="0"/>
                <a:ea typeface="Calibri" panose="020F0502020204030204" pitchFamily="34" charset="0"/>
                <a:cs typeface="Times New Roman" panose="02020603050405020304" pitchFamily="18" charset="0"/>
                <a:hlinkClick r:id="rId7"/>
              </a:rPr>
              <a:t>https://www.ncbi.nlm.nih.gov/pmc/articles/PMC5299810/#:~:text=In%20comparison%20to%20workers%20reporting,adjusted%20models%20%5BTable%203%5D</a:t>
            </a:r>
            <a:r>
              <a:rPr lang="en-US" sz="2400" b="1" u="sng">
                <a:effectLst/>
                <a:latin typeface="ITC Franklin Gothic LT" panose="020B0604020202020204" charset="0"/>
                <a:ea typeface="Calibri" panose="020F0502020204030204" pitchFamily="34" charset="0"/>
                <a:cs typeface="Times New Roman" panose="02020603050405020304" pitchFamily="18" charset="0"/>
              </a:rPr>
              <a:t>.</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342900" lvl="0" indent="-342900">
              <a:lnSpc>
                <a:spcPct val="105000"/>
              </a:lnSpc>
              <a:buFont typeface="Wingdings" panose="05000000000000000000" pitchFamily="2" charset="2"/>
              <a:buChar char=""/>
            </a:pPr>
            <a:r>
              <a:rPr lang="en-US" sz="2400" b="1" u="sng">
                <a:solidFill>
                  <a:srgbClr val="0563C1"/>
                </a:solidFill>
                <a:effectLst/>
                <a:latin typeface="ITC Franklin Gothic LT" panose="020B0604020202020204" charset="0"/>
                <a:ea typeface="Calibri" panose="020F0502020204030204" pitchFamily="34" charset="0"/>
                <a:cs typeface="Times New Roman" panose="02020603050405020304" pitchFamily="18" charset="0"/>
                <a:hlinkClick r:id="rId8"/>
              </a:rPr>
              <a:t>https://pubmed.ncbi.nlm.nih.gov/22040944/</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342900" lvl="0" indent="-342900">
              <a:lnSpc>
                <a:spcPct val="105000"/>
              </a:lnSpc>
              <a:buFont typeface="Wingdings" panose="05000000000000000000" pitchFamily="2" charset="2"/>
              <a:buChar char=""/>
            </a:pPr>
            <a:r>
              <a:rPr lang="en-US" sz="2400" b="1" u="sng">
                <a:solidFill>
                  <a:srgbClr val="0563C1"/>
                </a:solidFill>
                <a:effectLst/>
                <a:latin typeface="ITC Franklin Gothic LT" panose="020B0604020202020204" charset="0"/>
                <a:ea typeface="Calibri" panose="020F0502020204030204" pitchFamily="34" charset="0"/>
                <a:cs typeface="Times New Roman" panose="02020603050405020304" pitchFamily="18" charset="0"/>
                <a:hlinkClick r:id="rId9"/>
              </a:rPr>
              <a:t>https://ijamtes.org/gallery/163-mar2019.pdf</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342900" lvl="0" indent="-342900">
              <a:lnSpc>
                <a:spcPct val="105000"/>
              </a:lnSpc>
              <a:buFont typeface="Wingdings" panose="05000000000000000000" pitchFamily="2" charset="2"/>
              <a:buChar char=""/>
            </a:pPr>
            <a:r>
              <a:rPr lang="en-US" sz="2400" b="1" u="sng">
                <a:solidFill>
                  <a:srgbClr val="0563C1"/>
                </a:solidFill>
                <a:effectLst/>
                <a:latin typeface="ITC Franklin Gothic LT" panose="020B0604020202020204" charset="0"/>
                <a:ea typeface="Calibri" panose="020F0502020204030204" pitchFamily="34" charset="0"/>
                <a:cs typeface="Times New Roman" panose="02020603050405020304" pitchFamily="18" charset="0"/>
                <a:hlinkClick r:id="rId10"/>
              </a:rPr>
              <a:t>https://blog.vantagecircle.com/quality-of-work-life-qwl/</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342900" lvl="0" indent="-342900">
              <a:lnSpc>
                <a:spcPct val="105000"/>
              </a:lnSpc>
              <a:buFont typeface="Wingdings" panose="05000000000000000000" pitchFamily="2" charset="2"/>
              <a:buChar char=""/>
            </a:pPr>
            <a:r>
              <a:rPr lang="en-US" sz="2400" b="1" u="sng">
                <a:solidFill>
                  <a:srgbClr val="0563C1"/>
                </a:solidFill>
                <a:effectLst/>
                <a:latin typeface="ITC Franklin Gothic LT" panose="020B0604020202020204" charset="0"/>
                <a:ea typeface="Calibri" panose="020F0502020204030204" pitchFamily="34" charset="0"/>
                <a:cs typeface="Times New Roman" panose="02020603050405020304" pitchFamily="18" charset="0"/>
                <a:hlinkClick r:id="rId11"/>
              </a:rPr>
              <a:t>https://www.forbes.com/health/mind/how-to-deal-with-stress-at-work/</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a:p>
            <a:pPr marL="1143000">
              <a:lnSpc>
                <a:spcPct val="106000"/>
              </a:lnSpc>
              <a:spcAft>
                <a:spcPts val="800"/>
              </a:spcAft>
            </a:pPr>
            <a:r>
              <a:rPr lang="en-US" sz="2400" b="1" u="none" strike="noStrike">
                <a:effectLst/>
                <a:latin typeface="ITC Franklin Gothic LT" panose="020B0604020202020204" charset="0"/>
                <a:ea typeface="Calibri" panose="020F0502020204030204" pitchFamily="34" charset="0"/>
                <a:cs typeface="Times New Roman" panose="02020603050405020304" pitchFamily="18" charset="0"/>
              </a:rPr>
              <a:t> </a:t>
            </a:r>
            <a:endParaRPr lang="en-IN" sz="2400">
              <a:effectLst/>
              <a:latin typeface="ITC Franklin Gothic LT" panose="020B0604020202020204" charset="0"/>
              <a:ea typeface="Calibri" panose="020F0502020204030204" pitchFamily="34" charset="0"/>
              <a:cs typeface="Times New Roman" panose="02020603050405020304" pitchFamily="18" charset="0"/>
            </a:endParaRPr>
          </a:p>
        </p:txBody>
      </p:sp>
      <p:sp>
        <p:nvSpPr>
          <p:cNvPr id="5" name="AutoShape 26">
            <a:extLst>
              <a:ext uri="{FF2B5EF4-FFF2-40B4-BE49-F238E27FC236}">
                <a16:creationId xmlns:a16="http://schemas.microsoft.com/office/drawing/2014/main" id="{5A28343C-D42C-3942-489A-526DEBFE9D31}"/>
              </a:ext>
            </a:extLst>
          </p:cNvPr>
          <p:cNvSpPr/>
          <p:nvPr/>
        </p:nvSpPr>
        <p:spPr>
          <a:xfrm>
            <a:off x="12268199" y="2418073"/>
            <a:ext cx="5244181" cy="0"/>
          </a:xfrm>
          <a:prstGeom prst="line">
            <a:avLst/>
          </a:prstGeom>
          <a:ln w="47625" cap="rnd">
            <a:solidFill>
              <a:srgbClr val="8DAFA8"/>
            </a:solidFill>
            <a:prstDash val="lgDash"/>
            <a:headEnd type="none" w="sm" len="sm"/>
            <a:tailEnd type="oval" w="lg" len="lg"/>
          </a:ln>
        </p:spPr>
      </p:sp>
      <p:sp>
        <p:nvSpPr>
          <p:cNvPr id="7" name="TextBox 6">
            <a:extLst>
              <a:ext uri="{FF2B5EF4-FFF2-40B4-BE49-F238E27FC236}">
                <a16:creationId xmlns:a16="http://schemas.microsoft.com/office/drawing/2014/main" id="{5E726AC7-9224-BEDD-FEBA-C9E4B4A075B1}"/>
              </a:ext>
            </a:extLst>
          </p:cNvPr>
          <p:cNvSpPr txBox="1"/>
          <p:nvPr/>
        </p:nvSpPr>
        <p:spPr>
          <a:xfrm>
            <a:off x="12670639" y="875056"/>
            <a:ext cx="9701938" cy="1569660"/>
          </a:xfrm>
          <a:prstGeom prst="rect">
            <a:avLst/>
          </a:prstGeom>
          <a:noFill/>
        </p:spPr>
        <p:txBody>
          <a:bodyPr wrap="square">
            <a:spAutoFit/>
          </a:bodyPr>
          <a:lstStyle/>
          <a:p>
            <a:r>
              <a:rPr lang="en-US" sz="9600">
                <a:solidFill>
                  <a:srgbClr val="996633"/>
                </a:solidFill>
                <a:latin typeface="League Gothic" panose="020B0604020202020204" charset="0"/>
              </a:rPr>
              <a:t>Bibliography</a:t>
            </a:r>
            <a:endParaRPr lang="en-IN"/>
          </a:p>
        </p:txBody>
      </p:sp>
    </p:spTree>
    <p:extLst>
      <p:ext uri="{BB962C8B-B14F-4D97-AF65-F5344CB8AC3E}">
        <p14:creationId xmlns:p14="http://schemas.microsoft.com/office/powerpoint/2010/main" val="428069036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7EF"/>
        </a:solidFill>
        <a:effectLst/>
      </p:bgPr>
    </p:bg>
    <p:spTree>
      <p:nvGrpSpPr>
        <p:cNvPr id="1" name=""/>
        <p:cNvGrpSpPr/>
        <p:nvPr/>
      </p:nvGrpSpPr>
      <p:grpSpPr>
        <a:xfrm>
          <a:off x="0" y="0"/>
          <a:ext cx="0" cy="0"/>
          <a:chOff x="0" y="0"/>
          <a:chExt cx="0" cy="0"/>
        </a:xfrm>
      </p:grpSpPr>
      <p:grpSp>
        <p:nvGrpSpPr>
          <p:cNvPr id="2" name="Group 2"/>
          <p:cNvGrpSpPr/>
          <p:nvPr/>
        </p:nvGrpSpPr>
        <p:grpSpPr>
          <a:xfrm>
            <a:off x="-557510" y="-889891"/>
            <a:ext cx="19403020" cy="1779782"/>
            <a:chOff x="0" y="0"/>
            <a:chExt cx="5110260" cy="468749"/>
          </a:xfrm>
        </p:grpSpPr>
        <p:sp>
          <p:nvSpPr>
            <p:cNvPr id="3" name="Freeform 3"/>
            <p:cNvSpPr/>
            <p:nvPr/>
          </p:nvSpPr>
          <p:spPr>
            <a:xfrm>
              <a:off x="0" y="0"/>
              <a:ext cx="5110261" cy="468749"/>
            </a:xfrm>
            <a:custGeom>
              <a:avLst/>
              <a:gdLst/>
              <a:ahLst/>
              <a:cxnLst/>
              <a:rect l="l" t="t" r="r" b="b"/>
              <a:pathLst>
                <a:path w="5110261" h="468749">
                  <a:moveTo>
                    <a:pt x="0" y="0"/>
                  </a:moveTo>
                  <a:lnTo>
                    <a:pt x="5110261" y="0"/>
                  </a:lnTo>
                  <a:lnTo>
                    <a:pt x="5110261" y="468749"/>
                  </a:lnTo>
                  <a:lnTo>
                    <a:pt x="0" y="468749"/>
                  </a:lnTo>
                  <a:close/>
                </a:path>
              </a:pathLst>
            </a:custGeom>
            <a:solidFill>
              <a:srgbClr val="8DAFA8"/>
            </a:solidFill>
          </p:spPr>
        </p:sp>
        <p:sp>
          <p:nvSpPr>
            <p:cNvPr id="4" name="TextBox 4"/>
            <p:cNvSpPr txBox="1"/>
            <p:nvPr/>
          </p:nvSpPr>
          <p:spPr>
            <a:xfrm>
              <a:off x="0" y="-47625"/>
              <a:ext cx="5110260" cy="516374"/>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557510" y="9397109"/>
            <a:ext cx="19403020" cy="1779782"/>
            <a:chOff x="0" y="0"/>
            <a:chExt cx="5110260" cy="468749"/>
          </a:xfrm>
        </p:grpSpPr>
        <p:sp>
          <p:nvSpPr>
            <p:cNvPr id="6" name="Freeform 6"/>
            <p:cNvSpPr/>
            <p:nvPr/>
          </p:nvSpPr>
          <p:spPr>
            <a:xfrm>
              <a:off x="0" y="0"/>
              <a:ext cx="5110261" cy="468749"/>
            </a:xfrm>
            <a:custGeom>
              <a:avLst/>
              <a:gdLst/>
              <a:ahLst/>
              <a:cxnLst/>
              <a:rect l="l" t="t" r="r" b="b"/>
              <a:pathLst>
                <a:path w="5110261" h="468749">
                  <a:moveTo>
                    <a:pt x="0" y="0"/>
                  </a:moveTo>
                  <a:lnTo>
                    <a:pt x="5110261" y="0"/>
                  </a:lnTo>
                  <a:lnTo>
                    <a:pt x="5110261" y="468749"/>
                  </a:lnTo>
                  <a:lnTo>
                    <a:pt x="0" y="468749"/>
                  </a:lnTo>
                  <a:close/>
                </a:path>
              </a:pathLst>
            </a:custGeom>
            <a:solidFill>
              <a:srgbClr val="8DAFA8"/>
            </a:solidFill>
          </p:spPr>
        </p:sp>
        <p:sp>
          <p:nvSpPr>
            <p:cNvPr id="7" name="TextBox 7"/>
            <p:cNvSpPr txBox="1"/>
            <p:nvPr/>
          </p:nvSpPr>
          <p:spPr>
            <a:xfrm>
              <a:off x="0" y="-47625"/>
              <a:ext cx="5110260" cy="516374"/>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9987553" y="1741608"/>
            <a:ext cx="6684726" cy="6684726"/>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DAFA8">
                <a:alpha val="40000"/>
              </a:srgbClr>
            </a:solidFill>
          </p:spPr>
        </p:sp>
        <p:sp>
          <p:nvSpPr>
            <p:cNvPr id="10" name="TextBox 10"/>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8363420" y="1769776"/>
            <a:ext cx="3729774" cy="3729774"/>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6A160">
                <a:alpha val="40000"/>
              </a:srgbClr>
            </a:solidFill>
          </p:spPr>
        </p:sp>
        <p:sp>
          <p:nvSpPr>
            <p:cNvPr id="13" name="TextBox 13"/>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14198835" y="4790890"/>
            <a:ext cx="3373245" cy="3373245"/>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6A160">
                <a:alpha val="40000"/>
              </a:srgbClr>
            </a:solidFill>
          </p:spPr>
        </p:sp>
        <p:sp>
          <p:nvSpPr>
            <p:cNvPr id="16" name="TextBox 16"/>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17" name="Freeform 17"/>
          <p:cNvSpPr/>
          <p:nvPr/>
        </p:nvSpPr>
        <p:spPr>
          <a:xfrm>
            <a:off x="9314807" y="1741608"/>
            <a:ext cx="8030218" cy="6803785"/>
          </a:xfrm>
          <a:custGeom>
            <a:avLst/>
            <a:gdLst/>
            <a:ahLst/>
            <a:cxnLst/>
            <a:rect l="l" t="t" r="r" b="b"/>
            <a:pathLst>
              <a:path w="8030218" h="6803785">
                <a:moveTo>
                  <a:pt x="0" y="0"/>
                </a:moveTo>
                <a:lnTo>
                  <a:pt x="8030218" y="0"/>
                </a:lnTo>
                <a:lnTo>
                  <a:pt x="8030218" y="6803784"/>
                </a:lnTo>
                <a:lnTo>
                  <a:pt x="0" y="680378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8" name="TextBox 18"/>
          <p:cNvSpPr txBox="1"/>
          <p:nvPr/>
        </p:nvSpPr>
        <p:spPr>
          <a:xfrm>
            <a:off x="487001" y="2809977"/>
            <a:ext cx="13085141" cy="3541290"/>
          </a:xfrm>
          <a:prstGeom prst="rect">
            <a:avLst/>
          </a:prstGeom>
        </p:spPr>
        <p:txBody>
          <a:bodyPr wrap="square" lIns="0" tIns="0" rIns="0" bIns="0" rtlCol="0" anchor="t">
            <a:spAutoFit/>
          </a:bodyPr>
          <a:lstStyle/>
          <a:p>
            <a:pPr>
              <a:lnSpc>
                <a:spcPts val="29398"/>
              </a:lnSpc>
              <a:spcBef>
                <a:spcPct val="0"/>
              </a:spcBef>
            </a:pPr>
            <a:r>
              <a:rPr lang="en-US" sz="20999">
                <a:solidFill>
                  <a:srgbClr val="8F6234"/>
                </a:solidFill>
                <a:latin typeface="League Gothic"/>
              </a:rPr>
              <a:t>THANKYOU</a:t>
            </a:r>
          </a:p>
        </p:txBody>
      </p:sp>
      <p:grpSp>
        <p:nvGrpSpPr>
          <p:cNvPr id="20" name="Group 20"/>
          <p:cNvGrpSpPr/>
          <p:nvPr/>
        </p:nvGrpSpPr>
        <p:grpSpPr>
          <a:xfrm>
            <a:off x="1582536" y="7308367"/>
            <a:ext cx="3069111" cy="460920"/>
            <a:chOff x="0" y="0"/>
            <a:chExt cx="2706079" cy="406400"/>
          </a:xfrm>
        </p:grpSpPr>
        <p:sp>
          <p:nvSpPr>
            <p:cNvPr id="21" name="Freeform 21"/>
            <p:cNvSpPr/>
            <p:nvPr/>
          </p:nvSpPr>
          <p:spPr>
            <a:xfrm>
              <a:off x="0" y="0"/>
              <a:ext cx="2706079" cy="406400"/>
            </a:xfrm>
            <a:custGeom>
              <a:avLst/>
              <a:gdLst/>
              <a:ahLst/>
              <a:cxnLst/>
              <a:rect l="l" t="t" r="r" b="b"/>
              <a:pathLst>
                <a:path w="2706079" h="406400">
                  <a:moveTo>
                    <a:pt x="2502879" y="0"/>
                  </a:moveTo>
                  <a:cubicBezTo>
                    <a:pt x="2615103" y="0"/>
                    <a:pt x="2706079" y="90976"/>
                    <a:pt x="2706079" y="203200"/>
                  </a:cubicBezTo>
                  <a:cubicBezTo>
                    <a:pt x="2706079" y="315424"/>
                    <a:pt x="2615103" y="406400"/>
                    <a:pt x="2502879" y="406400"/>
                  </a:cubicBezTo>
                  <a:lnTo>
                    <a:pt x="203200" y="406400"/>
                  </a:lnTo>
                  <a:cubicBezTo>
                    <a:pt x="90976" y="406400"/>
                    <a:pt x="0" y="315424"/>
                    <a:pt x="0" y="203200"/>
                  </a:cubicBezTo>
                  <a:cubicBezTo>
                    <a:pt x="0" y="90976"/>
                    <a:pt x="90976" y="0"/>
                    <a:pt x="203200" y="0"/>
                  </a:cubicBezTo>
                  <a:close/>
                </a:path>
              </a:pathLst>
            </a:custGeom>
            <a:solidFill>
              <a:srgbClr val="FFF7EF"/>
            </a:solidFill>
            <a:ln w="19050" cap="sq">
              <a:solidFill>
                <a:srgbClr val="8F6234"/>
              </a:solidFill>
              <a:prstDash val="solid"/>
              <a:miter/>
            </a:ln>
          </p:spPr>
        </p:sp>
        <p:sp>
          <p:nvSpPr>
            <p:cNvPr id="22" name="TextBox 22"/>
            <p:cNvSpPr txBox="1"/>
            <p:nvPr/>
          </p:nvSpPr>
          <p:spPr>
            <a:xfrm>
              <a:off x="0" y="-47625"/>
              <a:ext cx="2706079" cy="454025"/>
            </a:xfrm>
            <a:prstGeom prst="rect">
              <a:avLst/>
            </a:prstGeom>
          </p:spPr>
          <p:txBody>
            <a:bodyPr lIns="50800" tIns="50800" rIns="50800" bIns="50800" rtlCol="0" anchor="ctr"/>
            <a:lstStyle/>
            <a:p>
              <a:pPr algn="ctr">
                <a:lnSpc>
                  <a:spcPts val="2659"/>
                </a:lnSpc>
              </a:pPr>
              <a:endParaRPr/>
            </a:p>
          </p:txBody>
        </p:sp>
      </p:grpSp>
      <p:grpSp>
        <p:nvGrpSpPr>
          <p:cNvPr id="23" name="Group 23"/>
          <p:cNvGrpSpPr/>
          <p:nvPr/>
        </p:nvGrpSpPr>
        <p:grpSpPr>
          <a:xfrm>
            <a:off x="1582536" y="8048428"/>
            <a:ext cx="3069111" cy="460920"/>
            <a:chOff x="0" y="0"/>
            <a:chExt cx="2706079" cy="406400"/>
          </a:xfrm>
        </p:grpSpPr>
        <p:sp>
          <p:nvSpPr>
            <p:cNvPr id="24" name="Freeform 24"/>
            <p:cNvSpPr/>
            <p:nvPr/>
          </p:nvSpPr>
          <p:spPr>
            <a:xfrm>
              <a:off x="0" y="0"/>
              <a:ext cx="2706079" cy="406400"/>
            </a:xfrm>
            <a:custGeom>
              <a:avLst/>
              <a:gdLst/>
              <a:ahLst/>
              <a:cxnLst/>
              <a:rect l="l" t="t" r="r" b="b"/>
              <a:pathLst>
                <a:path w="2706079" h="406400">
                  <a:moveTo>
                    <a:pt x="2502879" y="0"/>
                  </a:moveTo>
                  <a:cubicBezTo>
                    <a:pt x="2615103" y="0"/>
                    <a:pt x="2706079" y="90976"/>
                    <a:pt x="2706079" y="203200"/>
                  </a:cubicBezTo>
                  <a:cubicBezTo>
                    <a:pt x="2706079" y="315424"/>
                    <a:pt x="2615103" y="406400"/>
                    <a:pt x="2502879" y="406400"/>
                  </a:cubicBezTo>
                  <a:lnTo>
                    <a:pt x="203200" y="406400"/>
                  </a:lnTo>
                  <a:cubicBezTo>
                    <a:pt x="90976" y="406400"/>
                    <a:pt x="0" y="315424"/>
                    <a:pt x="0" y="203200"/>
                  </a:cubicBezTo>
                  <a:cubicBezTo>
                    <a:pt x="0" y="90976"/>
                    <a:pt x="90976" y="0"/>
                    <a:pt x="203200" y="0"/>
                  </a:cubicBezTo>
                  <a:close/>
                </a:path>
              </a:pathLst>
            </a:custGeom>
            <a:solidFill>
              <a:srgbClr val="FFF7EF"/>
            </a:solidFill>
            <a:ln w="19050" cap="sq">
              <a:solidFill>
                <a:srgbClr val="8F6234"/>
              </a:solidFill>
              <a:prstDash val="solid"/>
              <a:miter/>
            </a:ln>
          </p:spPr>
        </p:sp>
        <p:sp>
          <p:nvSpPr>
            <p:cNvPr id="25" name="TextBox 25"/>
            <p:cNvSpPr txBox="1"/>
            <p:nvPr/>
          </p:nvSpPr>
          <p:spPr>
            <a:xfrm>
              <a:off x="0" y="-47625"/>
              <a:ext cx="2706079" cy="454025"/>
            </a:xfrm>
            <a:prstGeom prst="rect">
              <a:avLst/>
            </a:prstGeom>
          </p:spPr>
          <p:txBody>
            <a:bodyPr lIns="50800" tIns="50800" rIns="50800" bIns="50800" rtlCol="0" anchor="ctr"/>
            <a:lstStyle/>
            <a:p>
              <a:pPr algn="ctr">
                <a:lnSpc>
                  <a:spcPts val="2659"/>
                </a:lnSpc>
              </a:pPr>
              <a:endParaRPr/>
            </a:p>
          </p:txBody>
        </p:sp>
      </p:grpSp>
      <p:grpSp>
        <p:nvGrpSpPr>
          <p:cNvPr id="26" name="Group 26"/>
          <p:cNvGrpSpPr/>
          <p:nvPr/>
        </p:nvGrpSpPr>
        <p:grpSpPr>
          <a:xfrm>
            <a:off x="5682727" y="7308367"/>
            <a:ext cx="3069111" cy="460920"/>
            <a:chOff x="0" y="0"/>
            <a:chExt cx="2706079" cy="406400"/>
          </a:xfrm>
        </p:grpSpPr>
        <p:sp>
          <p:nvSpPr>
            <p:cNvPr id="27" name="Freeform 27"/>
            <p:cNvSpPr/>
            <p:nvPr/>
          </p:nvSpPr>
          <p:spPr>
            <a:xfrm>
              <a:off x="0" y="0"/>
              <a:ext cx="2706079" cy="406400"/>
            </a:xfrm>
            <a:custGeom>
              <a:avLst/>
              <a:gdLst/>
              <a:ahLst/>
              <a:cxnLst/>
              <a:rect l="l" t="t" r="r" b="b"/>
              <a:pathLst>
                <a:path w="2706079" h="406400">
                  <a:moveTo>
                    <a:pt x="2502879" y="0"/>
                  </a:moveTo>
                  <a:cubicBezTo>
                    <a:pt x="2615103" y="0"/>
                    <a:pt x="2706079" y="90976"/>
                    <a:pt x="2706079" y="203200"/>
                  </a:cubicBezTo>
                  <a:cubicBezTo>
                    <a:pt x="2706079" y="315424"/>
                    <a:pt x="2615103" y="406400"/>
                    <a:pt x="2502879" y="406400"/>
                  </a:cubicBezTo>
                  <a:lnTo>
                    <a:pt x="203200" y="406400"/>
                  </a:lnTo>
                  <a:cubicBezTo>
                    <a:pt x="90976" y="406400"/>
                    <a:pt x="0" y="315424"/>
                    <a:pt x="0" y="203200"/>
                  </a:cubicBezTo>
                  <a:cubicBezTo>
                    <a:pt x="0" y="90976"/>
                    <a:pt x="90976" y="0"/>
                    <a:pt x="203200" y="0"/>
                  </a:cubicBezTo>
                  <a:close/>
                </a:path>
              </a:pathLst>
            </a:custGeom>
            <a:solidFill>
              <a:srgbClr val="FFF7EF"/>
            </a:solidFill>
            <a:ln w="19050" cap="sq">
              <a:solidFill>
                <a:srgbClr val="8F6234"/>
              </a:solidFill>
              <a:prstDash val="solid"/>
              <a:miter/>
            </a:ln>
          </p:spPr>
        </p:sp>
        <p:sp>
          <p:nvSpPr>
            <p:cNvPr id="28" name="TextBox 28"/>
            <p:cNvSpPr txBox="1"/>
            <p:nvPr/>
          </p:nvSpPr>
          <p:spPr>
            <a:xfrm>
              <a:off x="0" y="-47625"/>
              <a:ext cx="2706079" cy="454025"/>
            </a:xfrm>
            <a:prstGeom prst="rect">
              <a:avLst/>
            </a:prstGeom>
          </p:spPr>
          <p:txBody>
            <a:bodyPr lIns="50800" tIns="50800" rIns="50800" bIns="50800" rtlCol="0" anchor="ctr"/>
            <a:lstStyle/>
            <a:p>
              <a:pPr algn="ctr">
                <a:lnSpc>
                  <a:spcPts val="2659"/>
                </a:lnSpc>
              </a:pPr>
              <a:endParaRPr/>
            </a:p>
          </p:txBody>
        </p:sp>
      </p:grpSp>
      <p:grpSp>
        <p:nvGrpSpPr>
          <p:cNvPr id="29" name="Group 29"/>
          <p:cNvGrpSpPr/>
          <p:nvPr/>
        </p:nvGrpSpPr>
        <p:grpSpPr>
          <a:xfrm>
            <a:off x="5682727" y="8048428"/>
            <a:ext cx="3069111" cy="460920"/>
            <a:chOff x="0" y="0"/>
            <a:chExt cx="2706079" cy="406400"/>
          </a:xfrm>
        </p:grpSpPr>
        <p:sp>
          <p:nvSpPr>
            <p:cNvPr id="30" name="Freeform 30"/>
            <p:cNvSpPr/>
            <p:nvPr/>
          </p:nvSpPr>
          <p:spPr>
            <a:xfrm>
              <a:off x="0" y="0"/>
              <a:ext cx="2706079" cy="406400"/>
            </a:xfrm>
            <a:custGeom>
              <a:avLst/>
              <a:gdLst/>
              <a:ahLst/>
              <a:cxnLst/>
              <a:rect l="l" t="t" r="r" b="b"/>
              <a:pathLst>
                <a:path w="2706079" h="406400">
                  <a:moveTo>
                    <a:pt x="2502879" y="0"/>
                  </a:moveTo>
                  <a:cubicBezTo>
                    <a:pt x="2615103" y="0"/>
                    <a:pt x="2706079" y="90976"/>
                    <a:pt x="2706079" y="203200"/>
                  </a:cubicBezTo>
                  <a:cubicBezTo>
                    <a:pt x="2706079" y="315424"/>
                    <a:pt x="2615103" y="406400"/>
                    <a:pt x="2502879" y="406400"/>
                  </a:cubicBezTo>
                  <a:lnTo>
                    <a:pt x="203200" y="406400"/>
                  </a:lnTo>
                  <a:cubicBezTo>
                    <a:pt x="90976" y="406400"/>
                    <a:pt x="0" y="315424"/>
                    <a:pt x="0" y="203200"/>
                  </a:cubicBezTo>
                  <a:cubicBezTo>
                    <a:pt x="0" y="90976"/>
                    <a:pt x="90976" y="0"/>
                    <a:pt x="203200" y="0"/>
                  </a:cubicBezTo>
                  <a:close/>
                </a:path>
              </a:pathLst>
            </a:custGeom>
            <a:solidFill>
              <a:srgbClr val="FFF7EF"/>
            </a:solidFill>
            <a:ln w="19050" cap="sq">
              <a:solidFill>
                <a:srgbClr val="8F6234"/>
              </a:solidFill>
              <a:prstDash val="solid"/>
              <a:miter/>
            </a:ln>
          </p:spPr>
        </p:sp>
        <p:sp>
          <p:nvSpPr>
            <p:cNvPr id="31" name="TextBox 31"/>
            <p:cNvSpPr txBox="1"/>
            <p:nvPr/>
          </p:nvSpPr>
          <p:spPr>
            <a:xfrm>
              <a:off x="0" y="-47625"/>
              <a:ext cx="2706079" cy="454025"/>
            </a:xfrm>
            <a:prstGeom prst="rect">
              <a:avLst/>
            </a:prstGeom>
          </p:spPr>
          <p:txBody>
            <a:bodyPr lIns="50800" tIns="50800" rIns="50800" bIns="50800" rtlCol="0" anchor="ctr"/>
            <a:lstStyle/>
            <a:p>
              <a:pPr algn="ctr">
                <a:lnSpc>
                  <a:spcPts val="2659"/>
                </a:lnSpc>
              </a:pPr>
              <a:endParaRPr/>
            </a:p>
          </p:txBody>
        </p:sp>
      </p:grpSp>
      <p:sp>
        <p:nvSpPr>
          <p:cNvPr id="32" name="Freeform 32"/>
          <p:cNvSpPr/>
          <p:nvPr/>
        </p:nvSpPr>
        <p:spPr>
          <a:xfrm rot="-8491720">
            <a:off x="7707470" y="4910362"/>
            <a:ext cx="2254244" cy="971374"/>
          </a:xfrm>
          <a:custGeom>
            <a:avLst/>
            <a:gdLst/>
            <a:ahLst/>
            <a:cxnLst/>
            <a:rect l="l" t="t" r="r" b="b"/>
            <a:pathLst>
              <a:path w="2254244" h="971374">
                <a:moveTo>
                  <a:pt x="0" y="0"/>
                </a:moveTo>
                <a:lnTo>
                  <a:pt x="2254245" y="0"/>
                </a:lnTo>
                <a:lnTo>
                  <a:pt x="2254245" y="971375"/>
                </a:lnTo>
                <a:lnTo>
                  <a:pt x="0" y="97137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33" name="Freeform 33"/>
          <p:cNvSpPr/>
          <p:nvPr/>
        </p:nvSpPr>
        <p:spPr>
          <a:xfrm rot="3134415">
            <a:off x="16132471" y="1910334"/>
            <a:ext cx="1503369" cy="647815"/>
          </a:xfrm>
          <a:custGeom>
            <a:avLst/>
            <a:gdLst/>
            <a:ahLst/>
            <a:cxnLst/>
            <a:rect l="l" t="t" r="r" b="b"/>
            <a:pathLst>
              <a:path w="1503369" h="647815">
                <a:moveTo>
                  <a:pt x="0" y="0"/>
                </a:moveTo>
                <a:lnTo>
                  <a:pt x="1503369" y="0"/>
                </a:lnTo>
                <a:lnTo>
                  <a:pt x="1503369" y="647815"/>
                </a:lnTo>
                <a:lnTo>
                  <a:pt x="0" y="64781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34" name="Freeform 34"/>
          <p:cNvSpPr/>
          <p:nvPr/>
        </p:nvSpPr>
        <p:spPr>
          <a:xfrm>
            <a:off x="8391578" y="1029367"/>
            <a:ext cx="1941184" cy="2073109"/>
          </a:xfrm>
          <a:custGeom>
            <a:avLst/>
            <a:gdLst/>
            <a:ahLst/>
            <a:cxnLst/>
            <a:rect l="l" t="t" r="r" b="b"/>
            <a:pathLst>
              <a:path w="1941184" h="2073109">
                <a:moveTo>
                  <a:pt x="0" y="0"/>
                </a:moveTo>
                <a:lnTo>
                  <a:pt x="1941184" y="0"/>
                </a:lnTo>
                <a:lnTo>
                  <a:pt x="1941184" y="2073109"/>
                </a:lnTo>
                <a:lnTo>
                  <a:pt x="0" y="207310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35" name="Freeform 35"/>
          <p:cNvSpPr/>
          <p:nvPr/>
        </p:nvSpPr>
        <p:spPr>
          <a:xfrm flipH="1">
            <a:off x="11388732" y="5620686"/>
            <a:ext cx="1941184" cy="2073109"/>
          </a:xfrm>
          <a:custGeom>
            <a:avLst/>
            <a:gdLst/>
            <a:ahLst/>
            <a:cxnLst/>
            <a:rect l="l" t="t" r="r" b="b"/>
            <a:pathLst>
              <a:path w="1941184" h="2073109">
                <a:moveTo>
                  <a:pt x="1941184" y="0"/>
                </a:moveTo>
                <a:lnTo>
                  <a:pt x="0" y="0"/>
                </a:lnTo>
                <a:lnTo>
                  <a:pt x="0" y="2073110"/>
                </a:lnTo>
                <a:lnTo>
                  <a:pt x="1941184" y="2073110"/>
                </a:lnTo>
                <a:lnTo>
                  <a:pt x="1941184"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38" name="Freeform 38"/>
          <p:cNvSpPr/>
          <p:nvPr/>
        </p:nvSpPr>
        <p:spPr>
          <a:xfrm>
            <a:off x="997259" y="8084473"/>
            <a:ext cx="460920" cy="460920"/>
          </a:xfrm>
          <a:custGeom>
            <a:avLst/>
            <a:gdLst/>
            <a:ahLst/>
            <a:cxnLst/>
            <a:rect l="l" t="t" r="r" b="b"/>
            <a:pathLst>
              <a:path w="460920" h="460920">
                <a:moveTo>
                  <a:pt x="0" y="0"/>
                </a:moveTo>
                <a:lnTo>
                  <a:pt x="460920" y="0"/>
                </a:lnTo>
                <a:lnTo>
                  <a:pt x="460920" y="460920"/>
                </a:lnTo>
                <a:lnTo>
                  <a:pt x="0" y="46092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39" name="Freeform 39"/>
          <p:cNvSpPr/>
          <p:nvPr/>
        </p:nvSpPr>
        <p:spPr>
          <a:xfrm>
            <a:off x="5085441" y="7291542"/>
            <a:ext cx="458586" cy="458586"/>
          </a:xfrm>
          <a:custGeom>
            <a:avLst/>
            <a:gdLst/>
            <a:ahLst/>
            <a:cxnLst/>
            <a:rect l="l" t="t" r="r" b="b"/>
            <a:pathLst>
              <a:path w="458586" h="458586">
                <a:moveTo>
                  <a:pt x="0" y="0"/>
                </a:moveTo>
                <a:lnTo>
                  <a:pt x="458586" y="0"/>
                </a:lnTo>
                <a:lnTo>
                  <a:pt x="458586" y="458585"/>
                </a:lnTo>
                <a:lnTo>
                  <a:pt x="0" y="458585"/>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40" name="TextBox 40"/>
          <p:cNvSpPr txBox="1"/>
          <p:nvPr/>
        </p:nvSpPr>
        <p:spPr>
          <a:xfrm>
            <a:off x="1831250" y="7347874"/>
            <a:ext cx="2820396" cy="300019"/>
          </a:xfrm>
          <a:prstGeom prst="rect">
            <a:avLst/>
          </a:prstGeom>
        </p:spPr>
        <p:txBody>
          <a:bodyPr lIns="0" tIns="0" rIns="0" bIns="0" rtlCol="0" anchor="t">
            <a:spAutoFit/>
          </a:bodyPr>
          <a:lstStyle/>
          <a:p>
            <a:pPr>
              <a:lnSpc>
                <a:spcPts val="2521"/>
              </a:lnSpc>
              <a:spcBef>
                <a:spcPct val="0"/>
              </a:spcBef>
            </a:pPr>
            <a:r>
              <a:rPr lang="en-US" sz="1801">
                <a:solidFill>
                  <a:srgbClr val="1E302C"/>
                </a:solidFill>
                <a:latin typeface="ITC Franklin Gothic LT"/>
              </a:rPr>
              <a:t>SRAVANI KODUKULA</a:t>
            </a:r>
          </a:p>
        </p:txBody>
      </p:sp>
      <p:sp>
        <p:nvSpPr>
          <p:cNvPr id="41" name="TextBox 41"/>
          <p:cNvSpPr txBox="1"/>
          <p:nvPr/>
        </p:nvSpPr>
        <p:spPr>
          <a:xfrm>
            <a:off x="1831250" y="8087935"/>
            <a:ext cx="2820396" cy="300019"/>
          </a:xfrm>
          <a:prstGeom prst="rect">
            <a:avLst/>
          </a:prstGeom>
        </p:spPr>
        <p:txBody>
          <a:bodyPr lIns="0" tIns="0" rIns="0" bIns="0" rtlCol="0" anchor="t">
            <a:spAutoFit/>
          </a:bodyPr>
          <a:lstStyle/>
          <a:p>
            <a:pPr>
              <a:lnSpc>
                <a:spcPts val="2521"/>
              </a:lnSpc>
              <a:spcBef>
                <a:spcPct val="0"/>
              </a:spcBef>
            </a:pPr>
            <a:r>
              <a:rPr lang="en-US" sz="1801">
                <a:solidFill>
                  <a:srgbClr val="1E302C"/>
                </a:solidFill>
                <a:latin typeface="ITC Franklin Gothic LT"/>
              </a:rPr>
              <a:t>RAVALKOL PRAVALIKA</a:t>
            </a:r>
          </a:p>
        </p:txBody>
      </p:sp>
      <p:sp>
        <p:nvSpPr>
          <p:cNvPr id="42" name="TextBox 42"/>
          <p:cNvSpPr txBox="1"/>
          <p:nvPr/>
        </p:nvSpPr>
        <p:spPr>
          <a:xfrm>
            <a:off x="5931441" y="7347874"/>
            <a:ext cx="2820396" cy="300019"/>
          </a:xfrm>
          <a:prstGeom prst="rect">
            <a:avLst/>
          </a:prstGeom>
        </p:spPr>
        <p:txBody>
          <a:bodyPr lIns="0" tIns="0" rIns="0" bIns="0" rtlCol="0" anchor="t">
            <a:spAutoFit/>
          </a:bodyPr>
          <a:lstStyle/>
          <a:p>
            <a:pPr>
              <a:lnSpc>
                <a:spcPts val="2521"/>
              </a:lnSpc>
              <a:spcBef>
                <a:spcPct val="0"/>
              </a:spcBef>
            </a:pPr>
            <a:r>
              <a:rPr lang="en-US" sz="1801">
                <a:solidFill>
                  <a:srgbClr val="1E302C"/>
                </a:solidFill>
                <a:latin typeface="ITC Franklin Gothic LT"/>
              </a:rPr>
              <a:t>121321044033</a:t>
            </a:r>
          </a:p>
        </p:txBody>
      </p:sp>
      <p:sp>
        <p:nvSpPr>
          <p:cNvPr id="43" name="TextBox 43"/>
          <p:cNvSpPr txBox="1"/>
          <p:nvPr/>
        </p:nvSpPr>
        <p:spPr>
          <a:xfrm>
            <a:off x="5931441" y="8087935"/>
            <a:ext cx="2820396" cy="300019"/>
          </a:xfrm>
          <a:prstGeom prst="rect">
            <a:avLst/>
          </a:prstGeom>
        </p:spPr>
        <p:txBody>
          <a:bodyPr lIns="0" tIns="0" rIns="0" bIns="0" rtlCol="0" anchor="t">
            <a:spAutoFit/>
          </a:bodyPr>
          <a:lstStyle/>
          <a:p>
            <a:pPr>
              <a:lnSpc>
                <a:spcPts val="2521"/>
              </a:lnSpc>
              <a:spcBef>
                <a:spcPct val="0"/>
              </a:spcBef>
            </a:pPr>
            <a:r>
              <a:rPr lang="en-US" sz="1801">
                <a:solidFill>
                  <a:srgbClr val="1E302C"/>
                </a:solidFill>
                <a:latin typeface="ITC Franklin Gothic LT"/>
              </a:rPr>
              <a:t>121321044050</a:t>
            </a:r>
          </a:p>
        </p:txBody>
      </p:sp>
      <p:sp>
        <p:nvSpPr>
          <p:cNvPr id="44" name="Freeform 38">
            <a:extLst>
              <a:ext uri="{FF2B5EF4-FFF2-40B4-BE49-F238E27FC236}">
                <a16:creationId xmlns:a16="http://schemas.microsoft.com/office/drawing/2014/main" id="{9A764ECD-5373-FB96-8570-F397E275A899}"/>
              </a:ext>
            </a:extLst>
          </p:cNvPr>
          <p:cNvSpPr/>
          <p:nvPr/>
        </p:nvSpPr>
        <p:spPr>
          <a:xfrm>
            <a:off x="999128" y="7268970"/>
            <a:ext cx="460920" cy="460920"/>
          </a:xfrm>
          <a:custGeom>
            <a:avLst/>
            <a:gdLst/>
            <a:ahLst/>
            <a:cxnLst/>
            <a:rect l="l" t="t" r="r" b="b"/>
            <a:pathLst>
              <a:path w="460920" h="460920">
                <a:moveTo>
                  <a:pt x="0" y="0"/>
                </a:moveTo>
                <a:lnTo>
                  <a:pt x="460920" y="0"/>
                </a:lnTo>
                <a:lnTo>
                  <a:pt x="460920" y="460920"/>
                </a:lnTo>
                <a:lnTo>
                  <a:pt x="0" y="46092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45" name="Freeform 39">
            <a:extLst>
              <a:ext uri="{FF2B5EF4-FFF2-40B4-BE49-F238E27FC236}">
                <a16:creationId xmlns:a16="http://schemas.microsoft.com/office/drawing/2014/main" id="{7DA32C09-02B3-7352-0AC0-941F1ACC251F}"/>
              </a:ext>
            </a:extLst>
          </p:cNvPr>
          <p:cNvSpPr/>
          <p:nvPr/>
        </p:nvSpPr>
        <p:spPr>
          <a:xfrm>
            <a:off x="5098119" y="8072733"/>
            <a:ext cx="458586" cy="458586"/>
          </a:xfrm>
          <a:custGeom>
            <a:avLst/>
            <a:gdLst/>
            <a:ahLst/>
            <a:cxnLst/>
            <a:rect l="l" t="t" r="r" b="b"/>
            <a:pathLst>
              <a:path w="458586" h="458586">
                <a:moveTo>
                  <a:pt x="0" y="0"/>
                </a:moveTo>
                <a:lnTo>
                  <a:pt x="458586" y="0"/>
                </a:lnTo>
                <a:lnTo>
                  <a:pt x="458586" y="458585"/>
                </a:lnTo>
                <a:lnTo>
                  <a:pt x="0" y="458585"/>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495</TotalTime>
  <Words>5666</Words>
  <Application>Microsoft Office PowerPoint</Application>
  <PresentationFormat>Custom</PresentationFormat>
  <Paragraphs>451</Paragraphs>
  <Slides>49</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49</vt:i4>
      </vt:variant>
    </vt:vector>
  </HeadingPairs>
  <TitlesOfParts>
    <vt:vector size="58" baseType="lpstr">
      <vt:lpstr>Wingdings</vt:lpstr>
      <vt:lpstr>League Gothic</vt:lpstr>
      <vt:lpstr>Symbol</vt:lpstr>
      <vt:lpstr>Arial</vt:lpstr>
      <vt:lpstr>Cambria Math</vt:lpstr>
      <vt:lpstr>ITC Franklin Gothic LT</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Tosca and Brown Minimalist Illustrated Job Search Strategy Presentation</dc:title>
  <cp:lastModifiedBy>Pravalika Ravalkol</cp:lastModifiedBy>
  <cp:revision>7</cp:revision>
  <dcterms:created xsi:type="dcterms:W3CDTF">2006-08-16T00:00:00Z</dcterms:created>
  <dcterms:modified xsi:type="dcterms:W3CDTF">2024-03-11T16:09:18Z</dcterms:modified>
  <dc:identifier>DAF-6khJKFk</dc:identifier>
</cp:coreProperties>
</file>